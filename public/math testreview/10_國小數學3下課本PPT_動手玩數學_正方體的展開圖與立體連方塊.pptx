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4"/>
  </p:notesMasterIdLst>
  <p:sldIdLst>
    <p:sldId id="369" r:id="rId2"/>
    <p:sldId id="442" r:id="rId3"/>
    <p:sldId id="443" r:id="rId4"/>
    <p:sldId id="444" r:id="rId5"/>
    <p:sldId id="445" r:id="rId6"/>
    <p:sldId id="446" r:id="rId7"/>
    <p:sldId id="447" r:id="rId8"/>
    <p:sldId id="449" r:id="rId9"/>
    <p:sldId id="448" r:id="rId10"/>
    <p:sldId id="450" r:id="rId11"/>
    <p:sldId id="451" r:id="rId12"/>
    <p:sldId id="452" r:id="rId13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388A"/>
    <a:srgbClr val="FF0000"/>
    <a:srgbClr val="0000FF"/>
    <a:srgbClr val="FFCCCC"/>
    <a:srgbClr val="E4F0DC"/>
    <a:srgbClr val="C3DEB0"/>
    <a:srgbClr val="CC99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F00A0C-396C-4BD8-A62D-F509AEB4C581}">
  <a:tblStyle styleId="{5EF00A0C-396C-4BD8-A62D-F509AEB4C581}" styleName="Table_0"/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19" autoAdjust="0"/>
    <p:restoredTop sz="94825" autoAdjust="0"/>
  </p:normalViewPr>
  <p:slideViewPr>
    <p:cSldViewPr snapToGrid="0">
      <p:cViewPr varScale="1">
        <p:scale>
          <a:sx n="110" d="100"/>
          <a:sy n="110" d="100"/>
        </p:scale>
        <p:origin x="176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238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3">
            <a:extLst>
              <a:ext uri="{FF2B5EF4-FFF2-40B4-BE49-F238E27FC236}">
                <a16:creationId xmlns:a16="http://schemas.microsoft.com/office/drawing/2014/main" id="{C96AA5C3-8D10-ACD7-5D5F-DCEB1F4F8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7D5ED6C-5556-D422-8BA6-EA62372053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97">
            <a:extLst>
              <a:ext uri="{FF2B5EF4-FFF2-40B4-BE49-F238E27FC236}">
                <a16:creationId xmlns:a16="http://schemas.microsoft.com/office/drawing/2014/main" id="{7693D396-9019-FDEF-8C4A-3EFF0B5BF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9219" name="Shape 98">
            <a:extLst>
              <a:ext uri="{FF2B5EF4-FFF2-40B4-BE49-F238E27FC236}">
                <a16:creationId xmlns:a16="http://schemas.microsoft.com/office/drawing/2014/main" id="{A28B425F-C8ED-6269-64E6-AF2F94FBDB0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hape 97">
            <a:extLst>
              <a:ext uri="{FF2B5EF4-FFF2-40B4-BE49-F238E27FC236}">
                <a16:creationId xmlns:a16="http://schemas.microsoft.com/office/drawing/2014/main" id="{3A5F56EC-737B-AAE9-CCC6-9A8F9FD80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1267" name="Shape 98">
            <a:extLst>
              <a:ext uri="{FF2B5EF4-FFF2-40B4-BE49-F238E27FC236}">
                <a16:creationId xmlns:a16="http://schemas.microsoft.com/office/drawing/2014/main" id="{ED087DC0-FB5E-05F1-D047-B93756EDE1F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97">
            <a:extLst>
              <a:ext uri="{FF2B5EF4-FFF2-40B4-BE49-F238E27FC236}">
                <a16:creationId xmlns:a16="http://schemas.microsoft.com/office/drawing/2014/main" id="{D4872FD8-E7AA-E650-E06E-93D928EB0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3315" name="Shape 98">
            <a:extLst>
              <a:ext uri="{FF2B5EF4-FFF2-40B4-BE49-F238E27FC236}">
                <a16:creationId xmlns:a16="http://schemas.microsoft.com/office/drawing/2014/main" id="{FFAA36DE-E42A-A935-66C6-93E5691FC21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97">
            <a:extLst>
              <a:ext uri="{FF2B5EF4-FFF2-40B4-BE49-F238E27FC236}">
                <a16:creationId xmlns:a16="http://schemas.microsoft.com/office/drawing/2014/main" id="{90F1A69E-3C5F-D5F7-C96A-09295CAA38DB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5363" name="Shape 98">
            <a:extLst>
              <a:ext uri="{FF2B5EF4-FFF2-40B4-BE49-F238E27FC236}">
                <a16:creationId xmlns:a16="http://schemas.microsoft.com/office/drawing/2014/main" id="{405DB97A-4B58-61C3-357F-D30F95447D6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97">
            <a:extLst>
              <a:ext uri="{FF2B5EF4-FFF2-40B4-BE49-F238E27FC236}">
                <a16:creationId xmlns:a16="http://schemas.microsoft.com/office/drawing/2014/main" id="{E6D648AF-D873-3A61-144D-020B47506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17411" name="Shape 98">
            <a:extLst>
              <a:ext uri="{FF2B5EF4-FFF2-40B4-BE49-F238E27FC236}">
                <a16:creationId xmlns:a16="http://schemas.microsoft.com/office/drawing/2014/main" id="{CA152E01-D96E-4755-BB49-0671F53FA29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97">
            <a:extLst>
              <a:ext uri="{FF2B5EF4-FFF2-40B4-BE49-F238E27FC236}">
                <a16:creationId xmlns:a16="http://schemas.microsoft.com/office/drawing/2014/main" id="{BE41075A-E70E-31DE-16D3-9BF538042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20483" name="Shape 98">
            <a:extLst>
              <a:ext uri="{FF2B5EF4-FFF2-40B4-BE49-F238E27FC236}">
                <a16:creationId xmlns:a16="http://schemas.microsoft.com/office/drawing/2014/main" id="{24B7CE97-70FD-6089-3D1B-4C255EEFEED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97">
            <a:extLst>
              <a:ext uri="{FF2B5EF4-FFF2-40B4-BE49-F238E27FC236}">
                <a16:creationId xmlns:a16="http://schemas.microsoft.com/office/drawing/2014/main" id="{C6F2FDFB-62ED-0C71-F66C-44F82D9AC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22531" name="Shape 98">
            <a:extLst>
              <a:ext uri="{FF2B5EF4-FFF2-40B4-BE49-F238E27FC236}">
                <a16:creationId xmlns:a16="http://schemas.microsoft.com/office/drawing/2014/main" id="{798B07A2-F225-D87D-8A92-EA21B605FB8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hape 97">
            <a:extLst>
              <a:ext uri="{FF2B5EF4-FFF2-40B4-BE49-F238E27FC236}">
                <a16:creationId xmlns:a16="http://schemas.microsoft.com/office/drawing/2014/main" id="{33B768A9-2C3C-557D-9108-1ACB9B26E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24579" name="Shape 98">
            <a:extLst>
              <a:ext uri="{FF2B5EF4-FFF2-40B4-BE49-F238E27FC236}">
                <a16:creationId xmlns:a16="http://schemas.microsoft.com/office/drawing/2014/main" id="{EFC83D6B-A7EF-9FCC-2266-5B6F93443D0A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hape 97">
            <a:extLst>
              <a:ext uri="{FF2B5EF4-FFF2-40B4-BE49-F238E27FC236}">
                <a16:creationId xmlns:a16="http://schemas.microsoft.com/office/drawing/2014/main" id="{54BBFC12-32B3-C1B0-0CB6-685BA0F2AE52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zh-TW"/>
          </a:p>
        </p:txBody>
      </p:sp>
      <p:sp>
        <p:nvSpPr>
          <p:cNvPr id="26627" name="Shape 98">
            <a:extLst>
              <a:ext uri="{FF2B5EF4-FFF2-40B4-BE49-F238E27FC236}">
                <a16:creationId xmlns:a16="http://schemas.microsoft.com/office/drawing/2014/main" id="{36FE5F18-2659-4BAB-3073-4E1883D260C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389D-09E9-DEC1-987D-522E36AE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638D2-8451-07AA-0778-4BA613BD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C446D-7459-92EE-5722-AF2BA3D1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1C288-D23D-4141-8205-5FF604B807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751321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95">
            <a:extLst>
              <a:ext uri="{FF2B5EF4-FFF2-40B4-BE49-F238E27FC236}">
                <a16:creationId xmlns:a16="http://schemas.microsoft.com/office/drawing/2014/main" id="{F57E3D66-9510-037E-9AD9-54CFDB0A976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endParaRPr lang="zh-TW" altLang="zh-TW" sz="1400">
              <a:solidFill>
                <a:srgbClr val="000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sz="5500" b="1" i="1">
                <a:solidFill>
                  <a:srgbClr val="0099CC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8618B-D1A6-C221-3CE0-5132F0A58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384AF-163D-39A9-2F99-FE43C61B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D608B-187A-9FCF-2C7C-1F066347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31A560E-41AA-4A1F-A448-00D07F51934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63791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24" y="1517405"/>
            <a:ext cx="8517276" cy="43513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8549"/>
            <a:ext cx="8515350" cy="1325563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75F25-CDB0-A6DE-5E8E-430575A9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582C4-FEE6-DF4B-8E89-C18FA04E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85B6A-640E-77B9-E9D5-820226B9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561CF-AD07-4213-A723-57370CD0F16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882413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429F3FDD-3C5F-B1E5-D5E7-A84A299EE48B}"/>
              </a:ext>
            </a:extLst>
          </p:cNvPr>
          <p:cNvCxnSpPr/>
          <p:nvPr userDrawn="1"/>
        </p:nvCxnSpPr>
        <p:spPr>
          <a:xfrm>
            <a:off x="0" y="2670175"/>
            <a:ext cx="7135813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CADE3935-B054-3907-D5C8-7D8A4E8C3431}"/>
              </a:ext>
            </a:extLst>
          </p:cNvPr>
          <p:cNvCxnSpPr/>
          <p:nvPr userDrawn="1"/>
        </p:nvCxnSpPr>
        <p:spPr>
          <a:xfrm>
            <a:off x="2401888" y="3773488"/>
            <a:ext cx="6742112" cy="0"/>
          </a:xfrm>
          <a:prstGeom prst="line">
            <a:avLst/>
          </a:prstGeom>
          <a:ln w="28575">
            <a:solidFill>
              <a:srgbClr val="FFD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Shape 95">
            <a:extLst>
              <a:ext uri="{FF2B5EF4-FFF2-40B4-BE49-F238E27FC236}">
                <a16:creationId xmlns:a16="http://schemas.microsoft.com/office/drawing/2014/main" id="{2EF42089-2134-1711-9248-6C702C89736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670175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  <p:sp>
        <p:nvSpPr>
          <p:cNvPr id="5" name="Shape 95">
            <a:extLst>
              <a:ext uri="{FF2B5EF4-FFF2-40B4-BE49-F238E27FC236}">
                <a16:creationId xmlns:a16="http://schemas.microsoft.com/office/drawing/2014/main" id="{367753D5-F344-4F12-3CB5-CD9B1F646B4F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 flipH="1">
            <a:off x="7819231" y="2670969"/>
            <a:ext cx="1570038" cy="1079500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endParaRPr lang="zh-TW" altLang="zh-TW"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431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95">
            <a:extLst>
              <a:ext uri="{FF2B5EF4-FFF2-40B4-BE49-F238E27FC236}">
                <a16:creationId xmlns:a16="http://schemas.microsoft.com/office/drawing/2014/main" id="{7E7A2F9E-BFCA-30D0-C2AF-F99D445DDF3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44475" y="242887"/>
            <a:ext cx="1570038" cy="1081088"/>
          </a:xfrm>
          <a:prstGeom prst="triangle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lIns="91425" tIns="91425" rIns="91425" bIns="91425" anchor="ctr"/>
          <a:lstStyle>
            <a:lvl1pPr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600">
                <a:solidFill>
                  <a:srgbClr val="000000"/>
                </a:solidFill>
                <a:latin typeface="微軟正黑體" pitchFamily="34" charset="-120"/>
                <a:ea typeface="微軟正黑體" pitchFamily="34" charset="-120"/>
                <a:cs typeface="新細明體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TW" altLang="zh-TW" sz="1400">
              <a:latin typeface="Calibri" pitchFamily="34" charset="0"/>
              <a:ea typeface="新細明體" pitchFamily="18" charset="-120"/>
              <a:cs typeface="Arial" charset="0"/>
              <a:sym typeface="Arial" charset="0"/>
            </a:endParaRPr>
          </a:p>
        </p:txBody>
      </p:sp>
      <p:sp>
        <p:nvSpPr>
          <p:cNvPr id="3" name="標題 5">
            <a:extLst>
              <a:ext uri="{FF2B5EF4-FFF2-40B4-BE49-F238E27FC236}">
                <a16:creationId xmlns:a16="http://schemas.microsoft.com/office/drawing/2014/main" id="{B1A29962-4F6B-6EA2-B24D-BFF4C625E2C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628650" y="188913"/>
            <a:ext cx="8515350" cy="13255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500" b="1" i="1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defRPr/>
            </a:pPr>
            <a:r>
              <a:rPr lang="zh-TW" altLang="en-US" dirty="0">
                <a:solidFill>
                  <a:srgbClr val="C00000"/>
                </a:solidFill>
              </a:rPr>
              <a:t>練習百分百</a:t>
            </a:r>
          </a:p>
        </p:txBody>
      </p:sp>
    </p:spTree>
    <p:extLst>
      <p:ext uri="{BB962C8B-B14F-4D97-AF65-F5344CB8AC3E}">
        <p14:creationId xmlns:p14="http://schemas.microsoft.com/office/powerpoint/2010/main" val="31600998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4149860-AA41-141F-DE84-3996B2FDCB8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98ECE50-DA3D-E58D-37F5-5B83CE4BB9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7349-A9F6-DA5B-5BA5-42C31333A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3E55F-515B-A8F4-97E1-71AD68EE7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D7482-148B-192B-22DB-8122B2FF0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D8FE64E-4C7B-47D8-A889-960643C87B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pic>
        <p:nvPicPr>
          <p:cNvPr id="1031" name="Picture 8">
            <a:extLst>
              <a:ext uri="{FF2B5EF4-FFF2-40B4-BE49-F238E27FC236}">
                <a16:creationId xmlns:a16="http://schemas.microsoft.com/office/drawing/2014/main" id="{5948055E-8ECB-E675-6294-B63B5BA1A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75" y="6418263"/>
            <a:ext cx="2271713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4" r:id="rId2"/>
    <p:sldLayoutId id="2147484173" r:id="rId3"/>
    <p:sldLayoutId id="2147484175" r:id="rId4"/>
    <p:sldLayoutId id="2147484176" r:id="rId5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>
            <a:extLst>
              <a:ext uri="{FF2B5EF4-FFF2-40B4-BE49-F238E27FC236}">
                <a16:creationId xmlns:a16="http://schemas.microsoft.com/office/drawing/2014/main" id="{0CF5386B-1E05-1CBD-A877-BC2AA420AF37}"/>
              </a:ext>
            </a:extLst>
          </p:cNvPr>
          <p:cNvSpPr/>
          <p:nvPr/>
        </p:nvSpPr>
        <p:spPr>
          <a:xfrm>
            <a:off x="501650" y="2597150"/>
            <a:ext cx="8140700" cy="1403350"/>
          </a:xfrm>
          <a:prstGeom prst="roundRect">
            <a:avLst/>
          </a:prstGeom>
          <a:solidFill>
            <a:srgbClr val="0099C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6147" name="標題 1">
            <a:extLst>
              <a:ext uri="{FF2B5EF4-FFF2-40B4-BE49-F238E27FC236}">
                <a16:creationId xmlns:a16="http://schemas.microsoft.com/office/drawing/2014/main" id="{F8792F27-DA01-74B9-58CA-FFDACD2D8E2B}"/>
              </a:ext>
            </a:extLst>
          </p:cNvPr>
          <p:cNvSpPr txBox="1">
            <a:spLocks/>
          </p:cNvSpPr>
          <p:nvPr/>
        </p:nvSpPr>
        <p:spPr bwMode="auto">
          <a:xfrm>
            <a:off x="628650" y="1485900"/>
            <a:ext cx="7886700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動手玩數學</a:t>
            </a:r>
            <a:endParaRPr lang="en-US" altLang="zh-TW" sz="5500" b="1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教學</a:t>
            </a:r>
            <a:r>
              <a:rPr lang="en-US" altLang="zh-TW" sz="55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PPT</a:t>
            </a:r>
            <a:endParaRPr lang="zh-TW" altLang="en-US" sz="5500" b="1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>
            <a:extLst>
              <a:ext uri="{FF2B5EF4-FFF2-40B4-BE49-F238E27FC236}">
                <a16:creationId xmlns:a16="http://schemas.microsoft.com/office/drawing/2014/main" id="{24F5550A-6FA4-5CEF-0038-0DD1D1712844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動手玩數學</a:t>
            </a: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正方體的展開圖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圖片 3">
            <a:extLst>
              <a:ext uri="{FF2B5EF4-FFF2-40B4-BE49-F238E27FC236}">
                <a16:creationId xmlns:a16="http://schemas.microsoft.com/office/drawing/2014/main" id="{903ACB7B-E9AF-8DE1-D13C-79E0E5C55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52400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矩形 4">
            <a:extLst>
              <a:ext uri="{FF2B5EF4-FFF2-40B4-BE49-F238E27FC236}">
                <a16:creationId xmlns:a16="http://schemas.microsoft.com/office/drawing/2014/main" id="{590CC633-81D2-D83F-D008-BCC19CB4D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85725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起認識正方體的展開圖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8196" name="群組 16">
            <a:extLst>
              <a:ext uri="{FF2B5EF4-FFF2-40B4-BE49-F238E27FC236}">
                <a16:creationId xmlns:a16="http://schemas.microsoft.com/office/drawing/2014/main" id="{A7799112-22DF-FEFF-0CD9-6D6C4726138C}"/>
              </a:ext>
            </a:extLst>
          </p:cNvPr>
          <p:cNvGrpSpPr>
            <a:grpSpLocks/>
          </p:cNvGrpSpPr>
          <p:nvPr/>
        </p:nvGrpSpPr>
        <p:grpSpPr bwMode="auto">
          <a:xfrm>
            <a:off x="7005638" y="69850"/>
            <a:ext cx="1520825" cy="482600"/>
            <a:chOff x="6722457" y="1658256"/>
            <a:chExt cx="1967833" cy="652081"/>
          </a:xfrm>
        </p:grpSpPr>
        <p:pic>
          <p:nvPicPr>
            <p:cNvPr id="8203" name="Picture 14">
              <a:extLst>
                <a:ext uri="{FF2B5EF4-FFF2-40B4-BE49-F238E27FC236}">
                  <a16:creationId xmlns:a16="http://schemas.microsoft.com/office/drawing/2014/main" id="{704FD396-126E-5EDF-8E88-497BD3FCE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4" name="矩形 1">
              <a:extLst>
                <a:ext uri="{FF2B5EF4-FFF2-40B4-BE49-F238E27FC236}">
                  <a16:creationId xmlns:a16="http://schemas.microsoft.com/office/drawing/2014/main" id="{CA060F80-F61B-CF5D-8B4E-B6873A1AE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26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3C5B8D87-ACD9-EBA2-12E9-16653B37B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868363"/>
            <a:ext cx="1428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5A84ABB-F976-D7EE-2C90-1582BE51A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842963"/>
            <a:ext cx="1430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第一步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3876E3-335C-18EE-47D1-4207A8834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812800"/>
            <a:ext cx="8413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用膠帶把相同數字的邊黏起來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4C606D4-10DD-1CF3-DB11-5D0209BDAB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" y="2374900"/>
            <a:ext cx="7170737" cy="257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F7E51CDF-0FE1-F12F-2EA7-3F628E5EA525}"/>
              </a:ext>
            </a:extLst>
          </p:cNvPr>
          <p:cNvSpPr/>
          <p:nvPr/>
        </p:nvSpPr>
        <p:spPr bwMode="auto">
          <a:xfrm>
            <a:off x="4729163" y="2043113"/>
            <a:ext cx="3898900" cy="1098550"/>
          </a:xfrm>
          <a:prstGeom prst="wedgeRoundRectCallout">
            <a:avLst>
              <a:gd name="adj1" fmla="val -5584"/>
              <a:gd name="adj2" fmla="val 7202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你還記得正方體的特性</a:t>
            </a:r>
            <a:r>
              <a:rPr lang="zh-TW" altLang="en-US" sz="28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BD762A-081D-325E-EDE1-685EA261B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2949575"/>
            <a:ext cx="26797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8388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每條邊都一樣長，每個面都一樣大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2579602-1B8A-F282-22F1-F18F3326F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1828800"/>
            <a:ext cx="77343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圖片 3">
            <a:extLst>
              <a:ext uri="{FF2B5EF4-FFF2-40B4-BE49-F238E27FC236}">
                <a16:creationId xmlns:a16="http://schemas.microsoft.com/office/drawing/2014/main" id="{2C63F90E-D083-84AF-98FE-E78C117A5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52400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矩形 4">
            <a:extLst>
              <a:ext uri="{FF2B5EF4-FFF2-40B4-BE49-F238E27FC236}">
                <a16:creationId xmlns:a16="http://schemas.microsoft.com/office/drawing/2014/main" id="{4ACF0E2E-C1DD-9018-4575-7C3406837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85725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起認識正方體的展開圖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10245" name="群組 16">
            <a:extLst>
              <a:ext uri="{FF2B5EF4-FFF2-40B4-BE49-F238E27FC236}">
                <a16:creationId xmlns:a16="http://schemas.microsoft.com/office/drawing/2014/main" id="{833F2886-D15C-67A5-ACB9-2B68116B8282}"/>
              </a:ext>
            </a:extLst>
          </p:cNvPr>
          <p:cNvGrpSpPr>
            <a:grpSpLocks/>
          </p:cNvGrpSpPr>
          <p:nvPr/>
        </p:nvGrpSpPr>
        <p:grpSpPr bwMode="auto">
          <a:xfrm>
            <a:off x="7005638" y="69850"/>
            <a:ext cx="1520825" cy="482600"/>
            <a:chOff x="6722457" y="1658256"/>
            <a:chExt cx="1967833" cy="652081"/>
          </a:xfrm>
        </p:grpSpPr>
        <p:pic>
          <p:nvPicPr>
            <p:cNvPr id="10256" name="Picture 14">
              <a:extLst>
                <a:ext uri="{FF2B5EF4-FFF2-40B4-BE49-F238E27FC236}">
                  <a16:creationId xmlns:a16="http://schemas.microsoft.com/office/drawing/2014/main" id="{5E568D6E-19B4-4D2F-B683-4ACF36021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7" name="矩形 1">
              <a:extLst>
                <a:ext uri="{FF2B5EF4-FFF2-40B4-BE49-F238E27FC236}">
                  <a16:creationId xmlns:a16="http://schemas.microsoft.com/office/drawing/2014/main" id="{3B323B03-BFF4-3A63-CD91-9EB3686B5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52371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11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89C4E61D-B02A-789E-17F9-B73D200D2DB9}"/>
              </a:ext>
            </a:extLst>
          </p:cNvPr>
          <p:cNvSpPr/>
          <p:nvPr/>
        </p:nvSpPr>
        <p:spPr bwMode="auto">
          <a:xfrm>
            <a:off x="3632200" y="1585913"/>
            <a:ext cx="5511800" cy="1141412"/>
          </a:xfrm>
          <a:prstGeom prst="wedgeRoundRectCallout">
            <a:avLst>
              <a:gd name="adj1" fmla="val -5584"/>
              <a:gd name="adj2" fmla="val 72025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剪開時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正方體的</a:t>
            </a: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6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個面要</a:t>
            </a:r>
          </a:p>
          <a:p>
            <a:pPr>
              <a:defRPr/>
            </a:pP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連在</a:t>
            </a:r>
            <a:r>
              <a:rPr lang="zh-TW" altLang="en-US" sz="24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rgbClr val="FF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不</a:t>
            </a:r>
            <a:r>
              <a:rPr lang="zh-TW" altLang="en-US" sz="2400" dirty="0">
                <a:solidFill>
                  <a:srgbClr val="FF0000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可以剪斷</a:t>
            </a:r>
            <a:r>
              <a:rPr lang="zh-TW" altLang="en-US" sz="2400" dirty="0">
                <a:solidFill>
                  <a:srgbClr val="FF0000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呵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！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4B3290DA-996B-4333-4BE0-05637D0F4D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" y="709613"/>
            <a:ext cx="14287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B4B0995-ACBA-F55A-F02F-D1854CC2E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63" y="684213"/>
            <a:ext cx="1431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第二步</a:t>
            </a:r>
            <a:endParaRPr lang="zh-TW" altLang="en-US" sz="20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7F2AA39-CFBF-6E59-7E81-DC45B5BB1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654050"/>
            <a:ext cx="6680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用剪刀把正方體的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些邊剪開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把它平放在桌面上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86B77F1-0C84-F02E-0CCC-CDC8BC6C35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4654550"/>
            <a:ext cx="1717675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BD24EFF-C9A9-DB58-5046-502F14BF51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238" y="5133975"/>
            <a:ext cx="2670175" cy="15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E2080B5-13FF-059D-50A8-056709B83B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5557838"/>
            <a:ext cx="198755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30F8B6F0-13A3-E8F5-8E99-3A42D33847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275" y="5927725"/>
            <a:ext cx="496888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EC891474-88A9-E379-4F19-27C223101E3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338" y="5399088"/>
            <a:ext cx="950912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0FCD19E7-0A41-A4FA-4C10-18B3E2D29E9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5929313"/>
            <a:ext cx="496887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4">
            <a:extLst>
              <a:ext uri="{FF2B5EF4-FFF2-40B4-BE49-F238E27FC236}">
                <a16:creationId xmlns:a16="http://schemas.microsoft.com/office/drawing/2014/main" id="{0A20A8D4-216D-A175-9DA5-2E2EC6FA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85725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起認識正方體的展開圖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12291" name="群組 16">
            <a:extLst>
              <a:ext uri="{FF2B5EF4-FFF2-40B4-BE49-F238E27FC236}">
                <a16:creationId xmlns:a16="http://schemas.microsoft.com/office/drawing/2014/main" id="{9AA547A1-1E22-41DC-0B0A-4178B0DB03D0}"/>
              </a:ext>
            </a:extLst>
          </p:cNvPr>
          <p:cNvGrpSpPr>
            <a:grpSpLocks/>
          </p:cNvGrpSpPr>
          <p:nvPr/>
        </p:nvGrpSpPr>
        <p:grpSpPr bwMode="auto">
          <a:xfrm>
            <a:off x="7005638" y="69850"/>
            <a:ext cx="1520825" cy="482600"/>
            <a:chOff x="6722457" y="1658256"/>
            <a:chExt cx="1967833" cy="652081"/>
          </a:xfrm>
        </p:grpSpPr>
        <p:pic>
          <p:nvPicPr>
            <p:cNvPr id="12297" name="Picture 14">
              <a:extLst>
                <a:ext uri="{FF2B5EF4-FFF2-40B4-BE49-F238E27FC236}">
                  <a16:creationId xmlns:a16="http://schemas.microsoft.com/office/drawing/2014/main" id="{3F699178-90D0-BF42-5C54-5D6F53EB5C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8" name="矩形 1">
              <a:extLst>
                <a:ext uri="{FF2B5EF4-FFF2-40B4-BE49-F238E27FC236}">
                  <a16:creationId xmlns:a16="http://schemas.microsoft.com/office/drawing/2014/main" id="{DB40CFCB-D875-DBCB-CAC2-8805A3D69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52371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11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圖片 1">
            <a:extLst>
              <a:ext uri="{FF2B5EF4-FFF2-40B4-BE49-F238E27FC236}">
                <a16:creationId xmlns:a16="http://schemas.microsoft.com/office/drawing/2014/main" id="{5F312346-033C-0E7B-8D83-C1059FC1AE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1087438"/>
            <a:ext cx="9029700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831E330-C0F9-CE6F-5078-1389CD115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335088"/>
            <a:ext cx="7391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像這樣剪開後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400">
                <a:solidFill>
                  <a:srgbClr val="00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6 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個面相連的圖形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稱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為</a:t>
            </a:r>
            <a:r>
              <a:rPr lang="zh-TW" altLang="en-US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正方體的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展開圖</a:t>
            </a:r>
            <a:r>
              <a:rPr lang="zh-TW" altLang="en-US" sz="240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783D49C-3B19-1C96-AEA3-35F4A9682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2951163"/>
            <a:ext cx="86963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正方體的展開圖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定都是長這樣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你剪開的圖形長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麼樣子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3398214-AC69-CE7F-E387-5B3B9F8AEA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363" y="2566988"/>
            <a:ext cx="12985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solidFill>
                  <a:srgbClr val="F8388A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不一定</a:t>
            </a:r>
          </a:p>
        </p:txBody>
      </p:sp>
      <p:pic>
        <p:nvPicPr>
          <p:cNvPr id="12296" name="圖片 3">
            <a:extLst>
              <a:ext uri="{FF2B5EF4-FFF2-40B4-BE49-F238E27FC236}">
                <a16:creationId xmlns:a16="http://schemas.microsoft.com/office/drawing/2014/main" id="{FCB70831-B841-A0D9-747D-11FA898E2E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152400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4">
            <a:extLst>
              <a:ext uri="{FF2B5EF4-FFF2-40B4-BE49-F238E27FC236}">
                <a16:creationId xmlns:a16="http://schemas.microsoft.com/office/drawing/2014/main" id="{1C7757A8-3E9F-3911-8924-68CC22037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85725"/>
            <a:ext cx="8412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下面哪些圖形是正方體的展開圖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哪些不是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拿出附件摺摺看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4339" name="圖片 6">
            <a:extLst>
              <a:ext uri="{FF2B5EF4-FFF2-40B4-BE49-F238E27FC236}">
                <a16:creationId xmlns:a16="http://schemas.microsoft.com/office/drawing/2014/main" id="{5C594A13-E0DF-1CE9-F851-2687EBAB1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5575"/>
            <a:ext cx="4445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340" name="群組 16">
            <a:extLst>
              <a:ext uri="{FF2B5EF4-FFF2-40B4-BE49-F238E27FC236}">
                <a16:creationId xmlns:a16="http://schemas.microsoft.com/office/drawing/2014/main" id="{545A7779-359B-30B9-B6B4-E7AD1B148D85}"/>
              </a:ext>
            </a:extLst>
          </p:cNvPr>
          <p:cNvGrpSpPr>
            <a:grpSpLocks/>
          </p:cNvGrpSpPr>
          <p:nvPr/>
        </p:nvGrpSpPr>
        <p:grpSpPr bwMode="auto">
          <a:xfrm>
            <a:off x="6367463" y="1100138"/>
            <a:ext cx="1520825" cy="482600"/>
            <a:chOff x="6722457" y="1658256"/>
            <a:chExt cx="1967833" cy="652081"/>
          </a:xfrm>
        </p:grpSpPr>
        <p:pic>
          <p:nvPicPr>
            <p:cNvPr id="14347" name="Picture 14">
              <a:extLst>
                <a:ext uri="{FF2B5EF4-FFF2-40B4-BE49-F238E27FC236}">
                  <a16:creationId xmlns:a16="http://schemas.microsoft.com/office/drawing/2014/main" id="{A75ED62F-8854-AC34-DDFD-9D31E0137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8" name="矩形 1">
              <a:extLst>
                <a:ext uri="{FF2B5EF4-FFF2-40B4-BE49-F238E27FC236}">
                  <a16:creationId xmlns:a16="http://schemas.microsoft.com/office/drawing/2014/main" id="{F479192F-94E6-8876-1CD5-6D59AA805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27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14341" name="圖片 1">
            <a:extLst>
              <a:ext uri="{FF2B5EF4-FFF2-40B4-BE49-F238E27FC236}">
                <a16:creationId xmlns:a16="http://schemas.microsoft.com/office/drawing/2014/main" id="{04868946-694D-9E21-3C56-793A05A20B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100138"/>
            <a:ext cx="5651500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矩形 2">
            <a:extLst>
              <a:ext uri="{FF2B5EF4-FFF2-40B4-BE49-F238E27FC236}">
                <a16:creationId xmlns:a16="http://schemas.microsoft.com/office/drawing/2014/main" id="{3B8E1B2F-AF11-69B1-2D86-62818781A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6359525"/>
            <a:ext cx="6289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你是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麼知道的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096D01-3640-985A-9785-5E8930789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563" y="561975"/>
            <a:ext cx="13843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ㄆ、ㄈ、ㄊ、ㄍ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58C087-D942-826E-3DD7-DC14408BD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869950"/>
            <a:ext cx="3409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ㄅ、ㄇ、ㄉ、ㄋ、ㄌ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10746BA-B2A0-E8E5-5E35-07A5DD5587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3935413"/>
            <a:ext cx="13049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圓角矩形圖說文字 13">
            <a:extLst>
              <a:ext uri="{FF2B5EF4-FFF2-40B4-BE49-F238E27FC236}">
                <a16:creationId xmlns:a16="http://schemas.microsoft.com/office/drawing/2014/main" id="{4ADDA190-456D-20AB-B487-443D6B46F432}"/>
              </a:ext>
            </a:extLst>
          </p:cNvPr>
          <p:cNvSpPr/>
          <p:nvPr/>
        </p:nvSpPr>
        <p:spPr bwMode="auto">
          <a:xfrm>
            <a:off x="6359525" y="1622425"/>
            <a:ext cx="2655888" cy="2043113"/>
          </a:xfrm>
          <a:prstGeom prst="wedgeRoundRectCallout">
            <a:avLst>
              <a:gd name="adj1" fmla="val -21786"/>
              <a:gd name="adj2" fmla="val 63164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我把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ㄅ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圖摺</a:t>
            </a:r>
            <a:r>
              <a:rPr lang="zh-TW" altLang="en-US" sz="2800" dirty="0">
                <a:solidFill>
                  <a:schemeClr val="tx1"/>
                </a:solidFill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摺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發現它少</a:t>
            </a:r>
            <a:r>
              <a:rPr lang="zh-TW" altLang="en-US" sz="2800" dirty="0">
                <a:solidFill>
                  <a:schemeClr val="tx1"/>
                </a:solidFill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個面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10" grpId="0"/>
      <p:bldP spid="11" grpId="0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4">
            <a:extLst>
              <a:ext uri="{FF2B5EF4-FFF2-40B4-BE49-F238E27FC236}">
                <a16:creationId xmlns:a16="http://schemas.microsoft.com/office/drawing/2014/main" id="{6A6C1F38-8080-E8A9-6F2C-0E5F6EA2C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85725"/>
            <a:ext cx="84121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下面哪些圖形是正方體的展開圖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哪些不是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拿出附件摺摺看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pic>
        <p:nvPicPr>
          <p:cNvPr id="16387" name="圖片 6">
            <a:extLst>
              <a:ext uri="{FF2B5EF4-FFF2-40B4-BE49-F238E27FC236}">
                <a16:creationId xmlns:a16="http://schemas.microsoft.com/office/drawing/2014/main" id="{0AD9CDFF-283A-E185-35A2-3D910CF24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55575"/>
            <a:ext cx="44450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88" name="群組 16">
            <a:extLst>
              <a:ext uri="{FF2B5EF4-FFF2-40B4-BE49-F238E27FC236}">
                <a16:creationId xmlns:a16="http://schemas.microsoft.com/office/drawing/2014/main" id="{CE8EFE17-D50A-A38C-B201-0101B94834ED}"/>
              </a:ext>
            </a:extLst>
          </p:cNvPr>
          <p:cNvGrpSpPr>
            <a:grpSpLocks/>
          </p:cNvGrpSpPr>
          <p:nvPr/>
        </p:nvGrpSpPr>
        <p:grpSpPr bwMode="auto">
          <a:xfrm>
            <a:off x="6367463" y="1100138"/>
            <a:ext cx="1520825" cy="482600"/>
            <a:chOff x="6722457" y="1658256"/>
            <a:chExt cx="1967833" cy="652081"/>
          </a:xfrm>
        </p:grpSpPr>
        <p:pic>
          <p:nvPicPr>
            <p:cNvPr id="16395" name="Picture 14">
              <a:extLst>
                <a:ext uri="{FF2B5EF4-FFF2-40B4-BE49-F238E27FC236}">
                  <a16:creationId xmlns:a16="http://schemas.microsoft.com/office/drawing/2014/main" id="{731DF662-91D4-93B3-545F-4D7B4D1AFF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6" name="矩形 1">
              <a:extLst>
                <a:ext uri="{FF2B5EF4-FFF2-40B4-BE49-F238E27FC236}">
                  <a16:creationId xmlns:a16="http://schemas.microsoft.com/office/drawing/2014/main" id="{A968D46C-13AE-9A52-7A2C-E3F9E44DB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12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16389" name="圖片 1">
            <a:extLst>
              <a:ext uri="{FF2B5EF4-FFF2-40B4-BE49-F238E27FC236}">
                <a16:creationId xmlns:a16="http://schemas.microsoft.com/office/drawing/2014/main" id="{7E3166E5-C3C8-1A12-F751-6CAF27BBD4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" y="1100138"/>
            <a:ext cx="5651500" cy="523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矩形 2">
            <a:extLst>
              <a:ext uri="{FF2B5EF4-FFF2-40B4-BE49-F238E27FC236}">
                <a16:creationId xmlns:a16="http://schemas.microsoft.com/office/drawing/2014/main" id="{1BCEDDFC-F4FD-056E-52C5-715C7804A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8" y="6359525"/>
            <a:ext cx="6289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說說看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你是</a:t>
            </a:r>
            <a:r>
              <a:rPr lang="zh-TW" altLang="en-US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麼知道的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6391" name="矩形 9">
            <a:extLst>
              <a:ext uri="{FF2B5EF4-FFF2-40B4-BE49-F238E27FC236}">
                <a16:creationId xmlns:a16="http://schemas.microsoft.com/office/drawing/2014/main" id="{2FBE102E-C8AC-D13B-06E1-F57E46041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563" y="561975"/>
            <a:ext cx="13843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ㄆ、ㄈ、ㄊ、ㄍ</a:t>
            </a:r>
          </a:p>
        </p:txBody>
      </p:sp>
      <p:sp>
        <p:nvSpPr>
          <p:cNvPr id="16392" name="矩形 10">
            <a:extLst>
              <a:ext uri="{FF2B5EF4-FFF2-40B4-BE49-F238E27FC236}">
                <a16:creationId xmlns:a16="http://schemas.microsoft.com/office/drawing/2014/main" id="{4CFD9E26-4FB7-58A6-9BA5-1214CD016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75" y="869950"/>
            <a:ext cx="3409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ㄅ、ㄇ、ㄉ、ㄋ、ㄌ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F4CA770-E3D4-CE62-2D9A-8FDF669BE9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5413375"/>
            <a:ext cx="1019175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圓角矩形圖說文字 13">
            <a:extLst>
              <a:ext uri="{FF2B5EF4-FFF2-40B4-BE49-F238E27FC236}">
                <a16:creationId xmlns:a16="http://schemas.microsoft.com/office/drawing/2014/main" id="{F4697706-8E6C-5B05-3210-8BF41ADD0647}"/>
              </a:ext>
            </a:extLst>
          </p:cNvPr>
          <p:cNvSpPr/>
          <p:nvPr/>
        </p:nvSpPr>
        <p:spPr bwMode="auto">
          <a:xfrm>
            <a:off x="6375400" y="2725738"/>
            <a:ext cx="2655888" cy="2333625"/>
          </a:xfrm>
          <a:prstGeom prst="wedgeRoundRectCallout">
            <a:avLst>
              <a:gd name="adj1" fmla="val 23586"/>
              <a:gd name="adj2" fmla="val 64262"/>
              <a:gd name="adj3" fmla="val 16667"/>
            </a:avLst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正方體有</a:t>
            </a:r>
            <a:r>
              <a:rPr lang="en-US" altLang="zh-TW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6 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個面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ㄅ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圖只有</a:t>
            </a:r>
            <a:r>
              <a:rPr lang="en-US" altLang="zh-TW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5 </a:t>
            </a: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個面</a:t>
            </a:r>
            <a:r>
              <a:rPr lang="zh-TW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  <a:p>
            <a:pPr>
              <a:defRPr/>
            </a:pPr>
            <a:r>
              <a:rPr lang="zh-TW" altLang="en-US" sz="28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所以</a:t>
            </a:r>
            <a:r>
              <a:rPr lang="en-US" altLang="zh-TW" sz="28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  <a:endParaRPr lang="zh-TW" altLang="en-US" sz="28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>
            <a:extLst>
              <a:ext uri="{FF2B5EF4-FFF2-40B4-BE49-F238E27FC236}">
                <a16:creationId xmlns:a16="http://schemas.microsoft.com/office/drawing/2014/main" id="{5017DBFD-FDB6-7947-D302-A513C8AFDBCA}"/>
              </a:ext>
            </a:extLst>
          </p:cNvPr>
          <p:cNvSpPr txBox="1">
            <a:spLocks/>
          </p:cNvSpPr>
          <p:nvPr/>
        </p:nvSpPr>
        <p:spPr bwMode="auto">
          <a:xfrm>
            <a:off x="606425" y="3681413"/>
            <a:ext cx="8161338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endParaRPr lang="en-US" altLang="zh-TW" sz="5500" b="1">
              <a:solidFill>
                <a:srgbClr val="0099CC"/>
              </a:solidFill>
              <a:latin typeface="微軟正黑體" panose="020B0604030504040204" pitchFamily="34" charset="-120"/>
              <a:ea typeface="微軟正黑體" panose="020B0604030504040204" pitchFamily="34" charset="-120"/>
              <a:sym typeface="Arial" panose="020B0604020202020204" pitchFamily="34" charset="0"/>
            </a:endParaRP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動手玩數學</a:t>
            </a:r>
          </a:p>
          <a:p>
            <a:pPr algn="ctr" eaLnBrk="1" hangingPunct="1">
              <a:spcBef>
                <a:spcPts val="1800"/>
              </a:spcBef>
              <a:spcAft>
                <a:spcPts val="1800"/>
              </a:spcAft>
              <a:buFontTx/>
              <a:buNone/>
            </a:pPr>
            <a:r>
              <a:rPr lang="zh-TW" altLang="en-US" sz="5500" b="1">
                <a:solidFill>
                  <a:srgbClr val="0099C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Arial" panose="020B0604020202020204" pitchFamily="34" charset="0"/>
              </a:rPr>
              <a:t>立體連方塊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圖片 3">
            <a:extLst>
              <a:ext uri="{FF2B5EF4-FFF2-40B4-BE49-F238E27FC236}">
                <a16:creationId xmlns:a16="http://schemas.microsoft.com/office/drawing/2014/main" id="{78095A63-1D95-9103-FCDC-6CBFDE26D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矩形 4">
            <a:extLst>
              <a:ext uri="{FF2B5EF4-FFF2-40B4-BE49-F238E27FC236}">
                <a16:creationId xmlns:a16="http://schemas.microsoft.com/office/drawing/2014/main" id="{80F49470-157D-71A1-6089-2E92EBC27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1113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用正方體積木排出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層的形體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19460" name="群組 16">
            <a:extLst>
              <a:ext uri="{FF2B5EF4-FFF2-40B4-BE49-F238E27FC236}">
                <a16:creationId xmlns:a16="http://schemas.microsoft.com/office/drawing/2014/main" id="{26756BEF-5D1E-A2B4-8E78-615DCDFF653A}"/>
              </a:ext>
            </a:extLst>
          </p:cNvPr>
          <p:cNvGrpSpPr>
            <a:grpSpLocks/>
          </p:cNvGrpSpPr>
          <p:nvPr/>
        </p:nvGrpSpPr>
        <p:grpSpPr bwMode="auto">
          <a:xfrm>
            <a:off x="7567613" y="52388"/>
            <a:ext cx="1520825" cy="482600"/>
            <a:chOff x="6722457" y="1658256"/>
            <a:chExt cx="1967833" cy="652081"/>
          </a:xfrm>
        </p:grpSpPr>
        <p:pic>
          <p:nvPicPr>
            <p:cNvPr id="19470" name="Picture 14">
              <a:extLst>
                <a:ext uri="{FF2B5EF4-FFF2-40B4-BE49-F238E27FC236}">
                  <a16:creationId xmlns:a16="http://schemas.microsoft.com/office/drawing/2014/main" id="{949DA602-B221-B225-9B20-0325DF45C5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矩形 1">
              <a:extLst>
                <a:ext uri="{FF2B5EF4-FFF2-40B4-BE49-F238E27FC236}">
                  <a16:creationId xmlns:a16="http://schemas.microsoft.com/office/drawing/2014/main" id="{57859191-EE26-30D3-4921-A3FA12AB4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9461" name="矩形 18">
            <a:extLst>
              <a:ext uri="{FF2B5EF4-FFF2-40B4-BE49-F238E27FC236}">
                <a16:creationId xmlns:a16="http://schemas.microsoft.com/office/drawing/2014/main" id="{3D3884E5-8EE3-819F-1880-16F19F041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630238"/>
            <a:ext cx="548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2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塊可以排成哪些形體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19462" name="圖片 11">
            <a:extLst>
              <a:ext uri="{FF2B5EF4-FFF2-40B4-BE49-F238E27FC236}">
                <a16:creationId xmlns:a16="http://schemas.microsoft.com/office/drawing/2014/main" id="{31316BB9-66E6-0516-73B5-811B84216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681038"/>
            <a:ext cx="355600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B1846ECD-56A0-8EF5-6AC3-03BB1A2359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468438"/>
            <a:ext cx="8934450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1CA08ED9-2DA8-89D6-F148-373B00C46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150" y="1930400"/>
            <a:ext cx="18573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可以排成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橫排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AD50D6-1688-E568-769D-EA32D75DE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6275" y="1931988"/>
            <a:ext cx="1773238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可以排成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直排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D7DBCF-D1F4-3712-54E8-FA32331BD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4357688"/>
            <a:ext cx="8707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想想看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排出來的形體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一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樣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嗎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78623E-E519-08D8-11C4-4320CB870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525" y="3389313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妙妙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81A7F0-76CE-4646-637A-009D52689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4025" y="3367088"/>
            <a:ext cx="1108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 u="sng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奇奇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E43D8E-09D4-DC71-1479-EC0A3CFD4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4819650"/>
            <a:ext cx="1384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  <a:endParaRPr kumimoji="1" lang="zh-CN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7" grpId="0"/>
      <p:bldP spid="8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圖片 3">
            <a:extLst>
              <a:ext uri="{FF2B5EF4-FFF2-40B4-BE49-F238E27FC236}">
                <a16:creationId xmlns:a16="http://schemas.microsoft.com/office/drawing/2014/main" id="{2BD26F5D-A124-DD71-1D6E-465E7ADB5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矩形 4">
            <a:extLst>
              <a:ext uri="{FF2B5EF4-FFF2-40B4-BE49-F238E27FC236}">
                <a16:creationId xmlns:a16="http://schemas.microsoft.com/office/drawing/2014/main" id="{E1FB5FE1-2D42-7F7F-3F0F-4CE2B4B1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1113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用正方體積木排出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層的形體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21508" name="群組 16">
            <a:extLst>
              <a:ext uri="{FF2B5EF4-FFF2-40B4-BE49-F238E27FC236}">
                <a16:creationId xmlns:a16="http://schemas.microsoft.com/office/drawing/2014/main" id="{4B77917C-4AF8-3AF7-3D3A-5832A5BDC48D}"/>
              </a:ext>
            </a:extLst>
          </p:cNvPr>
          <p:cNvGrpSpPr>
            <a:grpSpLocks/>
          </p:cNvGrpSpPr>
          <p:nvPr/>
        </p:nvGrpSpPr>
        <p:grpSpPr bwMode="auto">
          <a:xfrm>
            <a:off x="7567613" y="52388"/>
            <a:ext cx="1520825" cy="482600"/>
            <a:chOff x="6722457" y="1658256"/>
            <a:chExt cx="1967833" cy="652081"/>
          </a:xfrm>
        </p:grpSpPr>
        <p:pic>
          <p:nvPicPr>
            <p:cNvPr id="21524" name="Picture 14">
              <a:extLst>
                <a:ext uri="{FF2B5EF4-FFF2-40B4-BE49-F238E27FC236}">
                  <a16:creationId xmlns:a16="http://schemas.microsoft.com/office/drawing/2014/main" id="{F711FDDC-35DC-BC4C-A7B8-CF135E32F7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25" name="矩形 1">
              <a:extLst>
                <a:ext uri="{FF2B5EF4-FFF2-40B4-BE49-F238E27FC236}">
                  <a16:creationId xmlns:a16="http://schemas.microsoft.com/office/drawing/2014/main" id="{4D393E30-25F2-5E7B-DE2C-62613801A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1509" name="矩形 18">
            <a:extLst>
              <a:ext uri="{FF2B5EF4-FFF2-40B4-BE49-F238E27FC236}">
                <a16:creationId xmlns:a16="http://schemas.microsoft.com/office/drawing/2014/main" id="{A457BF00-EDC9-7526-A449-92F5DB468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630238"/>
            <a:ext cx="548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3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塊可以排成哪些形體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1510" name="圖片 14">
            <a:extLst>
              <a:ext uri="{FF2B5EF4-FFF2-40B4-BE49-F238E27FC236}">
                <a16:creationId xmlns:a16="http://schemas.microsoft.com/office/drawing/2014/main" id="{18282EBF-BF40-1B91-AE18-47BF11B94A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681038"/>
            <a:ext cx="34131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A727C667-A498-B16A-0FCF-488ABBCF1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631950"/>
            <a:ext cx="34671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圓角矩形圖說文字 19">
            <a:extLst>
              <a:ext uri="{FF2B5EF4-FFF2-40B4-BE49-F238E27FC236}">
                <a16:creationId xmlns:a16="http://schemas.microsoft.com/office/drawing/2014/main" id="{DE985321-B067-6727-E02F-EF0DFC00D85E}"/>
              </a:ext>
            </a:extLst>
          </p:cNvPr>
          <p:cNvSpPr/>
          <p:nvPr/>
        </p:nvSpPr>
        <p:spPr bwMode="auto">
          <a:xfrm>
            <a:off x="4362450" y="1557338"/>
            <a:ext cx="4713288" cy="1262062"/>
          </a:xfrm>
          <a:prstGeom prst="wedgeRoundRectCallout">
            <a:avLst>
              <a:gd name="adj1" fmla="val -56500"/>
              <a:gd name="adj2" fmla="val -11224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2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塊只能排成</a:t>
            </a: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1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種形體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排排看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再加</a:t>
            </a:r>
            <a:r>
              <a:rPr lang="en-US" altLang="zh-TW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1 </a:t>
            </a:r>
            <a:r>
              <a:rPr lang="zh-TW" altLang="en-US" sz="2400" dirty="0">
                <a:solidFill>
                  <a:schemeClr val="tx1"/>
                </a:solidFill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塊可以接在哪裡</a:t>
            </a:r>
            <a:r>
              <a:rPr lang="zh-TW" altLang="en-US" sz="2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1D03D1-4531-B1A6-EB10-67A21BABEB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3592513"/>
            <a:ext cx="7569200" cy="326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D4F4245-1BC0-E161-E4BB-429C2B1A34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4506913"/>
            <a:ext cx="2103438" cy="143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A9B0EF4-F0D9-2945-2ECE-5C2A400139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8" y="4202113"/>
            <a:ext cx="164623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18C1BFF-5581-5626-7D5F-293E1F58AEE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088" y="4164013"/>
            <a:ext cx="16335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D03F7E1-19A1-8D6C-D473-8CC68C4DC0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5259388"/>
            <a:ext cx="1636712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075B7C3-D0E6-AD43-B619-E936790AF1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263" y="5238750"/>
            <a:ext cx="162718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0ABB090C-23ED-6B0B-2847-0BB4D2EF1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775" y="3830638"/>
            <a:ext cx="4095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TW" sz="200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塊可以排成這些形體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A1751AA-8334-9253-F4E9-C840E9E01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5" y="6256338"/>
            <a:ext cx="5314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排法是同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  <a:cs typeface="Times New Roman" panose="02020603050405020304" pitchFamily="18" charset="0"/>
              </a:rPr>
              <a:t>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種形體</a:t>
            </a:r>
            <a:r>
              <a:rPr lang="zh-TW" altLang="en-US" sz="2000">
                <a:latin typeface="書法中楷（破音二）" panose="02010609010101010101" pitchFamily="49" charset="-120"/>
                <a:ea typeface="書法中楷（破音二）" panose="02010609010101010101" pitchFamily="49" charset="-120"/>
                <a:cs typeface="Times New Roman" panose="02020603050405020304" pitchFamily="18" charset="0"/>
              </a:rPr>
              <a:t>嗎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為</a:t>
            </a:r>
            <a:r>
              <a:rPr lang="zh-TW" altLang="en-US" sz="20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什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麼</a:t>
            </a:r>
            <a:r>
              <a: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19CD1C8C-0145-E84E-3BFE-1D16394F7D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88" y="6342063"/>
            <a:ext cx="604837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34168747-B522-6C24-8912-0398A8DD6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483350"/>
            <a:ext cx="1384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endParaRPr kumimoji="1" lang="zh-CN" altLang="en-US" sz="2400">
              <a:solidFill>
                <a:srgbClr val="FF33CC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11C5B6A-335D-4560-6456-988697F54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8450" y="5875338"/>
            <a:ext cx="2838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TW" altLang="en-US" sz="2400">
                <a:solidFill>
                  <a:srgbClr val="FF33C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轉方向後都一樣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8" grpId="0"/>
      <p:bldP spid="33" grpId="0"/>
      <p:bldP spid="35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圖片 3">
            <a:extLst>
              <a:ext uri="{FF2B5EF4-FFF2-40B4-BE49-F238E27FC236}">
                <a16:creationId xmlns:a16="http://schemas.microsoft.com/office/drawing/2014/main" id="{25760A55-D2A8-5D90-AF99-CF7430C12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:a16="http://schemas.microsoft.com/office/drawing/2014/main" id="{E768678D-F1BC-DD17-BB4A-5A6653224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1113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用正方體積木排出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層的形體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23556" name="群組 16">
            <a:extLst>
              <a:ext uri="{FF2B5EF4-FFF2-40B4-BE49-F238E27FC236}">
                <a16:creationId xmlns:a16="http://schemas.microsoft.com/office/drawing/2014/main" id="{3B6ECEA5-DE80-5210-DFF6-452184A6DCF0}"/>
              </a:ext>
            </a:extLst>
          </p:cNvPr>
          <p:cNvGrpSpPr>
            <a:grpSpLocks/>
          </p:cNvGrpSpPr>
          <p:nvPr/>
        </p:nvGrpSpPr>
        <p:grpSpPr bwMode="auto">
          <a:xfrm>
            <a:off x="7567613" y="52388"/>
            <a:ext cx="1520825" cy="482600"/>
            <a:chOff x="6722457" y="1658256"/>
            <a:chExt cx="1967833" cy="652081"/>
          </a:xfrm>
        </p:grpSpPr>
        <p:pic>
          <p:nvPicPr>
            <p:cNvPr id="23562" name="Picture 14">
              <a:extLst>
                <a:ext uri="{FF2B5EF4-FFF2-40B4-BE49-F238E27FC236}">
                  <a16:creationId xmlns:a16="http://schemas.microsoft.com/office/drawing/2014/main" id="{BCA654D5-195B-1BB5-7D98-C86892219F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63" name="矩形 1">
              <a:extLst>
                <a:ext uri="{FF2B5EF4-FFF2-40B4-BE49-F238E27FC236}">
                  <a16:creationId xmlns:a16="http://schemas.microsoft.com/office/drawing/2014/main" id="{07E05893-FB01-14FB-4F1B-8F9489384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3557" name="矩形 18">
            <a:extLst>
              <a:ext uri="{FF2B5EF4-FFF2-40B4-BE49-F238E27FC236}">
                <a16:creationId xmlns:a16="http://schemas.microsoft.com/office/drawing/2014/main" id="{EAC24861-0D4C-B89C-AAE8-2A62793AF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630238"/>
            <a:ext cx="548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24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塊可以排成哪些形體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3558" name="圖片 16">
            <a:extLst>
              <a:ext uri="{FF2B5EF4-FFF2-40B4-BE49-F238E27FC236}">
                <a16:creationId xmlns:a16="http://schemas.microsoft.com/office/drawing/2014/main" id="{F8A9911D-C745-E9A4-2CC1-A05D3BA2EC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681038"/>
            <a:ext cx="352425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A7C25D58-209F-3BAC-A873-C9B431D5B9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189038"/>
            <a:ext cx="8816975" cy="305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565F816-F415-C074-49D2-58C7446D1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1608138"/>
            <a:ext cx="5197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3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 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塊可以排出下面 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2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種形體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我再加 </a:t>
            </a:r>
            <a:r>
              <a:rPr lang="en-US" altLang="zh-TW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</a:t>
            </a:r>
            <a:r>
              <a:rPr lang="zh-TW" altLang="en-US" sz="20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 </a:t>
            </a:r>
            <a:r>
              <a:rPr lang="zh-TW" altLang="en-US" sz="20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塊排排看</a:t>
            </a:r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2537" name="矩形 24">
            <a:extLst>
              <a:ext uri="{FF2B5EF4-FFF2-40B4-BE49-F238E27FC236}">
                <a16:creationId xmlns:a16="http://schemas.microsoft.com/office/drawing/2014/main" id="{53525A02-8146-CDC9-D29F-956EE9B10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4340225"/>
            <a:ext cx="8191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同學互相分享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你排了哪些形體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25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EA07E321-A09D-8624-8CAA-873C76C9D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189038"/>
            <a:ext cx="8651875" cy="391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圖片 3">
            <a:extLst>
              <a:ext uri="{FF2B5EF4-FFF2-40B4-BE49-F238E27FC236}">
                <a16:creationId xmlns:a16="http://schemas.microsoft.com/office/drawing/2014/main" id="{81B7AF42-3350-3796-22D8-C7B3DCF0A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325"/>
            <a:ext cx="4381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矩形 4">
            <a:extLst>
              <a:ext uri="{FF2B5EF4-FFF2-40B4-BE49-F238E27FC236}">
                <a16:creationId xmlns:a16="http://schemas.microsoft.com/office/drawing/2014/main" id="{50BF607F-7E31-E4AB-9011-2D8193664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11113"/>
            <a:ext cx="8412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用正方體積木排出</a:t>
            </a:r>
            <a:r>
              <a:rPr lang="zh-TW" altLang="en-US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一</a:t>
            </a:r>
            <a:r>
              <a:rPr lang="zh-TW" altLang="en-US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層的形體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  <p:grpSp>
        <p:nvGrpSpPr>
          <p:cNvPr id="25605" name="群組 16">
            <a:extLst>
              <a:ext uri="{FF2B5EF4-FFF2-40B4-BE49-F238E27FC236}">
                <a16:creationId xmlns:a16="http://schemas.microsoft.com/office/drawing/2014/main" id="{A6753AD6-9BFF-1406-CEF7-3B4D4035A096}"/>
              </a:ext>
            </a:extLst>
          </p:cNvPr>
          <p:cNvGrpSpPr>
            <a:grpSpLocks/>
          </p:cNvGrpSpPr>
          <p:nvPr/>
        </p:nvGrpSpPr>
        <p:grpSpPr bwMode="auto">
          <a:xfrm>
            <a:off x="7567613" y="52388"/>
            <a:ext cx="1520825" cy="482600"/>
            <a:chOff x="6722457" y="1658256"/>
            <a:chExt cx="1967833" cy="652081"/>
          </a:xfrm>
        </p:grpSpPr>
        <p:pic>
          <p:nvPicPr>
            <p:cNvPr id="25611" name="Picture 14">
              <a:extLst>
                <a:ext uri="{FF2B5EF4-FFF2-40B4-BE49-F238E27FC236}">
                  <a16:creationId xmlns:a16="http://schemas.microsoft.com/office/drawing/2014/main" id="{2C844F43-E4D3-B113-4264-9A446F3E3E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1740821"/>
              <a:ext cx="1958050" cy="569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2" name="矩形 1">
              <a:extLst>
                <a:ext uri="{FF2B5EF4-FFF2-40B4-BE49-F238E27FC236}">
                  <a16:creationId xmlns:a16="http://schemas.microsoft.com/office/drawing/2014/main" id="{BF5224FD-3EAE-577E-A961-41BBBD6C7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2457" y="1658256"/>
              <a:ext cx="1964649" cy="623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TW" altLang="en-US" sz="24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附件  </a:t>
              </a:r>
              <a:r>
                <a:rPr kumimoji="1" lang="en-US" altLang="zh-TW" sz="2000">
                  <a:latin typeface="Times New Roman" panose="02020603050405020304" pitchFamily="18" charset="0"/>
                  <a:ea typeface="書法中楷（注音一）" panose="02010609010101010101" pitchFamily="49" charset="-120"/>
                  <a:cs typeface="Times New Roman" panose="02020603050405020304" pitchFamily="18" charset="0"/>
                </a:rPr>
                <a:t>28</a:t>
              </a:r>
              <a:endParaRPr kumimoji="1" lang="zh-TW" altLang="en-US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5606" name="矩形 18">
            <a:extLst>
              <a:ext uri="{FF2B5EF4-FFF2-40B4-BE49-F238E27FC236}">
                <a16:creationId xmlns:a16="http://schemas.microsoft.com/office/drawing/2014/main" id="{40C21A90-56CF-1A3D-AF40-5DD6F8BE8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" y="630238"/>
            <a:ext cx="8147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動手來</a:t>
            </a:r>
            <a:r>
              <a:rPr lang="zh-TW" altLang="en-US" sz="24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挑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戰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5 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塊可以排成哪些形體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70059B-F958-CFBA-0A03-CE28F5215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8263" y="1557338"/>
            <a:ext cx="33861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想想看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要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怎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麼排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出</a:t>
            </a:r>
            <a:r>
              <a:rPr lang="zh-TW" altLang="en-US" sz="1800">
                <a:latin typeface="書法中楷（破音二）" panose="02010609010101010101" pitchFamily="49" charset="-120"/>
                <a:ea typeface="書法中楷（破音二）" panose="02010609010101010101" pitchFamily="49" charset="-120"/>
              </a:rPr>
              <a:t>不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同的形體</a:t>
            </a:r>
            <a:r>
              <a:rPr lang="zh-TW" altLang="en-US" sz="18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呢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A85724-FF78-DBC0-AE08-0ABE1CB4C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3" y="5099050"/>
            <a:ext cx="8191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2400">
                <a:latin typeface="書法中楷（破音三）" panose="02010609010101010101" pitchFamily="49" charset="-120"/>
                <a:ea typeface="書法中楷（破音三）" panose="02010609010101010101" pitchFamily="49" charset="-120"/>
              </a:rPr>
              <a:t>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同學互相分享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24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你排了哪些形體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？</a:t>
            </a:r>
          </a:p>
        </p:txBody>
      </p:sp>
      <p:pic>
        <p:nvPicPr>
          <p:cNvPr id="25609" name="圖片 6">
            <a:extLst>
              <a:ext uri="{FF2B5EF4-FFF2-40B4-BE49-F238E27FC236}">
                <a16:creationId xmlns:a16="http://schemas.microsoft.com/office/drawing/2014/main" id="{455B24A9-67AF-4320-75BE-34ACF030C6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" y="682625"/>
            <a:ext cx="3651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583E498-4054-432B-A91D-DF324BB26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100" y="2571750"/>
            <a:ext cx="32940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用 </a:t>
            </a:r>
            <a:r>
              <a:rPr lang="en-US" altLang="zh-TW" sz="1800">
                <a:latin typeface="Times New Roman" panose="02020603050405020304" pitchFamily="18" charset="0"/>
                <a:ea typeface="書法中楷（注音一）" panose="02010609010101010101" pitchFamily="49" charset="-120"/>
                <a:cs typeface="Times New Roman" panose="02020603050405020304" pitchFamily="18" charset="0"/>
              </a:rPr>
              <a:t>4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塊可以排出下面的形體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我再加 </a:t>
            </a:r>
            <a:r>
              <a:rPr lang="en-US" altLang="zh-TW" sz="1800">
                <a:latin typeface="Times New Roman" panose="02020603050405020304" pitchFamily="18" charset="0"/>
                <a:ea typeface="書法中楷（注音一）" panose="02010609010101010101" pitchFamily="49" charset="-120"/>
              </a:rPr>
              <a:t>1 </a:t>
            </a:r>
            <a:r>
              <a:rPr lang="zh-TW" altLang="en-US" sz="1800">
                <a:latin typeface="書法中楷（注音一）" panose="02010609010101010101" pitchFamily="49" charset="-120"/>
                <a:ea typeface="書法中楷（注音一）" panose="02010609010101010101" pitchFamily="49" charset="-120"/>
              </a:rPr>
              <a:t>塊排排看</a:t>
            </a:r>
            <a:r>
              <a:rPr lang="zh-TW" altLang="en-US" sz="180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14" grpId="0"/>
    </p:bldLst>
  </p:timing>
</p:sld>
</file>

<file path=ppt/theme/theme1.xml><?xml version="1.0" encoding="utf-8"?>
<a:theme xmlns:a="http://schemas.openxmlformats.org/drawingml/2006/main" name="數學教學PPT共同頁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數學教學PPT共同頁</Template>
  <TotalTime>8645</TotalTime>
  <Words>492</Words>
  <Application>Microsoft Office PowerPoint</Application>
  <PresentationFormat>如螢幕大小 (4:3)</PresentationFormat>
  <Paragraphs>75</Paragraphs>
  <Slides>12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3" baseType="lpstr">
      <vt:lpstr>Calibri</vt:lpstr>
      <vt:lpstr>新細明體</vt:lpstr>
      <vt:lpstr>Arial</vt:lpstr>
      <vt:lpstr>Calibri Light</vt:lpstr>
      <vt:lpstr>微軟正黑體</vt:lpstr>
      <vt:lpstr>書法中楷（破音三）</vt:lpstr>
      <vt:lpstr>書法中楷（注音一）</vt:lpstr>
      <vt:lpstr>標楷體</vt:lpstr>
      <vt:lpstr>Times New Roman</vt:lpstr>
      <vt:lpstr>書法中楷（破音二）</vt:lpstr>
      <vt:lpstr>數學教學PPT共同頁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Willy Logan</dc:creator>
  <cp:lastModifiedBy>USER</cp:lastModifiedBy>
  <cp:revision>706</cp:revision>
  <dcterms:modified xsi:type="dcterms:W3CDTF">2026-06-08T08:30:45Z</dcterms:modified>
</cp:coreProperties>
</file>
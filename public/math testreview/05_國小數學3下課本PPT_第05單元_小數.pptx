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65"/>
  </p:notesMasterIdLst>
  <p:sldIdLst>
    <p:sldId id="369" r:id="rId2"/>
    <p:sldId id="370" r:id="rId3"/>
    <p:sldId id="400" r:id="rId4"/>
    <p:sldId id="401" r:id="rId5"/>
    <p:sldId id="402" r:id="rId6"/>
    <p:sldId id="403" r:id="rId7"/>
    <p:sldId id="404" r:id="rId8"/>
    <p:sldId id="405" r:id="rId9"/>
    <p:sldId id="406" r:id="rId10"/>
    <p:sldId id="332" r:id="rId11"/>
    <p:sldId id="381" r:id="rId12"/>
    <p:sldId id="389" r:id="rId13"/>
    <p:sldId id="430" r:id="rId14"/>
    <p:sldId id="431" r:id="rId15"/>
    <p:sldId id="429" r:id="rId16"/>
    <p:sldId id="433" r:id="rId17"/>
    <p:sldId id="382" r:id="rId18"/>
    <p:sldId id="434" r:id="rId19"/>
    <p:sldId id="436" r:id="rId20"/>
    <p:sldId id="437" r:id="rId21"/>
    <p:sldId id="439" r:id="rId22"/>
    <p:sldId id="440" r:id="rId23"/>
    <p:sldId id="441" r:id="rId24"/>
    <p:sldId id="442" r:id="rId25"/>
    <p:sldId id="443" r:id="rId26"/>
    <p:sldId id="444" r:id="rId27"/>
    <p:sldId id="445" r:id="rId28"/>
    <p:sldId id="446" r:id="rId29"/>
    <p:sldId id="383" r:id="rId30"/>
    <p:sldId id="447" r:id="rId31"/>
    <p:sldId id="448" r:id="rId32"/>
    <p:sldId id="449" r:id="rId33"/>
    <p:sldId id="450" r:id="rId34"/>
    <p:sldId id="391" r:id="rId35"/>
    <p:sldId id="451" r:id="rId36"/>
    <p:sldId id="452" r:id="rId37"/>
    <p:sldId id="453" r:id="rId38"/>
    <p:sldId id="454" r:id="rId39"/>
    <p:sldId id="455" r:id="rId40"/>
    <p:sldId id="456" r:id="rId41"/>
    <p:sldId id="457" r:id="rId42"/>
    <p:sldId id="458" r:id="rId43"/>
    <p:sldId id="459" r:id="rId44"/>
    <p:sldId id="460" r:id="rId45"/>
    <p:sldId id="461" r:id="rId46"/>
    <p:sldId id="472" r:id="rId47"/>
    <p:sldId id="473" r:id="rId48"/>
    <p:sldId id="474" r:id="rId49"/>
    <p:sldId id="475" r:id="rId50"/>
    <p:sldId id="476" r:id="rId51"/>
    <p:sldId id="477" r:id="rId52"/>
    <p:sldId id="478" r:id="rId53"/>
    <p:sldId id="479" r:id="rId54"/>
    <p:sldId id="420" r:id="rId55"/>
    <p:sldId id="421" r:id="rId56"/>
    <p:sldId id="463" r:id="rId57"/>
    <p:sldId id="464" r:id="rId58"/>
    <p:sldId id="465" r:id="rId59"/>
    <p:sldId id="466" r:id="rId60"/>
    <p:sldId id="468" r:id="rId61"/>
    <p:sldId id="469" r:id="rId62"/>
    <p:sldId id="470" r:id="rId63"/>
    <p:sldId id="471" r:id="rId64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388A"/>
    <a:srgbClr val="0000FF"/>
    <a:srgbClr val="CBE8DD"/>
    <a:srgbClr val="FF3BCE"/>
    <a:srgbClr val="FF33CC"/>
    <a:srgbClr val="FF0000"/>
    <a:srgbClr val="FFCCCC"/>
    <a:srgbClr val="E4F0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F00A0C-396C-4BD8-A62D-F509AEB4C581}">
  <a:tblStyle styleId="{5EF00A0C-396C-4BD8-A62D-F509AEB4C581}" styleName="Table_0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19" autoAdjust="0"/>
    <p:restoredTop sz="93788" autoAdjust="0"/>
  </p:normalViewPr>
  <p:slideViewPr>
    <p:cSldViewPr snapToGrid="0">
      <p:cViewPr>
        <p:scale>
          <a:sx n="100" d="100"/>
          <a:sy n="100" d="100"/>
        </p:scale>
        <p:origin x="2034" y="3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23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3">
            <a:extLst>
              <a:ext uri="{FF2B5EF4-FFF2-40B4-BE49-F238E27FC236}">
                <a16:creationId xmlns:a16="http://schemas.microsoft.com/office/drawing/2014/main" id="{41D1FE3C-F9D1-3F56-F6C8-E8C25B2915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C3FA0D5-EA36-7C0F-6FEA-E9A28EA28E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pPr lvl="0"/>
            <a:endParaRPr noProof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CAA4F-B090-FCE8-C731-7A6171DCD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F9BFE-FD5B-4FC0-F8B9-53AB24896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768E3-0B8A-310A-9498-F8291526D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3678C5-1D6A-4E09-AB81-76AC1286ACB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48995754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95">
            <a:extLst>
              <a:ext uri="{FF2B5EF4-FFF2-40B4-BE49-F238E27FC236}">
                <a16:creationId xmlns:a16="http://schemas.microsoft.com/office/drawing/2014/main" id="{C9120145-FC74-9B29-F4C3-2E5AEC462E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244475" y="242887"/>
            <a:ext cx="1570038" cy="1081088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endParaRPr lang="zh-TW" altLang="zh-TW" sz="1400">
              <a:solidFill>
                <a:srgbClr val="00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8549"/>
            <a:ext cx="8515350" cy="1325563"/>
          </a:xfrm>
        </p:spPr>
        <p:txBody>
          <a:bodyPr/>
          <a:lstStyle>
            <a:lvl1pPr>
              <a:defRPr sz="5500" b="1" i="1">
                <a:solidFill>
                  <a:srgbClr val="0099CC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7ACCC-2D73-65C1-2AF8-80BA8C93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97FC6-A8C6-95D3-24A3-EA3E1EA0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191D4-93C0-16C7-5FF3-D4FDBFCB9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89829-6CC6-4B36-9CC3-02D394B15FF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94558403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724" y="1517405"/>
            <a:ext cx="8517276" cy="43513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8549"/>
            <a:ext cx="8515350" cy="1325563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E6FF5-3210-1C51-21AE-90C1FA9AC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BDF31-B2B5-B170-5539-9C77960F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252BB-9A29-01D1-30BA-44DF957D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5ED78-E64E-4C92-A760-9B8E4F6B497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75595556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A91BEE03-FB9E-0671-D7D9-D892F97D81BE}"/>
              </a:ext>
            </a:extLst>
          </p:cNvPr>
          <p:cNvCxnSpPr/>
          <p:nvPr userDrawn="1"/>
        </p:nvCxnSpPr>
        <p:spPr>
          <a:xfrm>
            <a:off x="0" y="2670175"/>
            <a:ext cx="7135813" cy="0"/>
          </a:xfrm>
          <a:prstGeom prst="line">
            <a:avLst/>
          </a:prstGeom>
          <a:ln w="28575">
            <a:solidFill>
              <a:srgbClr val="FFD9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5F7378F3-048C-4EAB-DE5F-E405E61645B2}"/>
              </a:ext>
            </a:extLst>
          </p:cNvPr>
          <p:cNvCxnSpPr/>
          <p:nvPr userDrawn="1"/>
        </p:nvCxnSpPr>
        <p:spPr>
          <a:xfrm>
            <a:off x="2401888" y="3773488"/>
            <a:ext cx="6742112" cy="0"/>
          </a:xfrm>
          <a:prstGeom prst="line">
            <a:avLst/>
          </a:prstGeom>
          <a:ln w="28575">
            <a:solidFill>
              <a:srgbClr val="FFD9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Shape 95">
            <a:extLst>
              <a:ext uri="{FF2B5EF4-FFF2-40B4-BE49-F238E27FC236}">
                <a16:creationId xmlns:a16="http://schemas.microsoft.com/office/drawing/2014/main" id="{68E9F1AD-CE9F-1F25-204D-3DBED2A4C270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244475" y="2670175"/>
            <a:ext cx="1570038" cy="1081088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zh-TW">
              <a:cs typeface="Arial" charset="0"/>
              <a:sym typeface="Arial" charset="0"/>
            </a:endParaRPr>
          </a:p>
        </p:txBody>
      </p:sp>
      <p:sp>
        <p:nvSpPr>
          <p:cNvPr id="5" name="Shape 95">
            <a:extLst>
              <a:ext uri="{FF2B5EF4-FFF2-40B4-BE49-F238E27FC236}">
                <a16:creationId xmlns:a16="http://schemas.microsoft.com/office/drawing/2014/main" id="{68F8468D-52A8-E761-1839-3342273CE4D7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 flipH="1">
            <a:off x="7819231" y="2670969"/>
            <a:ext cx="1570038" cy="1079500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zh-TW"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2305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5">
            <a:extLst>
              <a:ext uri="{FF2B5EF4-FFF2-40B4-BE49-F238E27FC236}">
                <a16:creationId xmlns:a16="http://schemas.microsoft.com/office/drawing/2014/main" id="{D566654E-970E-64A5-6A36-44EB8089C515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244475" y="242887"/>
            <a:ext cx="1570038" cy="1081088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TW" altLang="zh-TW" sz="1400">
              <a:latin typeface="Calibri" pitchFamily="34" charset="0"/>
              <a:ea typeface="新細明體" pitchFamily="18" charset="-120"/>
              <a:cs typeface="Arial" charset="0"/>
              <a:sym typeface="Arial" charset="0"/>
            </a:endParaRPr>
          </a:p>
        </p:txBody>
      </p:sp>
      <p:sp>
        <p:nvSpPr>
          <p:cNvPr id="3" name="標題 5">
            <a:extLst>
              <a:ext uri="{FF2B5EF4-FFF2-40B4-BE49-F238E27FC236}">
                <a16:creationId xmlns:a16="http://schemas.microsoft.com/office/drawing/2014/main" id="{6B36E170-8D03-FEE3-BB2A-C528798F85B2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28650" y="188913"/>
            <a:ext cx="8515350" cy="13255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500" b="1" i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zh-TW" altLang="en-US" dirty="0">
                <a:solidFill>
                  <a:srgbClr val="C00000"/>
                </a:solidFill>
              </a:rPr>
              <a:t>練習百分百</a:t>
            </a:r>
          </a:p>
        </p:txBody>
      </p:sp>
    </p:spTree>
    <p:extLst>
      <p:ext uri="{BB962C8B-B14F-4D97-AF65-F5344CB8AC3E}">
        <p14:creationId xmlns:p14="http://schemas.microsoft.com/office/powerpoint/2010/main" val="721488880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8204934-64D3-EF04-1655-C4861508C7C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99284E4-7C33-D070-07FC-75332190B2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99586-DEB6-6DE0-8CDE-A72E0ABBC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745D2-C802-CC72-AB9A-E35960210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C5945-E3FD-F9BA-0256-DA85E4C3B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517C4CD-1CCC-4569-8CDB-82CC95F3ACA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031" name="Picture 8">
            <a:extLst>
              <a:ext uri="{FF2B5EF4-FFF2-40B4-BE49-F238E27FC236}">
                <a16:creationId xmlns:a16="http://schemas.microsoft.com/office/drawing/2014/main" id="{F39AA6E9-8E74-ADA2-8C82-774B6AF6A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275" y="6418263"/>
            <a:ext cx="2271713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20" r:id="rId1"/>
    <p:sldLayoutId id="2147484222" r:id="rId2"/>
    <p:sldLayoutId id="2147484221" r:id="rId3"/>
    <p:sldLayoutId id="2147484223" r:id="rId4"/>
    <p:sldLayoutId id="2147484224" r:id="rId5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oleObject" Target="../embeddings/oleObject8.bin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24.png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9.wmf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oleObject" Target="../embeddings/oleObject15.bin"/><Relationship Id="rId7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oleObject" Target="../embeddings/oleObject17.bin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11" Type="http://schemas.openxmlformats.org/officeDocument/2006/relationships/image" Target="../media/image47.png"/><Relationship Id="rId5" Type="http://schemas.openxmlformats.org/officeDocument/2006/relationships/image" Target="../media/image43.png"/><Relationship Id="rId10" Type="http://schemas.openxmlformats.org/officeDocument/2006/relationships/image" Target="../media/image35.wmf"/><Relationship Id="rId4" Type="http://schemas.openxmlformats.org/officeDocument/2006/relationships/image" Target="../media/image42.png"/><Relationship Id="rId9" Type="http://schemas.openxmlformats.org/officeDocument/2006/relationships/oleObject" Target="../embeddings/oleObject1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oleObject" Target="../embeddings/oleObject20.bin"/><Relationship Id="rId3" Type="http://schemas.openxmlformats.org/officeDocument/2006/relationships/image" Target="../media/image42.png"/><Relationship Id="rId7" Type="http://schemas.openxmlformats.org/officeDocument/2006/relationships/image" Target="../media/image50.png"/><Relationship Id="rId12" Type="http://schemas.openxmlformats.org/officeDocument/2006/relationships/image" Target="../media/image4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11" Type="http://schemas.openxmlformats.org/officeDocument/2006/relationships/image" Target="../media/image53.wmf"/><Relationship Id="rId5" Type="http://schemas.openxmlformats.org/officeDocument/2006/relationships/image" Target="../media/image48.wmf"/><Relationship Id="rId15" Type="http://schemas.openxmlformats.org/officeDocument/2006/relationships/image" Target="../media/image55.png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52.png"/><Relationship Id="rId14" Type="http://schemas.openxmlformats.org/officeDocument/2006/relationships/image" Target="../media/image5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0.png"/><Relationship Id="rId7" Type="http://schemas.openxmlformats.org/officeDocument/2006/relationships/image" Target="../media/image47.png"/><Relationship Id="rId12" Type="http://schemas.openxmlformats.org/officeDocument/2006/relationships/image" Target="../media/image6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wmf"/><Relationship Id="rId11" Type="http://schemas.openxmlformats.org/officeDocument/2006/relationships/image" Target="../media/image61.png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60.png"/><Relationship Id="rId4" Type="http://schemas.openxmlformats.org/officeDocument/2006/relationships/image" Target="../media/image42.png"/><Relationship Id="rId9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7.png"/><Relationship Id="rId11" Type="http://schemas.openxmlformats.org/officeDocument/2006/relationships/image" Target="../media/image70.wmf"/><Relationship Id="rId5" Type="http://schemas.openxmlformats.org/officeDocument/2006/relationships/image" Target="../media/image66.png"/><Relationship Id="rId10" Type="http://schemas.openxmlformats.org/officeDocument/2006/relationships/oleObject" Target="../embeddings/oleObject23.bin"/><Relationship Id="rId4" Type="http://schemas.openxmlformats.org/officeDocument/2006/relationships/image" Target="../media/image65.png"/><Relationship Id="rId9" Type="http://schemas.openxmlformats.org/officeDocument/2006/relationships/image" Target="../media/image6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41.png"/><Relationship Id="rId7" Type="http://schemas.openxmlformats.org/officeDocument/2006/relationships/image" Target="../media/image7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35.wmf"/><Relationship Id="rId4" Type="http://schemas.openxmlformats.org/officeDocument/2006/relationships/image" Target="../media/image42.png"/><Relationship Id="rId9" Type="http://schemas.openxmlformats.org/officeDocument/2006/relationships/oleObject" Target="../embeddings/oleObject24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7.png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42.png"/><Relationship Id="rId7" Type="http://schemas.openxmlformats.org/officeDocument/2006/relationships/image" Target="../media/image51.png"/><Relationship Id="rId12" Type="http://schemas.openxmlformats.org/officeDocument/2006/relationships/oleObject" Target="../embeddings/oleObject27.bin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11" Type="http://schemas.openxmlformats.org/officeDocument/2006/relationships/image" Target="../media/image79.wmf"/><Relationship Id="rId5" Type="http://schemas.openxmlformats.org/officeDocument/2006/relationships/image" Target="../media/image78.png"/><Relationship Id="rId10" Type="http://schemas.openxmlformats.org/officeDocument/2006/relationships/oleObject" Target="../embeddings/oleObject26.bin"/><Relationship Id="rId4" Type="http://schemas.openxmlformats.org/officeDocument/2006/relationships/image" Target="../media/image58.png"/><Relationship Id="rId9" Type="http://schemas.openxmlformats.org/officeDocument/2006/relationships/image" Target="../media/image35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42.png"/><Relationship Id="rId7" Type="http://schemas.openxmlformats.org/officeDocument/2006/relationships/image" Target="../media/image8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1.png"/><Relationship Id="rId5" Type="http://schemas.openxmlformats.org/officeDocument/2006/relationships/image" Target="../media/image47.png"/><Relationship Id="rId4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10" Type="http://schemas.openxmlformats.org/officeDocument/2006/relationships/image" Target="../media/image90.png"/><Relationship Id="rId4" Type="http://schemas.openxmlformats.org/officeDocument/2006/relationships/image" Target="../media/image85.png"/><Relationship Id="rId9" Type="http://schemas.openxmlformats.org/officeDocument/2006/relationships/image" Target="../media/image8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4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9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3.png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oleObject" Target="../embeddings/oleObject32.bin"/><Relationship Id="rId3" Type="http://schemas.openxmlformats.org/officeDocument/2006/relationships/image" Target="../media/image40.png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112.wmf"/><Relationship Id="rId2" Type="http://schemas.openxmlformats.org/officeDocument/2006/relationships/image" Target="../media/image106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9.png"/><Relationship Id="rId11" Type="http://schemas.openxmlformats.org/officeDocument/2006/relationships/oleObject" Target="../embeddings/oleObject31.bin"/><Relationship Id="rId5" Type="http://schemas.openxmlformats.org/officeDocument/2006/relationships/image" Target="../media/image108.png"/><Relationship Id="rId15" Type="http://schemas.openxmlformats.org/officeDocument/2006/relationships/image" Target="../media/image114.png"/><Relationship Id="rId10" Type="http://schemas.openxmlformats.org/officeDocument/2006/relationships/image" Target="../media/image111.wmf"/><Relationship Id="rId4" Type="http://schemas.openxmlformats.org/officeDocument/2006/relationships/image" Target="../media/image107.png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113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3" Type="http://schemas.openxmlformats.org/officeDocument/2006/relationships/image" Target="../media/image42.png"/><Relationship Id="rId7" Type="http://schemas.openxmlformats.org/officeDocument/2006/relationships/oleObject" Target="../embeddings/oleObject34.bin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6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115.png"/><Relationship Id="rId9" Type="http://schemas.openxmlformats.org/officeDocument/2006/relationships/image" Target="../media/image11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9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0.png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3.png"/><Relationship Id="rId5" Type="http://schemas.openxmlformats.org/officeDocument/2006/relationships/image" Target="../media/image124.png"/><Relationship Id="rId4" Type="http://schemas.openxmlformats.org/officeDocument/2006/relationships/image" Target="../media/image9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10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7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8.png"/><Relationship Id="rId4" Type="http://schemas.openxmlformats.org/officeDocument/2006/relationships/image" Target="../media/image7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9.png"/><Relationship Id="rId7" Type="http://schemas.openxmlformats.org/officeDocument/2006/relationships/image" Target="../media/image132.w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131.png"/><Relationship Id="rId10" Type="http://schemas.openxmlformats.org/officeDocument/2006/relationships/image" Target="../media/image134.wmf"/><Relationship Id="rId4" Type="http://schemas.openxmlformats.org/officeDocument/2006/relationships/image" Target="../media/image130.png"/><Relationship Id="rId9" Type="http://schemas.openxmlformats.org/officeDocument/2006/relationships/oleObject" Target="../embeddings/oleObject36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7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5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10" Type="http://schemas.openxmlformats.org/officeDocument/2006/relationships/image" Target="../media/image154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3.png"/><Relationship Id="rId5" Type="http://schemas.openxmlformats.org/officeDocument/2006/relationships/image" Target="../media/image155.png"/><Relationship Id="rId4" Type="http://schemas.openxmlformats.org/officeDocument/2006/relationships/image" Target="../media/image14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8.png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9.png"/><Relationship Id="rId4" Type="http://schemas.openxmlformats.org/officeDocument/2006/relationships/image" Target="../media/image16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:a16="http://schemas.microsoft.com/office/drawing/2014/main" id="{A8918AD6-BF12-E7A8-ACE2-3656907F5214}"/>
              </a:ext>
            </a:extLst>
          </p:cNvPr>
          <p:cNvSpPr/>
          <p:nvPr/>
        </p:nvSpPr>
        <p:spPr>
          <a:xfrm>
            <a:off x="501650" y="2597150"/>
            <a:ext cx="8140700" cy="1403350"/>
          </a:xfrm>
          <a:prstGeom prst="roundRect">
            <a:avLst/>
          </a:prstGeom>
          <a:solidFill>
            <a:srgbClr val="0099C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6147" name="標題 1">
            <a:extLst>
              <a:ext uri="{FF2B5EF4-FFF2-40B4-BE49-F238E27FC236}">
                <a16:creationId xmlns:a16="http://schemas.microsoft.com/office/drawing/2014/main" id="{DDF21A28-1072-FC00-43C4-6F11D78A0E8E}"/>
              </a:ext>
            </a:extLst>
          </p:cNvPr>
          <p:cNvSpPr txBox="1">
            <a:spLocks/>
          </p:cNvSpPr>
          <p:nvPr/>
        </p:nvSpPr>
        <p:spPr bwMode="auto">
          <a:xfrm>
            <a:off x="628650" y="1485900"/>
            <a:ext cx="7886700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sz="10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單元</a:t>
            </a:r>
            <a:endParaRPr lang="en-US" altLang="zh-TW" sz="55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小數</a:t>
            </a:r>
            <a:endParaRPr lang="en-US" altLang="zh-TW" sz="5500" b="1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教學</a:t>
            </a:r>
            <a:r>
              <a:rPr lang="en-US" altLang="zh-TW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PPT</a:t>
            </a:r>
            <a:endParaRPr lang="zh-TW" altLang="en-US" sz="55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標題 1">
            <a:extLst>
              <a:ext uri="{FF2B5EF4-FFF2-40B4-BE49-F238E27FC236}">
                <a16:creationId xmlns:a16="http://schemas.microsoft.com/office/drawing/2014/main" id="{193EEF38-7B9F-EAD1-4DBF-641AC98031E5}"/>
              </a:ext>
            </a:extLst>
          </p:cNvPr>
          <p:cNvSpPr txBox="1">
            <a:spLocks/>
          </p:cNvSpPr>
          <p:nvPr/>
        </p:nvSpPr>
        <p:spPr bwMode="auto">
          <a:xfrm>
            <a:off x="628650" y="2670175"/>
            <a:ext cx="7886700" cy="11160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defRPr/>
            </a:pPr>
            <a:r>
              <a:rPr lang="zh-TW" altLang="en-US" sz="6600" b="1" dirty="0">
                <a:latin typeface="微軟正黑體" pitchFamily="34" charset="-120"/>
                <a:ea typeface="微軟正黑體" pitchFamily="34" charset="-120"/>
              </a:rPr>
              <a:t>重點回顧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標題 1">
            <a:extLst>
              <a:ext uri="{FF2B5EF4-FFF2-40B4-BE49-F238E27FC236}">
                <a16:creationId xmlns:a16="http://schemas.microsoft.com/office/drawing/2014/main" id="{D1AA4C5D-3D37-597C-BCD2-760192AA2ED5}"/>
              </a:ext>
            </a:extLst>
          </p:cNvPr>
          <p:cNvSpPr txBox="1">
            <a:spLocks/>
          </p:cNvSpPr>
          <p:nvPr/>
        </p:nvSpPr>
        <p:spPr bwMode="auto">
          <a:xfrm>
            <a:off x="590550" y="228600"/>
            <a:ext cx="788670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endParaRPr lang="zh-TW" altLang="en-US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95" name="標題 3">
            <a:extLst>
              <a:ext uri="{FF2B5EF4-FFF2-40B4-BE49-F238E27FC236}">
                <a16:creationId xmlns:a16="http://schemas.microsoft.com/office/drawing/2014/main" id="{C36E18FF-6F9F-ADDC-9C48-99D44256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重點回顧內容</a:t>
            </a: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87DDB2FF-B8A6-FC48-573E-F34D220AE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1531938"/>
            <a:ext cx="85534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3200" b="1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分母</a:t>
            </a:r>
            <a:r>
              <a:rPr lang="zh-TW" altLang="en-US" sz="3200" b="1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為</a:t>
            </a:r>
            <a:r>
              <a:rPr lang="en-US" altLang="zh-TW" sz="3200" b="1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10</a:t>
            </a:r>
            <a:r>
              <a:rPr lang="zh-TW" altLang="en-US" sz="3200" b="1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的分數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把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長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方形平分成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10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份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，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寫出鋪色部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分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是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幾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分之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幾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，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並比大小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。</a:t>
            </a:r>
            <a:endParaRPr lang="en-US" altLang="zh-TW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(1)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8197" name="Picture 5" descr="題號-1">
            <a:extLst>
              <a:ext uri="{FF2B5EF4-FFF2-40B4-BE49-F238E27FC236}">
                <a16:creationId xmlns:a16="http://schemas.microsoft.com/office/drawing/2014/main" id="{0E7EFC3F-FD9D-A0AF-59BC-E7B5FB63C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164147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6D9281F3-0E89-DCF5-BA1D-26F952630A2D}"/>
              </a:ext>
            </a:extLst>
          </p:cNvPr>
          <p:cNvGraphicFramePr>
            <a:graphicFrameLocks noGrp="1"/>
          </p:cNvGraphicFramePr>
          <p:nvPr/>
        </p:nvGraphicFramePr>
        <p:xfrm>
          <a:off x="1216025" y="3236913"/>
          <a:ext cx="3525838" cy="658812"/>
        </p:xfrm>
        <a:graphic>
          <a:graphicData uri="http://schemas.openxmlformats.org/drawingml/2006/table">
            <a:tbl>
              <a:tblPr/>
              <a:tblGrid>
                <a:gridCol w="320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5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5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5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05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5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05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053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2940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 dirty="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 dirty="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40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 dirty="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 dirty="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 dirty="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 dirty="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39" name="矩形 12">
            <a:extLst>
              <a:ext uri="{FF2B5EF4-FFF2-40B4-BE49-F238E27FC236}">
                <a16:creationId xmlns:a16="http://schemas.microsoft.com/office/drawing/2014/main" id="{A328639F-FA28-62E3-3CCC-893F9EA7E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150" y="4029075"/>
            <a:ext cx="3463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　　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□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　　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925FAF1D-A08E-1849-C895-BAF4D1506452}"/>
              </a:ext>
            </a:extLst>
          </p:cNvPr>
          <p:cNvGraphicFramePr>
            <a:graphicFrameLocks noGrp="1"/>
          </p:cNvGraphicFramePr>
          <p:nvPr/>
        </p:nvGraphicFramePr>
        <p:xfrm>
          <a:off x="1225550" y="4913313"/>
          <a:ext cx="3611563" cy="642937"/>
        </p:xfrm>
        <a:graphic>
          <a:graphicData uri="http://schemas.openxmlformats.org/drawingml/2006/table">
            <a:tbl>
              <a:tblPr/>
              <a:tblGrid>
                <a:gridCol w="328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8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8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83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83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83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83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83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2146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 dirty="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 dirty="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 dirty="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6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 dirty="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 dirty="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 dirty="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 dirty="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 dirty="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kern="100" dirty="0">
                        <a:latin typeface="Times New Roman"/>
                        <a:ea typeface="細明體"/>
                        <a:cs typeface="Times New Roman"/>
                      </a:endParaRPr>
                    </a:p>
                  </a:txBody>
                  <a:tcPr marL="68571" marR="6857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B34B93BD-7593-60CC-E5CC-E00550AE5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88" y="4568825"/>
            <a:ext cx="604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(2)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5502C81-B527-1D9F-6629-DCF16783D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975" y="4086225"/>
            <a:ext cx="3238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b="1"/>
              <a:t>＞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B40E70B-A197-ACD4-F842-D749D9D22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0" y="5813425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b="1"/>
              <a:t>＜</a:t>
            </a:r>
          </a:p>
        </p:txBody>
      </p:sp>
      <p:graphicFrame>
        <p:nvGraphicFramePr>
          <p:cNvPr id="1026" name="物件 14">
            <a:extLst>
              <a:ext uri="{FF2B5EF4-FFF2-40B4-BE49-F238E27FC236}">
                <a16:creationId xmlns:a16="http://schemas.microsoft.com/office/drawing/2014/main" id="{9832FAA4-9A5D-1F17-34ED-4DE946E0D6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3911600"/>
          <a:ext cx="4905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203112" imgH="393529" progId="Equation.3">
                  <p:embed/>
                </p:oleObj>
              </mc:Choice>
              <mc:Fallback>
                <p:oleObj name="方程式" r:id="rId3" imgW="203112" imgH="393529" progId="Equation.3">
                  <p:embed/>
                  <p:pic>
                    <p:nvPicPr>
                      <p:cNvPr id="0" name="物件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3911600"/>
                        <a:ext cx="4905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98">
            <a:extLst>
              <a:ext uri="{FF2B5EF4-FFF2-40B4-BE49-F238E27FC236}">
                <a16:creationId xmlns:a16="http://schemas.microsoft.com/office/drawing/2014/main" id="{B1E44E57-3A6E-D07C-3A7A-D184DBA7B7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0850" y="3902075"/>
          <a:ext cx="490538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203024" imgH="406048" progId="Equation.3">
                  <p:embed/>
                </p:oleObj>
              </mc:Choice>
              <mc:Fallback>
                <p:oleObj name="方程式" r:id="rId5" imgW="203024" imgH="406048" progId="Equation.3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850" y="3902075"/>
                        <a:ext cx="490538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99">
            <a:extLst>
              <a:ext uri="{FF2B5EF4-FFF2-40B4-BE49-F238E27FC236}">
                <a16:creationId xmlns:a16="http://schemas.microsoft.com/office/drawing/2014/main" id="{1346296B-2AC1-F00B-6039-1E8E575DA2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5675313"/>
          <a:ext cx="4905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203112" imgH="393529" progId="Equation.3">
                  <p:embed/>
                </p:oleObj>
              </mc:Choice>
              <mc:Fallback>
                <p:oleObj name="方程式" r:id="rId7" imgW="203112" imgH="393529" progId="Equation.3">
                  <p:embed/>
                  <p:pic>
                    <p:nvPicPr>
                      <p:cNvPr id="0" name="Object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5675313"/>
                        <a:ext cx="4905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100">
            <a:extLst>
              <a:ext uri="{FF2B5EF4-FFF2-40B4-BE49-F238E27FC236}">
                <a16:creationId xmlns:a16="http://schemas.microsoft.com/office/drawing/2014/main" id="{8C9C2EED-BFAE-5E55-2456-9CA723517F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4663" y="5664200"/>
          <a:ext cx="49053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203112" imgH="393529" progId="Equation.3">
                  <p:embed/>
                </p:oleObj>
              </mc:Choice>
              <mc:Fallback>
                <p:oleObj name="方程式" r:id="rId9" imgW="203112" imgH="393529" progId="Equation.3">
                  <p:embed/>
                  <p:pic>
                    <p:nvPicPr>
                      <p:cNvPr id="0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4663" y="5664200"/>
                        <a:ext cx="49053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2">
            <a:extLst>
              <a:ext uri="{FF2B5EF4-FFF2-40B4-BE49-F238E27FC236}">
                <a16:creationId xmlns:a16="http://schemas.microsoft.com/office/drawing/2014/main" id="{8CBF5A6C-9A5A-FB0E-65E0-27D8CF2F5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150" y="5802313"/>
            <a:ext cx="3463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　　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□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　　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453A18-1A1D-09FB-A119-E548CB27BFE7}"/>
              </a:ext>
            </a:extLst>
          </p:cNvPr>
          <p:cNvSpPr/>
          <p:nvPr/>
        </p:nvSpPr>
        <p:spPr>
          <a:xfrm>
            <a:off x="5995988" y="5813425"/>
            <a:ext cx="1916112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zh-TW" kern="100" dirty="0">
                <a:solidFill>
                  <a:srgbClr val="000000"/>
                </a:solidFill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</a:t>
            </a:r>
            <a:r>
              <a:rPr lang="zh-TW" altLang="zh-TW" kern="100" dirty="0">
                <a:solidFill>
                  <a:srgbClr val="000000"/>
                </a:solidFill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zh-TW" kern="100" dirty="0">
                <a:solidFill>
                  <a:srgbClr val="000000"/>
                </a:solidFill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樣大</a:t>
            </a:r>
            <a:r>
              <a:rPr lang="zh-TW" altLang="zh-TW" kern="100" dirty="0">
                <a:solidFill>
                  <a:srgbClr val="000000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dirty="0"/>
          </a:p>
        </p:txBody>
      </p:sp>
      <p:graphicFrame>
        <p:nvGraphicFramePr>
          <p:cNvPr id="21" name="Object 99">
            <a:extLst>
              <a:ext uri="{FF2B5EF4-FFF2-40B4-BE49-F238E27FC236}">
                <a16:creationId xmlns:a16="http://schemas.microsoft.com/office/drawing/2014/main" id="{7934D897-7C60-C787-956D-0B05A89B40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1813" y="5619750"/>
          <a:ext cx="49053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203112" imgH="393529" progId="Equation.3">
                  <p:embed/>
                </p:oleObj>
              </mc:Choice>
              <mc:Fallback>
                <p:oleObj name="方程式" r:id="rId11" imgW="203112" imgH="393529" progId="Equation.3">
                  <p:embed/>
                  <p:pic>
                    <p:nvPicPr>
                      <p:cNvPr id="0" name="Object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1813" y="5619750"/>
                        <a:ext cx="49053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3E1D5E9C-EBB2-FDD0-3149-79CFA2CEB566}"/>
              </a:ext>
            </a:extLst>
          </p:cNvPr>
          <p:cNvCxnSpPr/>
          <p:nvPr/>
        </p:nvCxnSpPr>
        <p:spPr>
          <a:xfrm flipH="1">
            <a:off x="5000625" y="6019800"/>
            <a:ext cx="44926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0" grpId="0"/>
      <p:bldP spid="17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標題 1">
            <a:extLst>
              <a:ext uri="{FF2B5EF4-FFF2-40B4-BE49-F238E27FC236}">
                <a16:creationId xmlns:a16="http://schemas.microsoft.com/office/drawing/2014/main" id="{D6ADAFF6-B862-B3CD-C041-7ED8D442320C}"/>
              </a:ext>
            </a:extLst>
          </p:cNvPr>
          <p:cNvSpPr txBox="1">
            <a:spLocks/>
          </p:cNvSpPr>
          <p:nvPr/>
        </p:nvSpPr>
        <p:spPr bwMode="auto">
          <a:xfrm>
            <a:off x="628650" y="2670175"/>
            <a:ext cx="7886700" cy="11160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defRPr/>
            </a:pPr>
            <a:r>
              <a:rPr lang="zh-TW" altLang="en-US" sz="6600" b="1" dirty="0">
                <a:latin typeface="微軟正黑體" pitchFamily="34" charset="-120"/>
                <a:ea typeface="微軟正黑體" pitchFamily="34" charset="-120"/>
              </a:rPr>
              <a:t>練一練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5">
            <a:extLst>
              <a:ext uri="{FF2B5EF4-FFF2-40B4-BE49-F238E27FC236}">
                <a16:creationId xmlns:a16="http://schemas.microsoft.com/office/drawing/2014/main" id="{3DDABB7E-5F77-DB08-52F8-A32AF0123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0243" name="矩形 2">
            <a:extLst>
              <a:ext uri="{FF2B5EF4-FFF2-40B4-BE49-F238E27FC236}">
                <a16:creationId xmlns:a16="http://schemas.microsoft.com/office/drawing/2014/main" id="{9C374D0E-71C4-1A99-FEDC-3FFD0E897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393825"/>
            <a:ext cx="56721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3200" b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一、</a:t>
            </a:r>
            <a:r>
              <a:rPr lang="zh-TW" altLang="zh-TW" sz="3200" b="1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看圖</a:t>
            </a:r>
            <a:r>
              <a:rPr lang="zh-TW" altLang="en-US" sz="3200" b="1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填填看</a:t>
            </a:r>
            <a:r>
              <a:rPr lang="zh-TW" altLang="zh-TW" sz="32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。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TW" b="1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29" name="Rectangle 10">
            <a:extLst>
              <a:ext uri="{FF2B5EF4-FFF2-40B4-BE49-F238E27FC236}">
                <a16:creationId xmlns:a16="http://schemas.microsoft.com/office/drawing/2014/main" id="{A8C0DACE-4D6E-AAFC-8356-8231D6DB1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1857375"/>
            <a:ext cx="8462962" cy="461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1.</a:t>
            </a:r>
            <a:r>
              <a:rPr lang="zh-TW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這是表姐結婚送的</a:t>
            </a:r>
            <a:r>
              <a:rPr lang="zh-TW" altLang="zh-TW" sz="2800" dirty="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  <a:sym typeface="Arial" charset="0"/>
              </a:rPr>
              <a:t>一</a:t>
            </a:r>
            <a:r>
              <a:rPr lang="zh-TW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個大餅</a:t>
            </a:r>
            <a:r>
              <a:rPr lang="zh-TW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。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(1)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媽</a:t>
            </a:r>
            <a:r>
              <a:rPr lang="zh-TW" altLang="en-US" sz="2800" dirty="0">
                <a:latin typeface="Times New Roman" panose="02020603050405020304" pitchFamily="18" charset="0"/>
                <a:ea typeface="書法中楷（破音二）" pitchFamily="49" charset="-120"/>
                <a:cs typeface="Times New Roman" panose="02020603050405020304" pitchFamily="18" charset="0"/>
                <a:sym typeface="Arial" charset="0"/>
              </a:rPr>
              <a:t>媽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把這個大餅平分成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         )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塊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。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(2)</a:t>
            </a:r>
            <a:r>
              <a:rPr lang="zh-TW" altLang="en-US" sz="2800" u="sng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佳玉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吃了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3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塊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，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是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         )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個大餅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。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(3)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哥</a:t>
            </a:r>
            <a:r>
              <a:rPr lang="zh-TW" altLang="en-US" sz="2800" dirty="0">
                <a:latin typeface="Times New Roman" panose="02020603050405020304" pitchFamily="18" charset="0"/>
                <a:ea typeface="書法中楷（破音二）" pitchFamily="49" charset="-120"/>
                <a:cs typeface="Times New Roman" panose="02020603050405020304" pitchFamily="18" charset="0"/>
                <a:sym typeface="Arial" charset="0"/>
              </a:rPr>
              <a:t>哥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吃了    個大餅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，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是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       )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塊大餅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。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(4)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接第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(2)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、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(3)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題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，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已經有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       )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塊大餅</a:t>
            </a:r>
            <a:endParaRPr lang="en-US" altLang="zh-TW" sz="2800" dirty="0">
              <a:latin typeface="Times New Roman" panose="02020603050405020304" pitchFamily="18" charset="0"/>
              <a:ea typeface="書法中楷（注音一）" pitchFamily="49" charset="-120"/>
              <a:cs typeface="Times New Roman" panose="02020603050405020304" pitchFamily="18" charset="0"/>
              <a:sym typeface="Arial" charset="0"/>
            </a:endParaRPr>
          </a:p>
          <a:p>
            <a:pPr indent="447675">
              <a:lnSpc>
                <a:spcPct val="150000"/>
              </a:lnSpc>
              <a:spcBef>
                <a:spcPts val="1000"/>
              </a:spcBef>
              <a:defRPr/>
            </a:pP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被吃掉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，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還剩下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       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)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個大餅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。</a:t>
            </a:r>
          </a:p>
        </p:txBody>
      </p:sp>
      <p:pic>
        <p:nvPicPr>
          <p:cNvPr id="10245" name="Picture 11">
            <a:extLst>
              <a:ext uri="{FF2B5EF4-FFF2-40B4-BE49-F238E27FC236}">
                <a16:creationId xmlns:a16="http://schemas.microsoft.com/office/drawing/2014/main" id="{C5149354-213A-7D72-ABE3-7476A7CE7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36" t="28642" r="23438" b="15453"/>
          <a:stretch>
            <a:fillRect/>
          </a:stretch>
        </p:blipFill>
        <p:spPr bwMode="auto">
          <a:xfrm>
            <a:off x="7108825" y="300038"/>
            <a:ext cx="1797050" cy="175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8C93C9F-40CB-C76F-48F4-7BF713391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4463" y="2832100"/>
            <a:ext cx="549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endParaRPr lang="zh-TW" altLang="en-US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247" name="物件 14">
            <a:extLst>
              <a:ext uri="{FF2B5EF4-FFF2-40B4-BE49-F238E27FC236}">
                <a16:creationId xmlns:a16="http://schemas.microsoft.com/office/drawing/2014/main" id="{9413A982-6363-0D5C-94E3-6AE9DB777C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4663" y="4186238"/>
          <a:ext cx="49053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203024" imgH="406048" progId="Equation.3">
                  <p:embed/>
                </p:oleObj>
              </mc:Choice>
              <mc:Fallback>
                <p:oleObj name="方程式" r:id="rId3" imgW="203024" imgH="406048" progId="Equation.3">
                  <p:embed/>
                  <p:pic>
                    <p:nvPicPr>
                      <p:cNvPr id="0" name="物件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663" y="4186238"/>
                        <a:ext cx="49053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3EF6C821-813E-3D85-CC40-D10CFFFF3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1088" y="4300538"/>
            <a:ext cx="363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endParaRPr lang="zh-TW" altLang="en-US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6A25262-6595-62CB-631E-A5D583A33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5108575"/>
            <a:ext cx="36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lang="zh-TW" altLang="en-US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0B594BA-794F-47BB-F46E-B312CA48831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72000" y="3433592"/>
            <a:ext cx="1210209" cy="670568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TW" altLang="en-US">
                <a:noFill/>
              </a:rPr>
              <a:t> 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501CBBA-850D-D771-2F0E-2A98336BB99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63143" y="5798495"/>
            <a:ext cx="1210209" cy="670568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TW" altLang="en-US">
                <a:noFill/>
              </a:rPr>
              <a:t> 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5">
            <a:extLst>
              <a:ext uri="{FF2B5EF4-FFF2-40B4-BE49-F238E27FC236}">
                <a16:creationId xmlns:a16="http://schemas.microsoft.com/office/drawing/2014/main" id="{FDFACBB7-843B-2D87-F36E-CF51F4616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1267" name="Rectangle 16">
            <a:extLst>
              <a:ext uri="{FF2B5EF4-FFF2-40B4-BE49-F238E27FC236}">
                <a16:creationId xmlns:a16="http://schemas.microsoft.com/office/drawing/2014/main" id="{1E1DCFD2-2B89-4141-875F-59FEEA3CC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" y="2000250"/>
            <a:ext cx="75453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一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瓶果汁剛好可以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倒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滿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10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杯     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。</a:t>
            </a:r>
          </a:p>
        </p:txBody>
      </p:sp>
      <p:pic>
        <p:nvPicPr>
          <p:cNvPr id="11268" name="Picture 18">
            <a:extLst>
              <a:ext uri="{FF2B5EF4-FFF2-40B4-BE49-F238E27FC236}">
                <a16:creationId xmlns:a16="http://schemas.microsoft.com/office/drawing/2014/main" id="{918D5F4F-B21A-A3DB-A20A-C31819F01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4"/>
          <a:stretch>
            <a:fillRect/>
          </a:stretch>
        </p:blipFill>
        <p:spPr bwMode="auto">
          <a:xfrm>
            <a:off x="1733550" y="2538413"/>
            <a:ext cx="21717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4" name="Rectangle 20">
            <a:extLst>
              <a:ext uri="{FF2B5EF4-FFF2-40B4-BE49-F238E27FC236}">
                <a16:creationId xmlns:a16="http://schemas.microsoft.com/office/drawing/2014/main" id="{519019E3-0132-D66A-D49F-01259D4C2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3614738"/>
            <a:ext cx="8205787" cy="278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(1)</a:t>
            </a:r>
            <a:r>
              <a:rPr lang="zh-TW" altLang="en-US" sz="2800" u="sng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雅文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喝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2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杯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，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是喝了 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        )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瓶果汁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。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(2)</a:t>
            </a:r>
            <a:r>
              <a:rPr lang="zh-TW" altLang="en-US" sz="2800" u="sng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雅言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喝      瓶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，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是喝了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        )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杯果汁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。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charset="0"/>
            </a:endParaRPr>
          </a:p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(3)</a:t>
            </a:r>
            <a:r>
              <a:rPr lang="zh-TW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接第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(1)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、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(2)</a:t>
            </a:r>
            <a:r>
              <a:rPr lang="zh-TW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題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，</a:t>
            </a:r>
            <a:r>
              <a:rPr lang="zh-TW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已經有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(        )</a:t>
            </a:r>
            <a:r>
              <a:rPr lang="zh-TW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杯果汁</a:t>
            </a:r>
            <a:endParaRPr lang="en-US" altLang="zh-TW" sz="2800" dirty="0">
              <a:latin typeface="Times New Roman" panose="02020603050405020304" pitchFamily="18" charset="0"/>
              <a:ea typeface="書法中楷（注音一）" pitchFamily="49" charset="-120"/>
              <a:cs typeface="Times New Roman" panose="02020603050405020304" pitchFamily="18" charset="0"/>
              <a:sym typeface="Arial" charset="0"/>
            </a:endParaRPr>
          </a:p>
          <a:p>
            <a:pPr indent="358775">
              <a:spcBef>
                <a:spcPts val="1000"/>
              </a:spcBef>
              <a:spcAft>
                <a:spcPts val="600"/>
              </a:spcAft>
              <a:defRPr/>
            </a:pPr>
            <a:r>
              <a:rPr lang="zh-TW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被喝掉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，</a:t>
            </a:r>
            <a:r>
              <a:rPr lang="zh-TW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還剩下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 (        )</a:t>
            </a:r>
            <a:r>
              <a:rPr lang="zh-TW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瓶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。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charset="0"/>
            </a:endParaRPr>
          </a:p>
          <a:p>
            <a:pPr>
              <a:spcAft>
                <a:spcPts val="600"/>
              </a:spcAft>
              <a:defRPr/>
            </a:pPr>
            <a:endParaRPr lang="zh-TW" altLang="en-US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270" name="Text Box 19">
            <a:extLst>
              <a:ext uri="{FF2B5EF4-FFF2-40B4-BE49-F238E27FC236}">
                <a16:creationId xmlns:a16="http://schemas.microsoft.com/office/drawing/2014/main" id="{E4367F32-DCC1-A19F-9588-197EBA35B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5" y="561975"/>
            <a:ext cx="15716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zh-TW" sz="1800"/>
          </a:p>
        </p:txBody>
      </p:sp>
      <p:graphicFrame>
        <p:nvGraphicFramePr>
          <p:cNvPr id="11271" name="Object 23">
            <a:extLst>
              <a:ext uri="{FF2B5EF4-FFF2-40B4-BE49-F238E27FC236}">
                <a16:creationId xmlns:a16="http://schemas.microsoft.com/office/drawing/2014/main" id="{5BB6A754-5A58-02AF-4B94-810954373F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2550" y="4138613"/>
          <a:ext cx="4905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203112" imgH="393529" progId="Equation.3">
                  <p:embed/>
                </p:oleObj>
              </mc:Choice>
              <mc:Fallback>
                <p:oleObj name="方程式" r:id="rId3" imgW="203112" imgH="393529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4138613"/>
                        <a:ext cx="4905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字方塊 26">
            <a:extLst>
              <a:ext uri="{FF2B5EF4-FFF2-40B4-BE49-F238E27FC236}">
                <a16:creationId xmlns:a16="http://schemas.microsoft.com/office/drawing/2014/main" id="{54926A50-3FC7-4391-B2B1-D9FBB300F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3125" y="4295775"/>
            <a:ext cx="36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endParaRPr lang="zh-TW" altLang="en-US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90E01B8-430E-79D4-DABF-65B874CEC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25" y="4919663"/>
            <a:ext cx="3635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lang="zh-TW" altLang="en-US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274" name="矩形 2">
            <a:extLst>
              <a:ext uri="{FF2B5EF4-FFF2-40B4-BE49-F238E27FC236}">
                <a16:creationId xmlns:a16="http://schemas.microsoft.com/office/drawing/2014/main" id="{9195A6FA-D83D-5084-3B8B-EB6B20160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393825"/>
            <a:ext cx="5988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3200" b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一、</a:t>
            </a:r>
            <a:r>
              <a:rPr lang="zh-TW" altLang="zh-TW" sz="3200" b="1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看圖</a:t>
            </a:r>
            <a:r>
              <a:rPr lang="zh-TW" altLang="en-US" sz="3200" b="1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填填看</a:t>
            </a:r>
            <a:r>
              <a:rPr lang="zh-TW" altLang="zh-TW" sz="3200" b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E7B6881-78E6-8E2A-4C8C-B9DB71A526F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33454" y="3516392"/>
            <a:ext cx="1210209" cy="670568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TW" altLang="en-US">
                <a:noFill/>
              </a:rPr>
              <a:t> 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DC8B64A-A449-4422-F67B-C88EA8947A0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41372" y="5441950"/>
            <a:ext cx="1210209" cy="670568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TW" altLang="en-US">
                <a:noFill/>
              </a:rPr>
              <a:t> </a:t>
            </a:r>
          </a:p>
        </p:txBody>
      </p:sp>
      <p:pic>
        <p:nvPicPr>
          <p:cNvPr id="11277" name="圖片 6">
            <a:extLst>
              <a:ext uri="{FF2B5EF4-FFF2-40B4-BE49-F238E27FC236}">
                <a16:creationId xmlns:a16="http://schemas.microsoft.com/office/drawing/2014/main" id="{4785B72D-53DE-B834-F5E6-9E0F35DDD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475" y="1919288"/>
            <a:ext cx="4953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矩形 25">
            <a:extLst>
              <a:ext uri="{FF2B5EF4-FFF2-40B4-BE49-F238E27FC236}">
                <a16:creationId xmlns:a16="http://schemas.microsoft.com/office/drawing/2014/main" id="{074B96ED-9FB6-F96B-6A73-F6A7501AD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1250950"/>
            <a:ext cx="8494712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TW" altLang="en-US" sz="3200" b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二、</a:t>
            </a:r>
            <a:r>
              <a:rPr lang="zh-TW" altLang="zh-TW" sz="3200" b="1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按照順序填填看</a:t>
            </a:r>
            <a:r>
              <a:rPr lang="zh-TW" altLang="zh-TW" sz="3200" b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。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endParaRPr lang="zh-TW" altLang="en-US" b="1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291" name="標題 5">
            <a:extLst>
              <a:ext uri="{FF2B5EF4-FFF2-40B4-BE49-F238E27FC236}">
                <a16:creationId xmlns:a16="http://schemas.microsoft.com/office/drawing/2014/main" id="{CD82A773-9139-13C1-82AB-A8889470A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2292" name="矩形 1">
            <a:extLst>
              <a:ext uri="{FF2B5EF4-FFF2-40B4-BE49-F238E27FC236}">
                <a16:creationId xmlns:a16="http://schemas.microsoft.com/office/drawing/2014/main" id="{EEAE2E60-3A81-6120-8675-232C4B813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1881188"/>
            <a:ext cx="9144000" cy="441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293" name="Rectangle 12">
            <a:extLst>
              <a:ext uri="{FF2B5EF4-FFF2-40B4-BE49-F238E27FC236}">
                <a16:creationId xmlns:a16="http://schemas.microsoft.com/office/drawing/2014/main" id="{38191120-4898-F4B3-F370-C88A329FB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" y="2417763"/>
            <a:ext cx="6202363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ts val="360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      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     )→(      )→(      )→ </a:t>
            </a:r>
          </a:p>
          <a:p>
            <a:pPr>
              <a:lnSpc>
                <a:spcPct val="100000"/>
              </a:lnSpc>
              <a:spcBef>
                <a:spcPts val="3600"/>
              </a:spcBef>
              <a:buFontTx/>
              <a:buNone/>
            </a:pP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      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     )→      →(      )→(      )→      </a:t>
            </a:r>
          </a:p>
        </p:txBody>
      </p:sp>
      <p:graphicFrame>
        <p:nvGraphicFramePr>
          <p:cNvPr id="12294" name="物件 14">
            <a:extLst>
              <a:ext uri="{FF2B5EF4-FFF2-40B4-BE49-F238E27FC236}">
                <a16:creationId xmlns:a16="http://schemas.microsoft.com/office/drawing/2014/main" id="{08303348-0B46-B4B1-096C-5684648AE8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77925" y="2305050"/>
          <a:ext cx="4905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203112" imgH="393529" progId="Equation.3">
                  <p:embed/>
                </p:oleObj>
              </mc:Choice>
              <mc:Fallback>
                <p:oleObj name="方程式" r:id="rId2" imgW="203112" imgH="393529" progId="Equation.3">
                  <p:embed/>
                  <p:pic>
                    <p:nvPicPr>
                      <p:cNvPr id="0" name="物件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925" y="2305050"/>
                        <a:ext cx="4905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14">
            <a:extLst>
              <a:ext uri="{FF2B5EF4-FFF2-40B4-BE49-F238E27FC236}">
                <a16:creationId xmlns:a16="http://schemas.microsoft.com/office/drawing/2014/main" id="{758AEF91-D707-8163-7684-2765411D22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5125" y="2290763"/>
          <a:ext cx="4905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203112" imgH="393529" progId="Equation.3">
                  <p:embed/>
                </p:oleObj>
              </mc:Choice>
              <mc:Fallback>
                <p:oleObj name="方程式" r:id="rId4" imgW="203112" imgH="39352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25" y="2290763"/>
                        <a:ext cx="4905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15">
            <a:extLst>
              <a:ext uri="{FF2B5EF4-FFF2-40B4-BE49-F238E27FC236}">
                <a16:creationId xmlns:a16="http://schemas.microsoft.com/office/drawing/2014/main" id="{55FFFC6F-94FD-D34C-E32B-33B6DB130F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6175" y="3187700"/>
          <a:ext cx="4905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203112" imgH="393529" progId="Equation.3">
                  <p:embed/>
                </p:oleObj>
              </mc:Choice>
              <mc:Fallback>
                <p:oleObj name="方程式" r:id="rId6" imgW="203112" imgH="39352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175" y="3187700"/>
                        <a:ext cx="4905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16">
            <a:extLst>
              <a:ext uri="{FF2B5EF4-FFF2-40B4-BE49-F238E27FC236}">
                <a16:creationId xmlns:a16="http://schemas.microsoft.com/office/drawing/2014/main" id="{FE3FF0CB-5B1B-6148-66BF-9E7DFC122B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4363" y="3197225"/>
          <a:ext cx="49053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203112" imgH="393529" progId="Equation.3">
                  <p:embed/>
                </p:oleObj>
              </mc:Choice>
              <mc:Fallback>
                <p:oleObj name="方程式" r:id="rId8" imgW="203112" imgH="393529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363" y="3197225"/>
                        <a:ext cx="49053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17">
            <a:extLst>
              <a:ext uri="{FF2B5EF4-FFF2-40B4-BE49-F238E27FC236}">
                <a16:creationId xmlns:a16="http://schemas.microsoft.com/office/drawing/2014/main" id="{ABA7B5DF-110A-9CA0-1C9C-014F41326A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3165475"/>
          <a:ext cx="49053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0" imgW="203112" imgH="393529" progId="Equation.3">
                  <p:embed/>
                </p:oleObj>
              </mc:Choice>
              <mc:Fallback>
                <p:oleObj name="方程式" r:id="rId10" imgW="203112" imgH="393529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3165475"/>
                        <a:ext cx="49053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9" name="矩形 25">
            <a:extLst>
              <a:ext uri="{FF2B5EF4-FFF2-40B4-BE49-F238E27FC236}">
                <a16:creationId xmlns:a16="http://schemas.microsoft.com/office/drawing/2014/main" id="{C4A4BBC5-292D-DF6A-0D13-A36DCCACE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4124325"/>
            <a:ext cx="8494712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TW" altLang="en-US" sz="3200" b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三、</a:t>
            </a:r>
            <a:r>
              <a:rPr lang="zh-TW" altLang="zh-TW" sz="3200" b="1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在</a:t>
            </a:r>
            <a:r>
              <a:rPr lang="zh-TW" altLang="zh-TW" sz="3200" b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□</a:t>
            </a:r>
            <a:r>
              <a:rPr lang="zh-TW" altLang="zh-TW" sz="3200" b="1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裡填入</a:t>
            </a:r>
            <a:r>
              <a:rPr lang="zh-TW" altLang="zh-TW" sz="3200" b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＞、＜</a:t>
            </a:r>
            <a:r>
              <a:rPr lang="zh-TW" altLang="zh-TW" sz="3200" b="1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或</a:t>
            </a:r>
            <a:r>
              <a:rPr lang="zh-TW" altLang="zh-TW" sz="3200" b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＝。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endParaRPr lang="zh-TW" altLang="en-US" b="1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12300" name="Picture 23">
            <a:extLst>
              <a:ext uri="{FF2B5EF4-FFF2-40B4-BE49-F238E27FC236}">
                <a16:creationId xmlns:a16="http://schemas.microsoft.com/office/drawing/2014/main" id="{DA3283D1-F9DD-6C55-B8B9-130708FAC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54" t="57979" r="13235" b="26868"/>
          <a:stretch>
            <a:fillRect/>
          </a:stretch>
        </p:blipFill>
        <p:spPr bwMode="auto">
          <a:xfrm>
            <a:off x="714375" y="4848225"/>
            <a:ext cx="6548438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1" name="矩形 36">
            <a:extLst>
              <a:ext uri="{FF2B5EF4-FFF2-40B4-BE49-F238E27FC236}">
                <a16:creationId xmlns:a16="http://schemas.microsoft.com/office/drawing/2014/main" id="{EC369DBC-0952-4A23-A195-5E280D275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4962525"/>
            <a:ext cx="542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zh-TW" b="1">
                <a:latin typeface="標楷體" panose="03000509000000000000" pitchFamily="65" charset="-120"/>
                <a:ea typeface="標楷體" panose="03000509000000000000" pitchFamily="65" charset="-120"/>
                <a:sym typeface="Arial" panose="020B0604020202020204" pitchFamily="34" charset="0"/>
              </a:rPr>
              <a:t>□</a:t>
            </a:r>
            <a:endParaRPr lang="zh-TW" altLang="en-US"/>
          </a:p>
        </p:txBody>
      </p:sp>
      <p:sp>
        <p:nvSpPr>
          <p:cNvPr id="12302" name="矩形 37">
            <a:extLst>
              <a:ext uri="{FF2B5EF4-FFF2-40B4-BE49-F238E27FC236}">
                <a16:creationId xmlns:a16="http://schemas.microsoft.com/office/drawing/2014/main" id="{D13B31DD-56C1-3BD0-0CAF-168EAFDC2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6388" y="5713413"/>
            <a:ext cx="5445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zh-TW" b="1">
                <a:latin typeface="標楷體" panose="03000509000000000000" pitchFamily="65" charset="-120"/>
                <a:ea typeface="標楷體" panose="03000509000000000000" pitchFamily="65" charset="-120"/>
                <a:sym typeface="Arial" panose="020B0604020202020204" pitchFamily="34" charset="0"/>
              </a:rPr>
              <a:t>□</a:t>
            </a:r>
            <a:endParaRPr lang="zh-TW" altLang="en-US"/>
          </a:p>
        </p:txBody>
      </p:sp>
      <p:sp>
        <p:nvSpPr>
          <p:cNvPr id="12303" name="矩形 38">
            <a:extLst>
              <a:ext uri="{FF2B5EF4-FFF2-40B4-BE49-F238E27FC236}">
                <a16:creationId xmlns:a16="http://schemas.microsoft.com/office/drawing/2014/main" id="{4F96AD93-AD7A-E096-6425-7C1F545F6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6688" y="5711825"/>
            <a:ext cx="5445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zh-TW" b="1">
                <a:latin typeface="標楷體" panose="03000509000000000000" pitchFamily="65" charset="-120"/>
                <a:ea typeface="標楷體" panose="03000509000000000000" pitchFamily="65" charset="-120"/>
                <a:sym typeface="Arial" panose="020B0604020202020204" pitchFamily="34" charset="0"/>
              </a:rPr>
              <a:t>□</a:t>
            </a:r>
            <a:endParaRPr lang="zh-TW" altLang="en-US"/>
          </a:p>
        </p:txBody>
      </p:sp>
      <p:sp>
        <p:nvSpPr>
          <p:cNvPr id="12304" name="矩形 39">
            <a:extLst>
              <a:ext uri="{FF2B5EF4-FFF2-40B4-BE49-F238E27FC236}">
                <a16:creationId xmlns:a16="http://schemas.microsoft.com/office/drawing/2014/main" id="{7FE27E17-293F-39B7-1253-38D072F6E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0" y="4941888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zh-TW" b="1">
                <a:latin typeface="標楷體" panose="03000509000000000000" pitchFamily="65" charset="-120"/>
                <a:ea typeface="標楷體" panose="03000509000000000000" pitchFamily="65" charset="-120"/>
                <a:sym typeface="Arial" panose="020B0604020202020204" pitchFamily="34" charset="0"/>
              </a:rPr>
              <a:t>□</a:t>
            </a:r>
            <a:endParaRPr lang="zh-TW" altLang="en-US"/>
          </a:p>
        </p:txBody>
      </p:sp>
      <p:sp>
        <p:nvSpPr>
          <p:cNvPr id="12305" name="矩形 40">
            <a:extLst>
              <a:ext uri="{FF2B5EF4-FFF2-40B4-BE49-F238E27FC236}">
                <a16:creationId xmlns:a16="http://schemas.microsoft.com/office/drawing/2014/main" id="{63832FD5-AFDA-7EAB-1556-15746B009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113" y="5694363"/>
            <a:ext cx="5445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zh-TW" b="1">
                <a:latin typeface="標楷體" panose="03000509000000000000" pitchFamily="65" charset="-120"/>
                <a:ea typeface="標楷體" panose="03000509000000000000" pitchFamily="65" charset="-120"/>
                <a:sym typeface="Arial" panose="020B0604020202020204" pitchFamily="34" charset="0"/>
              </a:rPr>
              <a:t>□</a:t>
            </a:r>
            <a:endParaRPr lang="zh-TW" altLang="en-US"/>
          </a:p>
        </p:txBody>
      </p:sp>
      <p:sp>
        <p:nvSpPr>
          <p:cNvPr id="12306" name="矩形 41">
            <a:extLst>
              <a:ext uri="{FF2B5EF4-FFF2-40B4-BE49-F238E27FC236}">
                <a16:creationId xmlns:a16="http://schemas.microsoft.com/office/drawing/2014/main" id="{77685511-2605-B1D8-5CAD-601740E2B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5" y="4967288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zh-TW" b="1">
                <a:latin typeface="標楷體" panose="03000509000000000000" pitchFamily="65" charset="-120"/>
                <a:ea typeface="標楷體" panose="03000509000000000000" pitchFamily="65" charset="-120"/>
                <a:sym typeface="Arial" panose="020B0604020202020204" pitchFamily="34" charset="0"/>
              </a:rPr>
              <a:t>□</a:t>
            </a:r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0A1D384C-AAF4-010B-B095-48EE32EDD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1150" y="5726113"/>
            <a:ext cx="631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b="1">
                <a:solidFill>
                  <a:srgbClr val="FF0000"/>
                </a:solidFill>
              </a:rPr>
              <a:t>＞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CFD55B3E-83D0-E013-678E-7089EDDA7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1925" y="5724525"/>
            <a:ext cx="6334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b="1">
                <a:solidFill>
                  <a:srgbClr val="FF0000"/>
                </a:solidFill>
              </a:rPr>
              <a:t>＞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C98A3BA1-CAFB-0EAF-30AF-019B87AF0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763" y="4987925"/>
            <a:ext cx="633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b="1">
                <a:solidFill>
                  <a:srgbClr val="FF0000"/>
                </a:solidFill>
              </a:rPr>
              <a:t>＞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01219E42-C72D-EF3D-630A-65B92813D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9563" y="4979988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b="1">
                <a:solidFill>
                  <a:srgbClr val="FF0000"/>
                </a:solidFill>
              </a:rPr>
              <a:t>＜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C71075CB-1ADF-B0D4-D2AD-7DFDA1E57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5705475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b="1">
                <a:solidFill>
                  <a:srgbClr val="FF0000"/>
                </a:solidFill>
              </a:rPr>
              <a:t>＜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FE0246A7-E02D-D526-6A33-EB48C4B60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338" y="4953000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b="1">
                <a:solidFill>
                  <a:srgbClr val="FF0000"/>
                </a:solidFill>
              </a:rPr>
              <a:t>＝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1F0C8D8-8C28-2325-BE40-98C7771197B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67941" y="2290442"/>
            <a:ext cx="1210209" cy="670568"/>
          </a:xfrm>
          <a:prstGeom prst="rect">
            <a:avLst/>
          </a:pr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TW" altLang="en-US">
                <a:noFill/>
              </a:rPr>
              <a:t> 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47A5E4E-45AF-D233-7C90-8B3C824A6A5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69933" y="2334891"/>
            <a:ext cx="1210209" cy="670568"/>
          </a:xfrm>
          <a:prstGeom prst="rect">
            <a:avLst/>
          </a:pr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TW" altLang="en-US">
                <a:noFill/>
              </a:rPr>
              <a:t> 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052EC3C-783E-1241-3D83-F182359FF752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000233" y="2298701"/>
            <a:ext cx="1210209" cy="670568"/>
          </a:xfrm>
          <a:prstGeom prst="rect">
            <a:avLst/>
          </a:pr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TW" altLang="en-US">
                <a:noFill/>
              </a:rPr>
              <a:t> 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7A6E641-0B7E-1A12-9EE7-B3642ACAF8E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36191" y="3231688"/>
            <a:ext cx="1210209" cy="670568"/>
          </a:xfrm>
          <a:prstGeom prst="rect">
            <a:avLst/>
          </a:pr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TW" altLang="en-US">
                <a:noFill/>
              </a:rPr>
              <a:t> 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AEB34D0-D476-51A8-BA99-F394737989E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81158" y="3233404"/>
            <a:ext cx="1210209" cy="670568"/>
          </a:xfrm>
          <a:prstGeom prst="rect">
            <a:avLst/>
          </a:pr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TW" altLang="en-US">
                <a:noFill/>
              </a:rPr>
              <a:t> 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5753EDC-4601-F834-E865-C6D7BF622EB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93997" y="3217863"/>
            <a:ext cx="1210209" cy="670568"/>
          </a:xfrm>
          <a:prstGeom prst="rect">
            <a:avLst/>
          </a:pr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TW" altLang="en-US">
                <a:noFill/>
              </a:rPr>
              <a:t> 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矩形 25">
            <a:extLst>
              <a:ext uri="{FF2B5EF4-FFF2-40B4-BE49-F238E27FC236}">
                <a16:creationId xmlns:a16="http://schemas.microsoft.com/office/drawing/2014/main" id="{005702DD-E6A3-7A97-2E67-A53428B52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1389063"/>
            <a:ext cx="84947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zh-TW" altLang="en-US" sz="3200" b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四、</a:t>
            </a:r>
            <a:r>
              <a:rPr lang="zh-TW" altLang="en-US" sz="3200" b="1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把做法</a:t>
            </a:r>
            <a:r>
              <a:rPr lang="zh-TW" altLang="en-US" sz="3200" b="1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和</a:t>
            </a:r>
            <a:r>
              <a:rPr lang="zh-TW" altLang="en-US" sz="3200" b="1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答案記下來</a:t>
            </a:r>
            <a:r>
              <a:rPr lang="zh-TW" altLang="en-US" sz="3200" b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。</a:t>
            </a:r>
          </a:p>
        </p:txBody>
      </p:sp>
      <p:sp>
        <p:nvSpPr>
          <p:cNvPr id="13315" name="標題 5">
            <a:extLst>
              <a:ext uri="{FF2B5EF4-FFF2-40B4-BE49-F238E27FC236}">
                <a16:creationId xmlns:a16="http://schemas.microsoft.com/office/drawing/2014/main" id="{0FC62A13-0CB9-4CF2-5207-E98183AA7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5128" name="矩形 1">
            <a:extLst>
              <a:ext uri="{FF2B5EF4-FFF2-40B4-BE49-F238E27FC236}">
                <a16:creationId xmlns:a16="http://schemas.microsoft.com/office/drawing/2014/main" id="{AEAE203D-6611-D106-1549-0F63656AF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041525"/>
            <a:ext cx="8359775" cy="1712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ts val="1000"/>
              </a:spcBef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1.</a:t>
            </a:r>
            <a:r>
              <a:rPr lang="zh-TW" altLang="zh-TW" sz="2800" dirty="0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  <a:sym typeface="Arial" charset="0"/>
              </a:rPr>
              <a:t>一</a:t>
            </a:r>
            <a:r>
              <a:rPr lang="zh-TW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袋柳丁有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10</a:t>
            </a:r>
            <a:r>
              <a:rPr lang="zh-TW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顆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。</a:t>
            </a:r>
            <a:r>
              <a:rPr lang="zh-TW" altLang="zh-TW" sz="2800" u="sng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永宗</a:t>
            </a:r>
            <a:r>
              <a:rPr lang="zh-TW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吃了</a:t>
            </a:r>
            <a:r>
              <a:rPr lang="zh-TW" altLang="en-US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     </a:t>
            </a:r>
            <a:r>
              <a:rPr lang="zh-TW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袋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，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charset="0"/>
            </a:endParaRPr>
          </a:p>
          <a:p>
            <a:pPr marL="271463" eaLnBrk="1" hangingPunct="1">
              <a:spcBef>
                <a:spcPts val="1000"/>
              </a:spcBef>
              <a:defRPr/>
            </a:pPr>
            <a:r>
              <a:rPr lang="zh-TW" altLang="zh-TW" sz="2800" u="sng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志龍</a:t>
            </a:r>
            <a:r>
              <a:rPr lang="zh-TW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吃了</a:t>
            </a:r>
            <a:r>
              <a:rPr lang="en-US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5</a:t>
            </a:r>
            <a:r>
              <a:rPr lang="zh-TW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顆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，</a:t>
            </a:r>
            <a:r>
              <a:rPr lang="zh-TW" altLang="zh-TW" sz="2800" dirty="0">
                <a:latin typeface="Times New Roman" panose="02020603050405020304" pitchFamily="18" charset="0"/>
                <a:ea typeface="書法中楷（注音一）" pitchFamily="49" charset="-120"/>
                <a:cs typeface="Times New Roman" panose="02020603050405020304" pitchFamily="18" charset="0"/>
                <a:sym typeface="Arial" charset="0"/>
              </a:rPr>
              <a:t>誰吃的柳丁比較多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charset="0"/>
              </a:rPr>
              <a:t>？</a:t>
            </a:r>
          </a:p>
          <a:p>
            <a:pPr eaLnBrk="1" hangingPunct="1">
              <a:spcBef>
                <a:spcPts val="1000"/>
              </a:spcBef>
              <a:defRPr/>
            </a:pPr>
            <a:endParaRPr lang="zh-TW" altLang="en-US" sz="28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53A808-D63E-AE2E-24CB-8A01ED721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0" y="5794375"/>
            <a:ext cx="5751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zh-TW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志龍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0F608D-6826-8830-5CAF-E44A16CA2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4565650"/>
            <a:ext cx="522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zh-TW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＞</a:t>
            </a:r>
            <a:endParaRPr lang="zh-TW" altLang="en-US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3319" name="Object 3">
            <a:extLst>
              <a:ext uri="{FF2B5EF4-FFF2-40B4-BE49-F238E27FC236}">
                <a16:creationId xmlns:a16="http://schemas.microsoft.com/office/drawing/2014/main" id="{5692797E-F241-FDEB-A0A2-E37A4A0BE7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8325" y="1903413"/>
          <a:ext cx="4905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203112" imgH="393529" progId="Equation.3">
                  <p:embed/>
                </p:oleObj>
              </mc:Choice>
              <mc:Fallback>
                <p:oleObj name="方程式" r:id="rId2" imgW="203112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8325" y="1903413"/>
                        <a:ext cx="4905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3" name="矩形 8">
            <a:extLst>
              <a:ext uri="{FF2B5EF4-FFF2-40B4-BE49-F238E27FC236}">
                <a16:creationId xmlns:a16="http://schemas.microsoft.com/office/drawing/2014/main" id="{39C60E73-BF91-CE4C-A141-86AD1A295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275" y="3748088"/>
            <a:ext cx="19796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顆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      </a:t>
            </a:r>
            <a:r>
              <a:rPr lang="zh-TW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袋</a:t>
            </a:r>
            <a:endParaRPr lang="zh-TW" altLang="en-US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42315A9-8053-680E-C302-E84B1A54D5F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35113" y="3598306"/>
            <a:ext cx="1210209" cy="670568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TW" altLang="en-US">
                <a:noFill/>
              </a:rPr>
              <a:t> 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683F20C-CDAF-D33C-64A6-EE3C76FFBCF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10080" y="4488335"/>
            <a:ext cx="1210209" cy="670568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TW" altLang="en-US">
                <a:noFill/>
              </a:rPr>
              <a:t> 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0EEAE6-309E-D0DF-DE33-ABB22FAF7B9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54749" y="4486661"/>
            <a:ext cx="1210209" cy="670568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TW" altLang="en-US">
                <a:noFill/>
              </a:rPr>
              <a:t> 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33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25">
            <a:extLst>
              <a:ext uri="{FF2B5EF4-FFF2-40B4-BE49-F238E27FC236}">
                <a16:creationId xmlns:a16="http://schemas.microsoft.com/office/drawing/2014/main" id="{3DAD3F0B-B395-7699-4E9C-2BA84CDA1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1389063"/>
            <a:ext cx="84947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zh-TW" altLang="en-US" sz="3200" b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四、</a:t>
            </a:r>
            <a:r>
              <a:rPr lang="zh-TW" altLang="en-US" sz="3200" b="1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把做法</a:t>
            </a:r>
            <a:r>
              <a:rPr lang="zh-TW" altLang="en-US" sz="3200" b="1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和</a:t>
            </a:r>
            <a:r>
              <a:rPr lang="zh-TW" altLang="en-US" sz="3200" b="1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答案記下來</a:t>
            </a:r>
            <a:r>
              <a:rPr lang="zh-TW" altLang="en-US" sz="3200" b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。</a:t>
            </a:r>
          </a:p>
        </p:txBody>
      </p:sp>
      <p:sp>
        <p:nvSpPr>
          <p:cNvPr id="14339" name="標題 5">
            <a:extLst>
              <a:ext uri="{FF2B5EF4-FFF2-40B4-BE49-F238E27FC236}">
                <a16:creationId xmlns:a16="http://schemas.microsoft.com/office/drawing/2014/main" id="{E6C1A31F-18AA-F850-78D8-12F90E42C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063"/>
            <a:ext cx="8515350" cy="1325562"/>
          </a:xfrm>
        </p:spPr>
        <p:txBody>
          <a:bodyPr/>
          <a:lstStyle/>
          <a:p>
            <a:pPr eaLnBrk="1" hangingPunct="1"/>
            <a:r>
              <a:rPr lang="zh-TW" altLang="en-US"/>
              <a:t>練一練</a:t>
            </a:r>
          </a:p>
        </p:txBody>
      </p:sp>
      <p:sp>
        <p:nvSpPr>
          <p:cNvPr id="14340" name="矩形 1">
            <a:extLst>
              <a:ext uri="{FF2B5EF4-FFF2-40B4-BE49-F238E27FC236}">
                <a16:creationId xmlns:a16="http://schemas.microsoft.com/office/drawing/2014/main" id="{C39370BF-B1B2-17E7-C3C1-22E1D0D5C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63" y="2122488"/>
            <a:ext cx="9144000" cy="171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buFontTx/>
              <a:buNone/>
            </a:pP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</a:t>
            </a:r>
            <a:r>
              <a:rPr lang="zh-TW" altLang="zh-TW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一</a:t>
            </a:r>
            <a:r>
              <a:rPr lang="zh-TW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盒餅乾有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10</a:t>
            </a:r>
            <a:r>
              <a:rPr lang="zh-TW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片</a:t>
            </a:r>
            <a:r>
              <a:rPr lang="zh-TW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。</a:t>
            </a:r>
            <a:r>
              <a:rPr lang="zh-TW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哥</a:t>
            </a:r>
            <a:r>
              <a:rPr lang="zh-TW" altLang="zh-TW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哥</a:t>
            </a:r>
            <a:r>
              <a:rPr lang="zh-TW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吃了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6</a:t>
            </a:r>
            <a:r>
              <a:rPr lang="zh-TW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片</a:t>
            </a:r>
            <a:r>
              <a:rPr lang="zh-TW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，</a:t>
            </a:r>
            <a:endParaRPr lang="en-US" altLang="zh-TW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>
              <a:lnSpc>
                <a:spcPct val="100000"/>
              </a:lnSpc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   </a:t>
            </a:r>
            <a:r>
              <a:rPr lang="zh-TW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弟</a:t>
            </a:r>
            <a:r>
              <a:rPr lang="zh-TW" altLang="zh-TW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弟</a:t>
            </a:r>
            <a:r>
              <a:rPr lang="zh-TW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吃了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      </a:t>
            </a:r>
            <a:r>
              <a:rPr lang="zh-TW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盒</a:t>
            </a:r>
            <a:r>
              <a:rPr lang="zh-TW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，</a:t>
            </a:r>
            <a:r>
              <a:rPr lang="zh-TW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誰吃的餅乾比較</a:t>
            </a:r>
            <a:endParaRPr lang="en-US" altLang="zh-TW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>
              <a:lnSpc>
                <a:spcPct val="100000"/>
              </a:lnSpc>
              <a:buFontTx/>
              <a:buNone/>
            </a:pP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   </a:t>
            </a:r>
            <a:r>
              <a:rPr lang="zh-TW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少</a:t>
            </a:r>
            <a:r>
              <a:rPr lang="zh-TW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？</a:t>
            </a:r>
            <a:r>
              <a:rPr lang="zh-TW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少</a:t>
            </a:r>
            <a:r>
              <a:rPr lang="zh-TW" altLang="zh-TW"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幾</a:t>
            </a:r>
            <a:r>
              <a:rPr lang="zh-TW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片</a:t>
            </a:r>
            <a:r>
              <a:rPr lang="zh-TW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DC025C-C401-A12B-530D-AEFCA83AD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150" y="5794375"/>
            <a:ext cx="3251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lang="zh-TW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弟弟，少</a:t>
            </a: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片</a:t>
            </a:r>
          </a:p>
        </p:txBody>
      </p:sp>
      <p:graphicFrame>
        <p:nvGraphicFramePr>
          <p:cNvPr id="14342" name="Object 7">
            <a:extLst>
              <a:ext uri="{FF2B5EF4-FFF2-40B4-BE49-F238E27FC236}">
                <a16:creationId xmlns:a16="http://schemas.microsoft.com/office/drawing/2014/main" id="{C89AF4F6-6711-9FB3-8CB0-90C6FB3DC2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7838" y="2560638"/>
          <a:ext cx="49053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203112" imgH="393529" progId="Equation.3">
                  <p:embed/>
                </p:oleObj>
              </mc:Choice>
              <mc:Fallback>
                <p:oleObj name="方程式" r:id="rId2" imgW="203112" imgH="39352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838" y="2560638"/>
                        <a:ext cx="49053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Rectangle 8">
            <a:extLst>
              <a:ext uri="{FF2B5EF4-FFF2-40B4-BE49-F238E27FC236}">
                <a16:creationId xmlns:a16="http://schemas.microsoft.com/office/drawing/2014/main" id="{3071AAEF-AFB9-2214-9599-8CD8BBFEE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3" y="4768850"/>
            <a:ext cx="11922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＞</a:t>
            </a: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3321" name="Rectangle 9">
            <a:extLst>
              <a:ext uri="{FF2B5EF4-FFF2-40B4-BE49-F238E27FC236}">
                <a16:creationId xmlns:a16="http://schemas.microsoft.com/office/drawing/2014/main" id="{19932855-27F3-5B36-77EE-DBF8134E4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" y="5338763"/>
            <a:ext cx="17287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</a:t>
            </a: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4346" name="矩形 8">
            <a:extLst>
              <a:ext uri="{FF2B5EF4-FFF2-40B4-BE49-F238E27FC236}">
                <a16:creationId xmlns:a16="http://schemas.microsoft.com/office/drawing/2014/main" id="{C3061E13-6C88-7977-D525-1B4AC9E83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4108450"/>
            <a:ext cx="14398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盒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</a:t>
            </a: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zh-TW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片</a:t>
            </a:r>
            <a:endParaRPr lang="zh-TW" altLang="en-US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883CD3F-0014-0232-7F7B-223E7171B85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04813" y="4029936"/>
            <a:ext cx="1210209" cy="670568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TW" altLang="en-US">
                <a:noFill/>
              </a:rPr>
              <a:t> 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3320" grpId="0"/>
      <p:bldP spid="13321" grpId="0"/>
      <p:bldP spid="143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圖片 1">
            <a:extLst>
              <a:ext uri="{FF2B5EF4-FFF2-40B4-BE49-F238E27FC236}">
                <a16:creationId xmlns:a16="http://schemas.microsoft.com/office/drawing/2014/main" id="{078A1D73-8BC8-A2FE-2955-94823676A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983413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矩形 14">
            <a:extLst>
              <a:ext uri="{FF2B5EF4-FFF2-40B4-BE49-F238E27FC236}">
                <a16:creationId xmlns:a16="http://schemas.microsoft.com/office/drawing/2014/main" id="{1C9963C3-3B2D-DA75-A0E5-8AB4713DB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950" y="215900"/>
            <a:ext cx="1416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3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小數</a:t>
            </a:r>
            <a:endParaRPr lang="zh-TW" altLang="en-US" sz="32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6" name="矩形 14">
            <a:extLst>
              <a:ext uri="{FF2B5EF4-FFF2-40B4-BE49-F238E27FC236}">
                <a16:creationId xmlns:a16="http://schemas.microsoft.com/office/drawing/2014/main" id="{B3A16D8A-2027-2AB6-F978-883B7481D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766888"/>
            <a:ext cx="15303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我要吃好多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苦瓜披薩</a:t>
            </a:r>
            <a:r>
              <a:rPr lang="zh-TW" altLang="en-US" sz="1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。</a:t>
            </a:r>
          </a:p>
        </p:txBody>
      </p:sp>
      <p:sp>
        <p:nvSpPr>
          <p:cNvPr id="7" name="矩形 14">
            <a:extLst>
              <a:ext uri="{FF2B5EF4-FFF2-40B4-BE49-F238E27FC236}">
                <a16:creationId xmlns:a16="http://schemas.microsoft.com/office/drawing/2014/main" id="{DCD00A11-F7B4-094C-4F0B-6CB251E5A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398713"/>
            <a:ext cx="1262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你只能吃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個披薩</a:t>
            </a:r>
            <a:r>
              <a:rPr lang="zh-TW" altLang="en-US" sz="1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！</a:t>
            </a:r>
          </a:p>
        </p:txBody>
      </p:sp>
      <p:graphicFrame>
        <p:nvGraphicFramePr>
          <p:cNvPr id="8" name="物件 15">
            <a:extLst>
              <a:ext uri="{FF2B5EF4-FFF2-40B4-BE49-F238E27FC236}">
                <a16:creationId xmlns:a16="http://schemas.microsoft.com/office/drawing/2014/main" id="{F80E581C-8656-3917-C3BB-39A91B7AA7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2788" y="2314575"/>
          <a:ext cx="2460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112" imgH="393529" progId="Equation.DSMT4">
                  <p:embed/>
                </p:oleObj>
              </mc:Choice>
              <mc:Fallback>
                <p:oleObj name="Equation" r:id="rId3" imgW="203112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2788" y="2314575"/>
                        <a:ext cx="24606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14">
            <a:extLst>
              <a:ext uri="{FF2B5EF4-FFF2-40B4-BE49-F238E27FC236}">
                <a16:creationId xmlns:a16="http://schemas.microsoft.com/office/drawing/2014/main" id="{134E4CDF-3A8B-5E1F-744A-6F95C7CC8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3" y="990600"/>
            <a:ext cx="37766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窯烤披薩飄出陣陣的香味</a:t>
            </a:r>
            <a:r>
              <a:rPr lang="zh-TW" altLang="en-US" sz="1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邁思</a:t>
            </a:r>
            <a:r>
              <a:rPr lang="zh-TW" altLang="en-US" sz="1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  <a:sym typeface="Arial" panose="020B0604020202020204" pitchFamily="34" charset="0"/>
              </a:rPr>
              <a:t>的肚子也餓了起來</a:t>
            </a:r>
            <a:r>
              <a:rPr lang="zh-TW" altLang="en-US" sz="16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Arial" panose="020B0604020202020204" pitchFamily="34" charset="0"/>
              </a:rPr>
              <a:t>。</a:t>
            </a:r>
          </a:p>
        </p:txBody>
      </p:sp>
      <p:pic>
        <p:nvPicPr>
          <p:cNvPr id="10" name="圖片 6">
            <a:extLst>
              <a:ext uri="{FF2B5EF4-FFF2-40B4-BE49-F238E27FC236}">
                <a16:creationId xmlns:a16="http://schemas.microsoft.com/office/drawing/2014/main" id="{304EA3E4-A7F1-E102-8120-7ED2480D32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525" y="31750"/>
            <a:ext cx="5492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9">
            <a:extLst>
              <a:ext uri="{FF2B5EF4-FFF2-40B4-BE49-F238E27FC236}">
                <a16:creationId xmlns:a16="http://schemas.microsoft.com/office/drawing/2014/main" id="{016ED276-CD3F-0CC7-9401-4C51F6E8F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25" y="0"/>
            <a:ext cx="18176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哪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片是 </a:t>
            </a:r>
            <a:r>
              <a:rPr lang="zh-TW" altLang="en-US" sz="18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邁思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吃的披薩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07EF1FF-0A13-036C-67F4-8EF6B2705C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413" y="1550988"/>
            <a:ext cx="2160587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48EB228-5BEF-1D0A-0040-BEB546787A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525" y="3427413"/>
            <a:ext cx="2166938" cy="134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F31D630-CDC1-39D2-FB64-B2E3758373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525" y="5465763"/>
            <a:ext cx="2149475" cy="138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CFA967C-924A-93BF-6510-A25501360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988" y="673100"/>
            <a:ext cx="3635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kumimoji="1" lang="zh-TW" altLang="en-US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1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標題 1">
            <a:extLst>
              <a:ext uri="{FF2B5EF4-FFF2-40B4-BE49-F238E27FC236}">
                <a16:creationId xmlns:a16="http://schemas.microsoft.com/office/drawing/2014/main" id="{8A5733FC-60CD-F445-0ED2-42258D9C04ED}"/>
              </a:ext>
            </a:extLst>
          </p:cNvPr>
          <p:cNvSpPr txBox="1">
            <a:spLocks/>
          </p:cNvSpPr>
          <p:nvPr/>
        </p:nvSpPr>
        <p:spPr bwMode="auto">
          <a:xfrm>
            <a:off x="606425" y="3681413"/>
            <a:ext cx="8161338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第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5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單元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小數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活動１ 認識一位小數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圖片 1">
            <a:extLst>
              <a:ext uri="{FF2B5EF4-FFF2-40B4-BE49-F238E27FC236}">
                <a16:creationId xmlns:a16="http://schemas.microsoft.com/office/drawing/2014/main" id="{71BCD872-E527-0129-54BB-A37554372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101600"/>
            <a:ext cx="4508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矩形 2">
            <a:extLst>
              <a:ext uri="{FF2B5EF4-FFF2-40B4-BE49-F238E27FC236}">
                <a16:creationId xmlns:a16="http://schemas.microsoft.com/office/drawing/2014/main" id="{20920140-6435-D16C-755C-6C9DE7219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55563"/>
            <a:ext cx="4673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張紙平分成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份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17412" name="圖片 3">
            <a:extLst>
              <a:ext uri="{FF2B5EF4-FFF2-40B4-BE49-F238E27FC236}">
                <a16:creationId xmlns:a16="http://schemas.microsoft.com/office/drawing/2014/main" id="{3BE4CDA1-3482-9E31-F887-845D0274DF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623888"/>
            <a:ext cx="3651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矩形 45">
            <a:extLst>
              <a:ext uri="{FF2B5EF4-FFF2-40B4-BE49-F238E27FC236}">
                <a16:creationId xmlns:a16="http://schemas.microsoft.com/office/drawing/2014/main" id="{AC5BAAB7-0649-D742-750B-604666056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638" y="560388"/>
            <a:ext cx="60325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把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份中的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份塗上顏色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說說看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塗色部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是多少張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grpSp>
        <p:nvGrpSpPr>
          <p:cNvPr id="17414" name="群組 16">
            <a:extLst>
              <a:ext uri="{FF2B5EF4-FFF2-40B4-BE49-F238E27FC236}">
                <a16:creationId xmlns:a16="http://schemas.microsoft.com/office/drawing/2014/main" id="{E9F9151D-82E9-9AFC-33FF-0F6D41507136}"/>
              </a:ext>
            </a:extLst>
          </p:cNvPr>
          <p:cNvGrpSpPr>
            <a:grpSpLocks/>
          </p:cNvGrpSpPr>
          <p:nvPr/>
        </p:nvGrpSpPr>
        <p:grpSpPr bwMode="auto">
          <a:xfrm>
            <a:off x="5818188" y="493713"/>
            <a:ext cx="1520825" cy="482600"/>
            <a:chOff x="6722457" y="1658256"/>
            <a:chExt cx="1967833" cy="652081"/>
          </a:xfrm>
        </p:grpSpPr>
        <p:pic>
          <p:nvPicPr>
            <p:cNvPr id="17429" name="Picture 14">
              <a:extLst>
                <a:ext uri="{FF2B5EF4-FFF2-40B4-BE49-F238E27FC236}">
                  <a16:creationId xmlns:a16="http://schemas.microsoft.com/office/drawing/2014/main" id="{DE52C6CD-AEF5-1870-191A-B0B04BFE4E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30" name="矩形 1">
              <a:extLst>
                <a:ext uri="{FF2B5EF4-FFF2-40B4-BE49-F238E27FC236}">
                  <a16:creationId xmlns:a16="http://schemas.microsoft.com/office/drawing/2014/main" id="{D4B41746-C813-C47A-7B25-124CDA869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16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F7F9EC31-0241-4950-E7DA-4E94458DCF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3" y="1473200"/>
            <a:ext cx="1949450" cy="223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04316C5E-A8FF-80B9-0201-697B5B05A6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1576388"/>
            <a:ext cx="1925638" cy="220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向右箭號 49">
            <a:extLst>
              <a:ext uri="{FF2B5EF4-FFF2-40B4-BE49-F238E27FC236}">
                <a16:creationId xmlns:a16="http://schemas.microsoft.com/office/drawing/2014/main" id="{0063C3B3-1562-C697-044C-1F37A966489A}"/>
              </a:ext>
            </a:extLst>
          </p:cNvPr>
          <p:cNvSpPr/>
          <p:nvPr/>
        </p:nvSpPr>
        <p:spPr>
          <a:xfrm>
            <a:off x="2343150" y="2695575"/>
            <a:ext cx="406400" cy="230188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9D1EC34-4037-D5C7-29C5-3B4EED5F3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575" y="1390650"/>
            <a:ext cx="569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9C97565-46D0-5A1C-4F34-11F56CE99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9163" y="1390650"/>
            <a:ext cx="569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152BD75-CF09-BF06-8B5B-0BE3AD060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3150" y="3713163"/>
            <a:ext cx="1211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多少張？</a:t>
            </a:r>
            <a:endParaRPr lang="zh-TW" altLang="en-US" sz="2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2" name="圖片 51">
            <a:extLst>
              <a:ext uri="{FF2B5EF4-FFF2-40B4-BE49-F238E27FC236}">
                <a16:creationId xmlns:a16="http://schemas.microsoft.com/office/drawing/2014/main" id="{73E6743F-9A80-8599-ADEA-FA29A0D84D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3095625"/>
            <a:ext cx="879475" cy="110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" name="圖片 52">
            <a:extLst>
              <a:ext uri="{FF2B5EF4-FFF2-40B4-BE49-F238E27FC236}">
                <a16:creationId xmlns:a16="http://schemas.microsoft.com/office/drawing/2014/main" id="{6EB21C70-255C-9624-56C4-0ED89851CA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538" y="2940050"/>
            <a:ext cx="1100137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圓角矩形圖說文字 57">
            <a:extLst>
              <a:ext uri="{FF2B5EF4-FFF2-40B4-BE49-F238E27FC236}">
                <a16:creationId xmlns:a16="http://schemas.microsoft.com/office/drawing/2014/main" id="{189B62A0-BE8E-82F0-D362-7C7F007B5614}"/>
              </a:ext>
            </a:extLst>
          </p:cNvPr>
          <p:cNvSpPr/>
          <p:nvPr/>
        </p:nvSpPr>
        <p:spPr bwMode="auto">
          <a:xfrm>
            <a:off x="6588125" y="1790700"/>
            <a:ext cx="2538413" cy="1012825"/>
          </a:xfrm>
          <a:prstGeom prst="wedgeRoundRectCallout">
            <a:avLst>
              <a:gd name="adj1" fmla="val -237"/>
              <a:gd name="adj2" fmla="val 64844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還有其他的說法</a:t>
            </a:r>
            <a:r>
              <a:rPr lang="zh-TW" altLang="en-US" sz="2400" dirty="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嗎</a:t>
            </a: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59" name="圓角矩形圖說文字 58">
            <a:extLst>
              <a:ext uri="{FF2B5EF4-FFF2-40B4-BE49-F238E27FC236}">
                <a16:creationId xmlns:a16="http://schemas.microsoft.com/office/drawing/2014/main" id="{AAD439DD-3DF4-215D-0DAE-CCAFA005D395}"/>
              </a:ext>
            </a:extLst>
          </p:cNvPr>
          <p:cNvSpPr/>
          <p:nvPr/>
        </p:nvSpPr>
        <p:spPr bwMode="auto">
          <a:xfrm>
            <a:off x="4945063" y="2173288"/>
            <a:ext cx="1350962" cy="658812"/>
          </a:xfrm>
          <a:prstGeom prst="wedgeRoundRectCallout">
            <a:avLst>
              <a:gd name="adj1" fmla="val -21786"/>
              <a:gd name="adj2" fmla="val 63164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張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0" name="物件 15">
            <a:extLst>
              <a:ext uri="{FF2B5EF4-FFF2-40B4-BE49-F238E27FC236}">
                <a16:creationId xmlns:a16="http://schemas.microsoft.com/office/drawing/2014/main" id="{B9A4AA3D-681C-FE2F-7D45-240168AF2A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9363" y="2228850"/>
          <a:ext cx="287337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3112" imgH="393529" progId="Equation.DSMT4">
                  <p:embed/>
                </p:oleObj>
              </mc:Choice>
              <mc:Fallback>
                <p:oleObj name="Equation" r:id="rId9" imgW="203112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9363" y="2228850"/>
                        <a:ext cx="287337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6" name="圖片 55">
            <a:extLst>
              <a:ext uri="{FF2B5EF4-FFF2-40B4-BE49-F238E27FC236}">
                <a16:creationId xmlns:a16="http://schemas.microsoft.com/office/drawing/2014/main" id="{181EC961-7F1E-7ECD-20B3-A7A8CF4A93E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4816475"/>
            <a:ext cx="8274050" cy="8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88BCED25-B391-4560-1696-82F9BB7CA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4999038"/>
            <a:ext cx="7724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張也可以說是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讀作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零點一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」。</a:t>
            </a:r>
          </a:p>
        </p:txBody>
      </p:sp>
      <p:graphicFrame>
        <p:nvGraphicFramePr>
          <p:cNvPr id="63" name="物件 15">
            <a:extLst>
              <a:ext uri="{FF2B5EF4-FFF2-40B4-BE49-F238E27FC236}">
                <a16:creationId xmlns:a16="http://schemas.microsoft.com/office/drawing/2014/main" id="{72FFE93E-AEE5-52B0-9484-A49A4E9C38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850" y="4945063"/>
          <a:ext cx="31750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3112" imgH="393529" progId="Equation.DSMT4">
                  <p:embed/>
                </p:oleObj>
              </mc:Choice>
              <mc:Fallback>
                <p:oleObj name="Equation" r:id="rId12" imgW="203112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4945063"/>
                        <a:ext cx="317500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/>
      <p:bldP spid="54" grpId="0"/>
      <p:bldP spid="55" grpId="0"/>
      <p:bldP spid="58" grpId="0" animBg="1"/>
      <p:bldP spid="59" grpId="0" animBg="1"/>
      <p:bldP spid="6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圖片 1">
            <a:extLst>
              <a:ext uri="{FF2B5EF4-FFF2-40B4-BE49-F238E27FC236}">
                <a16:creationId xmlns:a16="http://schemas.microsoft.com/office/drawing/2014/main" id="{0A11A1BC-A636-F845-5369-14C6B14E7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101600"/>
            <a:ext cx="4508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矩形 2">
            <a:extLst>
              <a:ext uri="{FF2B5EF4-FFF2-40B4-BE49-F238E27FC236}">
                <a16:creationId xmlns:a16="http://schemas.microsoft.com/office/drawing/2014/main" id="{F7BB7C23-2100-FC24-3E8A-FBDC2CDC0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55563"/>
            <a:ext cx="4673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張紙平分成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份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8436" name="矩形 45">
            <a:extLst>
              <a:ext uri="{FF2B5EF4-FFF2-40B4-BE49-F238E27FC236}">
                <a16:creationId xmlns:a16="http://schemas.microsoft.com/office/drawing/2014/main" id="{E39370F3-B7AF-F9B7-3B07-3D24662FA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638" y="560388"/>
            <a:ext cx="60325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把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份中的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份塗上顏色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說說看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塗色部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是多少張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grpSp>
        <p:nvGrpSpPr>
          <p:cNvPr id="18437" name="群組 16">
            <a:extLst>
              <a:ext uri="{FF2B5EF4-FFF2-40B4-BE49-F238E27FC236}">
                <a16:creationId xmlns:a16="http://schemas.microsoft.com/office/drawing/2014/main" id="{E6A7F58D-0116-3B73-E410-F18A80789DDF}"/>
              </a:ext>
            </a:extLst>
          </p:cNvPr>
          <p:cNvGrpSpPr>
            <a:grpSpLocks/>
          </p:cNvGrpSpPr>
          <p:nvPr/>
        </p:nvGrpSpPr>
        <p:grpSpPr bwMode="auto">
          <a:xfrm>
            <a:off x="5818188" y="493713"/>
            <a:ext cx="1520825" cy="482600"/>
            <a:chOff x="6722457" y="1658256"/>
            <a:chExt cx="1967833" cy="652081"/>
          </a:xfrm>
        </p:grpSpPr>
        <p:pic>
          <p:nvPicPr>
            <p:cNvPr id="18452" name="Picture 14">
              <a:extLst>
                <a:ext uri="{FF2B5EF4-FFF2-40B4-BE49-F238E27FC236}">
                  <a16:creationId xmlns:a16="http://schemas.microsoft.com/office/drawing/2014/main" id="{B0953A2D-59AE-2006-C7F9-04D6444A34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53" name="矩形 1">
              <a:extLst>
                <a:ext uri="{FF2B5EF4-FFF2-40B4-BE49-F238E27FC236}">
                  <a16:creationId xmlns:a16="http://schemas.microsoft.com/office/drawing/2014/main" id="{7AE17213-563F-6571-F6E1-863746CFE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16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59" name="圓角矩形圖說文字 58">
            <a:extLst>
              <a:ext uri="{FF2B5EF4-FFF2-40B4-BE49-F238E27FC236}">
                <a16:creationId xmlns:a16="http://schemas.microsoft.com/office/drawing/2014/main" id="{F910A74A-D770-E9E6-2E4F-DEA0ED727170}"/>
              </a:ext>
            </a:extLst>
          </p:cNvPr>
          <p:cNvSpPr/>
          <p:nvPr/>
        </p:nvSpPr>
        <p:spPr bwMode="auto">
          <a:xfrm>
            <a:off x="93663" y="2025650"/>
            <a:ext cx="2259012" cy="658813"/>
          </a:xfrm>
          <a:prstGeom prst="wedgeRoundRectCallout">
            <a:avLst>
              <a:gd name="adj1" fmla="val -21786"/>
              <a:gd name="adj2" fmla="val 63164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都是    張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0" name="物件 15">
            <a:extLst>
              <a:ext uri="{FF2B5EF4-FFF2-40B4-BE49-F238E27FC236}">
                <a16:creationId xmlns:a16="http://schemas.microsoft.com/office/drawing/2014/main" id="{8BC88EC8-FDEA-C8BA-2B81-47A18D4702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8713" y="2071688"/>
          <a:ext cx="306387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112" imgH="393529" progId="Equation.DSMT4">
                  <p:embed/>
                </p:oleObj>
              </mc:Choice>
              <mc:Fallback>
                <p:oleObj name="Equation" r:id="rId4" imgW="203112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713" y="2071688"/>
                        <a:ext cx="306387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圖片 1">
            <a:extLst>
              <a:ext uri="{FF2B5EF4-FFF2-40B4-BE49-F238E27FC236}">
                <a16:creationId xmlns:a16="http://schemas.microsoft.com/office/drawing/2014/main" id="{69C5561E-BA69-2E11-160C-A3CC7F47F1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2095500"/>
            <a:ext cx="1906587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BFC168E-2C5C-CCCE-2B29-AA9AC8FF7D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4525" y="2111375"/>
            <a:ext cx="1897063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39D7A751-09CD-0B37-ACDE-4CD50CB89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0" y="1895475"/>
            <a:ext cx="569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F4EA176-5CC5-BA60-79B3-3D2B5EE1D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8" y="1911350"/>
            <a:ext cx="568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2BD2222-DEDD-FE89-69ED-3228285FAE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2921000"/>
            <a:ext cx="1174750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9BDDB2A-FC24-1FF0-7A68-D2F217711C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9613" y="2874963"/>
            <a:ext cx="1325562" cy="157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圓角矩形圖說文字 28">
            <a:extLst>
              <a:ext uri="{FF2B5EF4-FFF2-40B4-BE49-F238E27FC236}">
                <a16:creationId xmlns:a16="http://schemas.microsoft.com/office/drawing/2014/main" id="{61012FCA-AC8A-7A45-44D4-B510480BAB2A}"/>
              </a:ext>
            </a:extLst>
          </p:cNvPr>
          <p:cNvSpPr/>
          <p:nvPr/>
        </p:nvSpPr>
        <p:spPr bwMode="auto">
          <a:xfrm>
            <a:off x="6400800" y="1635125"/>
            <a:ext cx="2708275" cy="1082675"/>
          </a:xfrm>
          <a:prstGeom prst="wedgeRoundRectCallout">
            <a:avLst>
              <a:gd name="adj1" fmla="val -21786"/>
              <a:gd name="adj2" fmla="val 63164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 </a:t>
            </a: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    張是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 </a:t>
            </a: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0.2 </a:t>
            </a: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0" name="物件 15">
            <a:extLst>
              <a:ext uri="{FF2B5EF4-FFF2-40B4-BE49-F238E27FC236}">
                <a16:creationId xmlns:a16="http://schemas.microsoft.com/office/drawing/2014/main" id="{8828C5F3-F693-B7A7-2CC7-E2396D9BB9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1200" y="1662113"/>
          <a:ext cx="306388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112" imgH="393529" progId="Equation.DSMT4">
                  <p:embed/>
                </p:oleObj>
              </mc:Choice>
              <mc:Fallback>
                <p:oleObj name="Equation" r:id="rId10" imgW="203112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1200" y="1662113"/>
                        <a:ext cx="306388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" name="圖片 30">
            <a:extLst>
              <a:ext uri="{FF2B5EF4-FFF2-40B4-BE49-F238E27FC236}">
                <a16:creationId xmlns:a16="http://schemas.microsoft.com/office/drawing/2014/main" id="{F9ACD9D3-9430-1CB9-5947-EBA716E5C55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4816475"/>
            <a:ext cx="8274050" cy="8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38EEA58C-D345-7441-1088-9AAA21D1A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4999038"/>
            <a:ext cx="7724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張也可以說是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0.2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0.2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讀作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零點二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」。</a:t>
            </a:r>
          </a:p>
        </p:txBody>
      </p:sp>
      <p:graphicFrame>
        <p:nvGraphicFramePr>
          <p:cNvPr id="33" name="物件 15">
            <a:extLst>
              <a:ext uri="{FF2B5EF4-FFF2-40B4-BE49-F238E27FC236}">
                <a16:creationId xmlns:a16="http://schemas.microsoft.com/office/drawing/2014/main" id="{BE83BA2A-4ED1-E0DD-8106-09C4649BC6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850" y="4945063"/>
          <a:ext cx="31750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3112" imgH="393529" progId="Equation.DSMT4">
                  <p:embed/>
                </p:oleObj>
              </mc:Choice>
              <mc:Fallback>
                <p:oleObj name="Equation" r:id="rId13" imgW="203112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4945063"/>
                        <a:ext cx="317500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51" name="圖片 4">
            <a:extLst>
              <a:ext uri="{FF2B5EF4-FFF2-40B4-BE49-F238E27FC236}">
                <a16:creationId xmlns:a16="http://schemas.microsoft.com/office/drawing/2014/main" id="{68841AC0-3072-D763-37A9-A60AE27A38F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587375"/>
            <a:ext cx="3619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25" grpId="0"/>
      <p:bldP spid="27" grpId="0"/>
      <p:bldP spid="29" grpId="0" animBg="1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8ACBED4-458F-C48F-56F5-485102EAA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1538288"/>
            <a:ext cx="1995488" cy="216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圖片 1">
            <a:extLst>
              <a:ext uri="{FF2B5EF4-FFF2-40B4-BE49-F238E27FC236}">
                <a16:creationId xmlns:a16="http://schemas.microsoft.com/office/drawing/2014/main" id="{F89C0901-AF5F-23E7-21DB-BDB1E514BF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101600"/>
            <a:ext cx="4508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矩形 2">
            <a:extLst>
              <a:ext uri="{FF2B5EF4-FFF2-40B4-BE49-F238E27FC236}">
                <a16:creationId xmlns:a16="http://schemas.microsoft.com/office/drawing/2014/main" id="{E1E83C37-0256-5C75-F7DF-3CE454B78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55563"/>
            <a:ext cx="4673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張紙平分成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份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9461" name="矩形 45">
            <a:extLst>
              <a:ext uri="{FF2B5EF4-FFF2-40B4-BE49-F238E27FC236}">
                <a16:creationId xmlns:a16="http://schemas.microsoft.com/office/drawing/2014/main" id="{F620AF34-3AD7-A571-3104-D12D5D320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638" y="560388"/>
            <a:ext cx="7880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把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份中的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份塗上顏色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是塗了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grpSp>
        <p:nvGrpSpPr>
          <p:cNvPr id="19462" name="群組 16">
            <a:extLst>
              <a:ext uri="{FF2B5EF4-FFF2-40B4-BE49-F238E27FC236}">
                <a16:creationId xmlns:a16="http://schemas.microsoft.com/office/drawing/2014/main" id="{CAC8D007-1899-A2A6-7D8C-5EF83FAB86BC}"/>
              </a:ext>
            </a:extLst>
          </p:cNvPr>
          <p:cNvGrpSpPr>
            <a:grpSpLocks/>
          </p:cNvGrpSpPr>
          <p:nvPr/>
        </p:nvGrpSpPr>
        <p:grpSpPr bwMode="auto">
          <a:xfrm>
            <a:off x="1025525" y="976313"/>
            <a:ext cx="1520825" cy="482600"/>
            <a:chOff x="6722457" y="1658256"/>
            <a:chExt cx="1967833" cy="652081"/>
          </a:xfrm>
        </p:grpSpPr>
        <p:pic>
          <p:nvPicPr>
            <p:cNvPr id="19475" name="Picture 14">
              <a:extLst>
                <a:ext uri="{FF2B5EF4-FFF2-40B4-BE49-F238E27FC236}">
                  <a16:creationId xmlns:a16="http://schemas.microsoft.com/office/drawing/2014/main" id="{AE741E59-8CB1-15F1-4BA8-1F4680CC43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6" name="矩形 1">
              <a:extLst>
                <a:ext uri="{FF2B5EF4-FFF2-40B4-BE49-F238E27FC236}">
                  <a16:creationId xmlns:a16="http://schemas.microsoft.com/office/drawing/2014/main" id="{AC9CCACB-D2AA-86B6-3B39-0760A8EE7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16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59" name="圓角矩形圖說文字 58">
            <a:extLst>
              <a:ext uri="{FF2B5EF4-FFF2-40B4-BE49-F238E27FC236}">
                <a16:creationId xmlns:a16="http://schemas.microsoft.com/office/drawing/2014/main" id="{A466989A-767D-35AE-1D20-9362268053A7}"/>
              </a:ext>
            </a:extLst>
          </p:cNvPr>
          <p:cNvSpPr/>
          <p:nvPr/>
        </p:nvSpPr>
        <p:spPr bwMode="auto">
          <a:xfrm>
            <a:off x="1462088" y="2109788"/>
            <a:ext cx="1525587" cy="658812"/>
          </a:xfrm>
          <a:prstGeom prst="wedgeRoundRectCallout">
            <a:avLst>
              <a:gd name="adj1" fmla="val -21786"/>
              <a:gd name="adj2" fmla="val 63164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張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60" name="物件 15">
            <a:extLst>
              <a:ext uri="{FF2B5EF4-FFF2-40B4-BE49-F238E27FC236}">
                <a16:creationId xmlns:a16="http://schemas.microsoft.com/office/drawing/2014/main" id="{DDEB7989-A171-D6D2-76E1-2FC379933C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8775" y="2155825"/>
          <a:ext cx="306388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112" imgH="393529" progId="Equation.DSMT4">
                  <p:embed/>
                </p:oleObj>
              </mc:Choice>
              <mc:Fallback>
                <p:oleObj name="Equation" r:id="rId5" imgW="203112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2155825"/>
                        <a:ext cx="306388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69275339-938F-E01D-9609-613C21905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6363" y="1296988"/>
            <a:ext cx="569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</a:p>
        </p:txBody>
      </p:sp>
      <p:sp>
        <p:nvSpPr>
          <p:cNvPr id="29" name="圓角矩形圖說文字 28">
            <a:extLst>
              <a:ext uri="{FF2B5EF4-FFF2-40B4-BE49-F238E27FC236}">
                <a16:creationId xmlns:a16="http://schemas.microsoft.com/office/drawing/2014/main" id="{03AF8E17-6F35-D8FC-7B87-95FF10056FC5}"/>
              </a:ext>
            </a:extLst>
          </p:cNvPr>
          <p:cNvSpPr/>
          <p:nvPr/>
        </p:nvSpPr>
        <p:spPr bwMode="auto">
          <a:xfrm>
            <a:off x="5603875" y="1749425"/>
            <a:ext cx="1492250" cy="690563"/>
          </a:xfrm>
          <a:prstGeom prst="wedgeRoundRectCallout">
            <a:avLst>
              <a:gd name="adj1" fmla="val -21786"/>
              <a:gd name="adj2" fmla="val 63164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0.3 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D5FB9286-53A6-097E-4CD3-36AFFC9941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5541963"/>
            <a:ext cx="8275638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8" name="圖片 5">
            <a:extLst>
              <a:ext uri="{FF2B5EF4-FFF2-40B4-BE49-F238E27FC236}">
                <a16:creationId xmlns:a16="http://schemas.microsoft.com/office/drawing/2014/main" id="{25D89C3D-D6C7-AC74-58E1-F639ADAE93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646113"/>
            <a:ext cx="3603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C3A2B48-92A7-FEF4-9225-3676B6E081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2876550"/>
            <a:ext cx="1042987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953571E-9F91-ED7E-C196-2542186571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875" y="2620963"/>
            <a:ext cx="1073150" cy="136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87B0B2C7-E9EB-1178-409A-800430F79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4324350"/>
            <a:ext cx="81105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把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份中的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份塗上顏色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是塗了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份</a:t>
            </a: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呢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en-US" altLang="zh-TW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endParaRPr lang="zh-TW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C4A02A-D81C-49F0-71F1-6D25681FF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8" y="5681663"/>
            <a:ext cx="846931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像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0.2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0.3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這樣的數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叫做</a:t>
            </a: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小數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小數中的黑點稱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為</a:t>
            </a: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小數點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18453" name="Picture 21">
            <a:extLst>
              <a:ext uri="{FF2B5EF4-FFF2-40B4-BE49-F238E27FC236}">
                <a16:creationId xmlns:a16="http://schemas.microsoft.com/office/drawing/2014/main" id="{4F70EF4E-F348-0466-89DB-D0DB42C5C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700" y="4786313"/>
            <a:ext cx="1957388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54" name="Picture 22">
            <a:extLst>
              <a:ext uri="{FF2B5EF4-FFF2-40B4-BE49-F238E27FC236}">
                <a16:creationId xmlns:a16="http://schemas.microsoft.com/office/drawing/2014/main" id="{393BEEBD-3A1F-E88F-3D89-6DB69A091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4962525"/>
            <a:ext cx="1957388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25" grpId="0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圖片 1">
            <a:extLst>
              <a:ext uri="{FF2B5EF4-FFF2-40B4-BE49-F238E27FC236}">
                <a16:creationId xmlns:a16="http://schemas.microsoft.com/office/drawing/2014/main" id="{B1CF2633-35DE-5810-CA03-96DEA1D4B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矩形 43">
            <a:extLst>
              <a:ext uri="{FF2B5EF4-FFF2-40B4-BE49-F238E27FC236}">
                <a16:creationId xmlns:a16="http://schemas.microsoft.com/office/drawing/2014/main" id="{DE22E6F2-5343-5A12-8B14-6108B0542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75" y="703263"/>
            <a:ext cx="8186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塗色部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是多少張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用分數</a:t>
            </a: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小數回答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0484" name="圖片 2">
            <a:extLst>
              <a:ext uri="{FF2B5EF4-FFF2-40B4-BE49-F238E27FC236}">
                <a16:creationId xmlns:a16="http://schemas.microsoft.com/office/drawing/2014/main" id="{71CC0BD5-8709-1AF4-1B5E-3E8ED6489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754063"/>
            <a:ext cx="3619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圖片 1">
            <a:extLst>
              <a:ext uri="{FF2B5EF4-FFF2-40B4-BE49-F238E27FC236}">
                <a16:creationId xmlns:a16="http://schemas.microsoft.com/office/drawing/2014/main" id="{F056C308-0A5E-DB95-856A-FC5E7CC0AE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328738"/>
            <a:ext cx="36830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圖片 2">
            <a:extLst>
              <a:ext uri="{FF2B5EF4-FFF2-40B4-BE49-F238E27FC236}">
                <a16:creationId xmlns:a16="http://schemas.microsoft.com/office/drawing/2014/main" id="{75DBBAB6-E6F9-46E8-16AB-D1B52CFDD1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638" y="1328738"/>
            <a:ext cx="363537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7" name="圖片 3">
            <a:extLst>
              <a:ext uri="{FF2B5EF4-FFF2-40B4-BE49-F238E27FC236}">
                <a16:creationId xmlns:a16="http://schemas.microsoft.com/office/drawing/2014/main" id="{BBE3DD68-9E68-EAD3-CBB3-678EAAD514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3" y="2041525"/>
            <a:ext cx="2868612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8" name="圖片 45">
            <a:extLst>
              <a:ext uri="{FF2B5EF4-FFF2-40B4-BE49-F238E27FC236}">
                <a16:creationId xmlns:a16="http://schemas.microsoft.com/office/drawing/2014/main" id="{D1002216-F9F3-A6CA-236F-DD35D2CED3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338" y="1689100"/>
            <a:ext cx="3902075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9" name="矩形 46">
            <a:extLst>
              <a:ext uri="{FF2B5EF4-FFF2-40B4-BE49-F238E27FC236}">
                <a16:creationId xmlns:a16="http://schemas.microsoft.com/office/drawing/2014/main" id="{0B88A4DD-37F6-9F04-C7C3-0C1029777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113" y="2741613"/>
            <a:ext cx="6461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</a:p>
        </p:txBody>
      </p:sp>
      <p:sp>
        <p:nvSpPr>
          <p:cNvPr id="20490" name="矩形 47">
            <a:extLst>
              <a:ext uri="{FF2B5EF4-FFF2-40B4-BE49-F238E27FC236}">
                <a16:creationId xmlns:a16="http://schemas.microsoft.com/office/drawing/2014/main" id="{B05269D9-2554-51F7-BE8F-7E53DDE8B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3213" y="1508125"/>
            <a:ext cx="6461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</a:p>
        </p:txBody>
      </p:sp>
      <p:sp>
        <p:nvSpPr>
          <p:cNvPr id="20491" name="矩形 48">
            <a:extLst>
              <a:ext uri="{FF2B5EF4-FFF2-40B4-BE49-F238E27FC236}">
                <a16:creationId xmlns:a16="http://schemas.microsoft.com/office/drawing/2014/main" id="{41C37B9A-0C98-DC3F-CAC9-3A2CE7F47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" y="4330700"/>
            <a:ext cx="32194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分數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)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小數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</a:p>
        </p:txBody>
      </p:sp>
      <p:sp>
        <p:nvSpPr>
          <p:cNvPr id="20492" name="矩形 49">
            <a:extLst>
              <a:ext uri="{FF2B5EF4-FFF2-40B4-BE49-F238E27FC236}">
                <a16:creationId xmlns:a16="http://schemas.microsoft.com/office/drawing/2014/main" id="{F2F8D7EE-006D-90F7-3C56-5CE940352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4330700"/>
            <a:ext cx="32210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分數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)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小數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)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</a:p>
        </p:txBody>
      </p:sp>
      <p:graphicFrame>
        <p:nvGraphicFramePr>
          <p:cNvPr id="14" name="物件 15">
            <a:extLst>
              <a:ext uri="{FF2B5EF4-FFF2-40B4-BE49-F238E27FC236}">
                <a16:creationId xmlns:a16="http://schemas.microsoft.com/office/drawing/2014/main" id="{54484AED-3535-8EFC-3CD8-BB76C974A7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6663" y="4387850"/>
          <a:ext cx="306387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112" imgH="393529" progId="Equation.DSMT4">
                  <p:embed/>
                </p:oleObj>
              </mc:Choice>
              <mc:Fallback>
                <p:oleObj name="Equation" r:id="rId8" imgW="203112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663" y="4387850"/>
                        <a:ext cx="306387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物件 15">
            <a:extLst>
              <a:ext uri="{FF2B5EF4-FFF2-40B4-BE49-F238E27FC236}">
                <a16:creationId xmlns:a16="http://schemas.microsoft.com/office/drawing/2014/main" id="{323306F2-FCBC-8285-CB63-3E45060C68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92938" y="4387850"/>
          <a:ext cx="306387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112" imgH="393529" progId="Equation.DSMT4">
                  <p:embed/>
                </p:oleObj>
              </mc:Choice>
              <mc:Fallback>
                <p:oleObj name="Equation" r:id="rId10" imgW="203112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2938" y="4387850"/>
                        <a:ext cx="306387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792EB7ED-03E0-1427-6D0C-FA6557DD4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5024438"/>
            <a:ext cx="5699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0.8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DF8CBC-F14D-B7AF-E6A5-2D2463871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1175" y="5010150"/>
            <a:ext cx="569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0.6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圖片 1">
            <a:extLst>
              <a:ext uri="{FF2B5EF4-FFF2-40B4-BE49-F238E27FC236}">
                <a16:creationId xmlns:a16="http://schemas.microsoft.com/office/drawing/2014/main" id="{61898B70-CEBB-0A28-B239-A9C47A310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矩形 43">
            <a:extLst>
              <a:ext uri="{FF2B5EF4-FFF2-40B4-BE49-F238E27FC236}">
                <a16:creationId xmlns:a16="http://schemas.microsoft.com/office/drawing/2014/main" id="{C3C0B4C0-1069-9795-DA4D-4646C5FD3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75" y="703263"/>
            <a:ext cx="18780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塗塗看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1508" name="圖片 1">
            <a:extLst>
              <a:ext uri="{FF2B5EF4-FFF2-40B4-BE49-F238E27FC236}">
                <a16:creationId xmlns:a16="http://schemas.microsoft.com/office/drawing/2014/main" id="{50D462A7-3573-DE75-A609-D137D4DC75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328738"/>
            <a:ext cx="36830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圖片 2">
            <a:extLst>
              <a:ext uri="{FF2B5EF4-FFF2-40B4-BE49-F238E27FC236}">
                <a16:creationId xmlns:a16="http://schemas.microsoft.com/office/drawing/2014/main" id="{EDF447B8-F8A2-347C-02DC-E86DDFB872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638" y="1328738"/>
            <a:ext cx="363537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圖片 3">
            <a:extLst>
              <a:ext uri="{FF2B5EF4-FFF2-40B4-BE49-F238E27FC236}">
                <a16:creationId xmlns:a16="http://schemas.microsoft.com/office/drawing/2014/main" id="{A05C7E59-F68C-0C1E-92DD-B03051BA00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3" y="769938"/>
            <a:ext cx="360362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1" name="矩形 13">
            <a:extLst>
              <a:ext uri="{FF2B5EF4-FFF2-40B4-BE49-F238E27FC236}">
                <a16:creationId xmlns:a16="http://schemas.microsoft.com/office/drawing/2014/main" id="{FD1F6412-2D4F-80A0-C7E4-5A5859E2A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" y="1257300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0.4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杯</a:t>
            </a:r>
            <a:endParaRPr lang="zh-TW" altLang="en-US" sz="24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512" name="矩形 14">
            <a:extLst>
              <a:ext uri="{FF2B5EF4-FFF2-40B4-BE49-F238E27FC236}">
                <a16:creationId xmlns:a16="http://schemas.microsoft.com/office/drawing/2014/main" id="{22806A56-618F-858D-6D9F-2B1255ECE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0" y="1257300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0.7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杯</a:t>
            </a:r>
            <a:endParaRPr lang="zh-TW" altLang="en-US" sz="24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1513" name="圖片 4">
            <a:extLst>
              <a:ext uri="{FF2B5EF4-FFF2-40B4-BE49-F238E27FC236}">
                <a16:creationId xmlns:a16="http://schemas.microsoft.com/office/drawing/2014/main" id="{3D7742A2-6E8B-5744-D4FD-2DFFF659A2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1760538"/>
            <a:ext cx="2747963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4" name="矩形 46">
            <a:extLst>
              <a:ext uri="{FF2B5EF4-FFF2-40B4-BE49-F238E27FC236}">
                <a16:creationId xmlns:a16="http://schemas.microsoft.com/office/drawing/2014/main" id="{FC432E57-77FA-DE88-E08E-BDFCB3944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" y="2627313"/>
            <a:ext cx="6461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杯</a:t>
            </a:r>
          </a:p>
        </p:txBody>
      </p:sp>
      <p:pic>
        <p:nvPicPr>
          <p:cNvPr id="21515" name="圖片 16">
            <a:extLst>
              <a:ext uri="{FF2B5EF4-FFF2-40B4-BE49-F238E27FC236}">
                <a16:creationId xmlns:a16="http://schemas.microsoft.com/office/drawing/2014/main" id="{4134710D-A3F9-AEE0-C091-5A7182F8B2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0" y="1760538"/>
            <a:ext cx="2747963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6" name="矩形 17">
            <a:extLst>
              <a:ext uri="{FF2B5EF4-FFF2-40B4-BE49-F238E27FC236}">
                <a16:creationId xmlns:a16="http://schemas.microsoft.com/office/drawing/2014/main" id="{1D298290-AC1E-BC16-F4BD-0790EC388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2627313"/>
            <a:ext cx="6461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C4367C-88C5-7C1F-859A-3C2E3BC2AB48}"/>
              </a:ext>
            </a:extLst>
          </p:cNvPr>
          <p:cNvSpPr/>
          <p:nvPr/>
        </p:nvSpPr>
        <p:spPr>
          <a:xfrm>
            <a:off x="1419225" y="3124200"/>
            <a:ext cx="1958975" cy="869950"/>
          </a:xfrm>
          <a:prstGeom prst="rect">
            <a:avLst/>
          </a:prstGeom>
          <a:solidFill>
            <a:srgbClr val="F8388A">
              <a:alpha val="50196"/>
            </a:srgbClr>
          </a:solidFill>
          <a:ln>
            <a:solidFill>
              <a:srgbClr val="F838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9957D38-6D5B-D539-CF57-FCB44DF9F4C4}"/>
              </a:ext>
            </a:extLst>
          </p:cNvPr>
          <p:cNvSpPr/>
          <p:nvPr/>
        </p:nvSpPr>
        <p:spPr>
          <a:xfrm>
            <a:off x="6108700" y="2482850"/>
            <a:ext cx="1943100" cy="1511300"/>
          </a:xfrm>
          <a:prstGeom prst="rect">
            <a:avLst/>
          </a:prstGeom>
          <a:solidFill>
            <a:srgbClr val="F8388A">
              <a:alpha val="50196"/>
            </a:srgbClr>
          </a:solidFill>
          <a:ln>
            <a:solidFill>
              <a:srgbClr val="F838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標題 1">
            <a:extLst>
              <a:ext uri="{FF2B5EF4-FFF2-40B4-BE49-F238E27FC236}">
                <a16:creationId xmlns:a16="http://schemas.microsoft.com/office/drawing/2014/main" id="{79ACB767-F7A4-5F18-2490-7A2880040DF4}"/>
              </a:ext>
            </a:extLst>
          </p:cNvPr>
          <p:cNvSpPr txBox="1">
            <a:spLocks/>
          </p:cNvSpPr>
          <p:nvPr/>
        </p:nvSpPr>
        <p:spPr bwMode="auto">
          <a:xfrm>
            <a:off x="742950" y="3656013"/>
            <a:ext cx="7886700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第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5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單元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小數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活動２ 認識十分位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圖片 1">
            <a:extLst>
              <a:ext uri="{FF2B5EF4-FFF2-40B4-BE49-F238E27FC236}">
                <a16:creationId xmlns:a16="http://schemas.microsoft.com/office/drawing/2014/main" id="{202E3192-840C-FB26-BC60-414EEDB4C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101600"/>
            <a:ext cx="4508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矩形 2">
            <a:extLst>
              <a:ext uri="{FF2B5EF4-FFF2-40B4-BE49-F238E27FC236}">
                <a16:creationId xmlns:a16="http://schemas.microsoft.com/office/drawing/2014/main" id="{97339B37-946F-3ED9-ADF9-B4BF96C36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55563"/>
            <a:ext cx="86233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個白色積木合起來</a:t>
            </a:r>
            <a:r>
              <a:rPr lang="zh-TW" altLang="en-US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樣</a:t>
            </a:r>
            <a:r>
              <a:rPr lang="zh-TW" altLang="en-US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長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拿出積木做做看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23556" name="圖片 3">
            <a:extLst>
              <a:ext uri="{FF2B5EF4-FFF2-40B4-BE49-F238E27FC236}">
                <a16:creationId xmlns:a16="http://schemas.microsoft.com/office/drawing/2014/main" id="{AE6DEF0B-C6DF-74A2-A611-2EF27CE155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1066800"/>
            <a:ext cx="3651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矩形 45">
            <a:extLst>
              <a:ext uri="{FF2B5EF4-FFF2-40B4-BE49-F238E27FC236}">
                <a16:creationId xmlns:a16="http://schemas.microsoft.com/office/drawing/2014/main" id="{7325007C-F8DA-D02D-C4A7-252CBD37B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638" y="1003300"/>
            <a:ext cx="8110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個白色積木也可以說是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grpSp>
        <p:nvGrpSpPr>
          <p:cNvPr id="23558" name="群組 16">
            <a:extLst>
              <a:ext uri="{FF2B5EF4-FFF2-40B4-BE49-F238E27FC236}">
                <a16:creationId xmlns:a16="http://schemas.microsoft.com/office/drawing/2014/main" id="{7A84C588-E845-0A56-F05A-3C4CD4574F7C}"/>
              </a:ext>
            </a:extLst>
          </p:cNvPr>
          <p:cNvGrpSpPr>
            <a:grpSpLocks/>
          </p:cNvGrpSpPr>
          <p:nvPr/>
        </p:nvGrpSpPr>
        <p:grpSpPr bwMode="auto">
          <a:xfrm>
            <a:off x="6672263" y="506413"/>
            <a:ext cx="1520825" cy="482600"/>
            <a:chOff x="6722457" y="1658256"/>
            <a:chExt cx="1967833" cy="652081"/>
          </a:xfrm>
        </p:grpSpPr>
        <p:pic>
          <p:nvPicPr>
            <p:cNvPr id="23568" name="Picture 14">
              <a:extLst>
                <a:ext uri="{FF2B5EF4-FFF2-40B4-BE49-F238E27FC236}">
                  <a16:creationId xmlns:a16="http://schemas.microsoft.com/office/drawing/2014/main" id="{AA64CF31-6D2C-440A-7AAA-9E789009A7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69" name="矩形 1">
              <a:extLst>
                <a:ext uri="{FF2B5EF4-FFF2-40B4-BE49-F238E27FC236}">
                  <a16:creationId xmlns:a16="http://schemas.microsoft.com/office/drawing/2014/main" id="{4DEF05B3-BFBB-888E-DCEF-89D66AFF0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17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58" name="圓角矩形圖說文字 57">
            <a:extLst>
              <a:ext uri="{FF2B5EF4-FFF2-40B4-BE49-F238E27FC236}">
                <a16:creationId xmlns:a16="http://schemas.microsoft.com/office/drawing/2014/main" id="{3CF95DEA-499A-2346-DE8F-B40D1BDA9710}"/>
              </a:ext>
            </a:extLst>
          </p:cNvPr>
          <p:cNvSpPr/>
          <p:nvPr/>
        </p:nvSpPr>
        <p:spPr bwMode="auto">
          <a:xfrm>
            <a:off x="2822575" y="4832350"/>
            <a:ext cx="4418013" cy="1012825"/>
          </a:xfrm>
          <a:prstGeom prst="wedgeRoundRectCallout">
            <a:avLst>
              <a:gd name="adj1" fmla="val 52591"/>
              <a:gd name="adj2" fmla="val -31338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個白色積木也可以說是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9" name="圓角矩形圖說文字 58">
            <a:extLst>
              <a:ext uri="{FF2B5EF4-FFF2-40B4-BE49-F238E27FC236}">
                <a16:creationId xmlns:a16="http://schemas.microsoft.com/office/drawing/2014/main" id="{00E8B638-82D3-02C7-561A-932356669FA3}"/>
              </a:ext>
            </a:extLst>
          </p:cNvPr>
          <p:cNvSpPr/>
          <p:nvPr/>
        </p:nvSpPr>
        <p:spPr bwMode="auto">
          <a:xfrm>
            <a:off x="520700" y="2024063"/>
            <a:ext cx="1350963" cy="658812"/>
          </a:xfrm>
          <a:prstGeom prst="wedgeRoundRectCallout">
            <a:avLst>
              <a:gd name="adj1" fmla="val -21786"/>
              <a:gd name="adj2" fmla="val 63164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A8A6CFA-0C4D-44D6-EE19-4D3FF71B19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2871788"/>
            <a:ext cx="1206500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8D7D68E-BFFC-6CC4-ADE2-E1A9991148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2871788"/>
            <a:ext cx="873125" cy="143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56A386A-7348-16A2-5E71-ED20C1A518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088" y="4302125"/>
            <a:ext cx="1430337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4139DE7-0D03-ED4D-0C52-650ABE95A7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0" y="1727200"/>
            <a:ext cx="3840163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7" name="物件 15">
            <a:extLst>
              <a:ext uri="{FF2B5EF4-FFF2-40B4-BE49-F238E27FC236}">
                <a16:creationId xmlns:a16="http://schemas.microsoft.com/office/drawing/2014/main" id="{CC62B255-490A-22A9-BBBC-18498ADE0C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238" y="2087563"/>
          <a:ext cx="293687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3112" imgH="393529" progId="Equation.DSMT4">
                  <p:embed/>
                </p:oleObj>
              </mc:Choice>
              <mc:Fallback>
                <p:oleObj name="Equation" r:id="rId9" imgW="203112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238" y="2087563"/>
                        <a:ext cx="293687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A5EE0223-7B46-076B-3526-46FD6D6C3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25" y="1876425"/>
            <a:ext cx="760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 sz="20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</a:t>
            </a:r>
            <a:endParaRPr lang="zh-TW" altLang="en-US" sz="2000"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29" name="圓角矩形圖說文字 28">
            <a:extLst>
              <a:ext uri="{FF2B5EF4-FFF2-40B4-BE49-F238E27FC236}">
                <a16:creationId xmlns:a16="http://schemas.microsoft.com/office/drawing/2014/main" id="{42AD9FB4-E603-4FD1-BCE7-45FFFFE3D559}"/>
              </a:ext>
            </a:extLst>
          </p:cNvPr>
          <p:cNvSpPr/>
          <p:nvPr/>
        </p:nvSpPr>
        <p:spPr bwMode="auto">
          <a:xfrm>
            <a:off x="6672263" y="2024063"/>
            <a:ext cx="1711325" cy="658812"/>
          </a:xfrm>
          <a:prstGeom prst="wedgeRoundRectCallout">
            <a:avLst>
              <a:gd name="adj1" fmla="val -21786"/>
              <a:gd name="adj2" fmla="val 63164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8" grpId="0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圖片 1">
            <a:extLst>
              <a:ext uri="{FF2B5EF4-FFF2-40B4-BE49-F238E27FC236}">
                <a16:creationId xmlns:a16="http://schemas.microsoft.com/office/drawing/2014/main" id="{C658EDA0-E04B-130B-9AD4-006B398BA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101600"/>
            <a:ext cx="4508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矩形 2">
            <a:extLst>
              <a:ext uri="{FF2B5EF4-FFF2-40B4-BE49-F238E27FC236}">
                <a16:creationId xmlns:a16="http://schemas.microsoft.com/office/drawing/2014/main" id="{255447AC-AC07-7BFD-88DD-91F6FD9D8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55563"/>
            <a:ext cx="86233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個白色積木合起來</a:t>
            </a:r>
            <a:r>
              <a:rPr lang="zh-TW" altLang="en-US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樣</a:t>
            </a:r>
            <a:r>
              <a:rPr lang="zh-TW" altLang="en-US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長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拿出積木做做看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4580" name="矩形 45">
            <a:extLst>
              <a:ext uri="{FF2B5EF4-FFF2-40B4-BE49-F238E27FC236}">
                <a16:creationId xmlns:a16="http://schemas.microsoft.com/office/drawing/2014/main" id="{01DFEC46-CA0F-86EE-A577-0BCF09CEE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638" y="1003300"/>
            <a:ext cx="50133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條橘色積木合起來是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3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0.1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條</a:t>
            </a: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呢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r>
              <a:rPr lang="en-US" altLang="zh-TW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……</a:t>
            </a:r>
            <a:endParaRPr lang="zh-TW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581" name="群組 16">
            <a:extLst>
              <a:ext uri="{FF2B5EF4-FFF2-40B4-BE49-F238E27FC236}">
                <a16:creationId xmlns:a16="http://schemas.microsoft.com/office/drawing/2014/main" id="{63DC9608-ECA1-3D23-DF89-C653A6BC35C6}"/>
              </a:ext>
            </a:extLst>
          </p:cNvPr>
          <p:cNvGrpSpPr>
            <a:grpSpLocks/>
          </p:cNvGrpSpPr>
          <p:nvPr/>
        </p:nvGrpSpPr>
        <p:grpSpPr bwMode="auto">
          <a:xfrm>
            <a:off x="6672263" y="506413"/>
            <a:ext cx="1520825" cy="482600"/>
            <a:chOff x="6722457" y="1658256"/>
            <a:chExt cx="1967833" cy="652081"/>
          </a:xfrm>
        </p:grpSpPr>
        <p:pic>
          <p:nvPicPr>
            <p:cNvPr id="24586" name="Picture 14">
              <a:extLst>
                <a:ext uri="{FF2B5EF4-FFF2-40B4-BE49-F238E27FC236}">
                  <a16:creationId xmlns:a16="http://schemas.microsoft.com/office/drawing/2014/main" id="{4C595557-C6F7-C2D7-072E-67B6D6F524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87" name="矩形 1">
              <a:extLst>
                <a:ext uri="{FF2B5EF4-FFF2-40B4-BE49-F238E27FC236}">
                  <a16:creationId xmlns:a16="http://schemas.microsoft.com/office/drawing/2014/main" id="{6F9FA3CC-A52D-B198-881B-E722E2969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17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24582" name="圖片 4">
            <a:extLst>
              <a:ext uri="{FF2B5EF4-FFF2-40B4-BE49-F238E27FC236}">
                <a16:creationId xmlns:a16="http://schemas.microsoft.com/office/drawing/2014/main" id="{6F8659A3-03BE-002D-6403-C7604F1321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57275"/>
            <a:ext cx="3619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9ABF9451-5310-92E6-48E6-47AFE3083F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88" y="3614738"/>
            <a:ext cx="2927350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24AE364-89C2-11D9-AA3D-E162FCF2D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4154488"/>
            <a:ext cx="877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0.2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DE5925B-0B47-2329-0EC4-3F4D28752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4616450"/>
            <a:ext cx="8778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0.3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圖片 1">
            <a:extLst>
              <a:ext uri="{FF2B5EF4-FFF2-40B4-BE49-F238E27FC236}">
                <a16:creationId xmlns:a16="http://schemas.microsoft.com/office/drawing/2014/main" id="{C2FFC14C-3E82-8FDB-E35C-39D7EDD94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101600"/>
            <a:ext cx="4508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矩形 2">
            <a:extLst>
              <a:ext uri="{FF2B5EF4-FFF2-40B4-BE49-F238E27FC236}">
                <a16:creationId xmlns:a16="http://schemas.microsoft.com/office/drawing/2014/main" id="{C3D4F99A-EB01-C627-EB0B-C0269379C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55563"/>
            <a:ext cx="86233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個白色積木合起來</a:t>
            </a:r>
            <a:r>
              <a:rPr lang="zh-TW" altLang="en-US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樣</a:t>
            </a:r>
            <a:r>
              <a:rPr lang="zh-TW" altLang="en-US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長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拿出積木做做看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25604" name="群組 16">
            <a:extLst>
              <a:ext uri="{FF2B5EF4-FFF2-40B4-BE49-F238E27FC236}">
                <a16:creationId xmlns:a16="http://schemas.microsoft.com/office/drawing/2014/main" id="{DA5F9A57-CEBC-73B3-E65E-A6293227E9AC}"/>
              </a:ext>
            </a:extLst>
          </p:cNvPr>
          <p:cNvGrpSpPr>
            <a:grpSpLocks/>
          </p:cNvGrpSpPr>
          <p:nvPr/>
        </p:nvGrpSpPr>
        <p:grpSpPr bwMode="auto">
          <a:xfrm>
            <a:off x="6672263" y="506413"/>
            <a:ext cx="1520825" cy="482600"/>
            <a:chOff x="6722457" y="1658256"/>
            <a:chExt cx="1967833" cy="652081"/>
          </a:xfrm>
        </p:grpSpPr>
        <p:pic>
          <p:nvPicPr>
            <p:cNvPr id="25615" name="Picture 14">
              <a:extLst>
                <a:ext uri="{FF2B5EF4-FFF2-40B4-BE49-F238E27FC236}">
                  <a16:creationId xmlns:a16="http://schemas.microsoft.com/office/drawing/2014/main" id="{EAE11D29-721B-EC84-D880-6B25458936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16" name="矩形 1">
              <a:extLst>
                <a:ext uri="{FF2B5EF4-FFF2-40B4-BE49-F238E27FC236}">
                  <a16:creationId xmlns:a16="http://schemas.microsoft.com/office/drawing/2014/main" id="{4E8446FC-3CF5-2C1F-3C05-F000FE3430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17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25605" name="矩形 23">
            <a:extLst>
              <a:ext uri="{FF2B5EF4-FFF2-40B4-BE49-F238E27FC236}">
                <a16:creationId xmlns:a16="http://schemas.microsoft.com/office/drawing/2014/main" id="{7730D465-1750-CAB3-CA8C-5D7EFD0A9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1049338"/>
            <a:ext cx="50117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條橘色積木合起來是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25606" name="圖片 5">
            <a:extLst>
              <a:ext uri="{FF2B5EF4-FFF2-40B4-BE49-F238E27FC236}">
                <a16:creationId xmlns:a16="http://schemas.microsoft.com/office/drawing/2014/main" id="{A2C2246F-B3CE-0DBF-8E2B-53761B21EA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1119188"/>
            <a:ext cx="3603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圖片 9">
            <a:extLst>
              <a:ext uri="{FF2B5EF4-FFF2-40B4-BE49-F238E27FC236}">
                <a16:creationId xmlns:a16="http://schemas.microsoft.com/office/drawing/2014/main" id="{73147777-190D-1A12-F757-82B30FB0B5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925" y="1117600"/>
            <a:ext cx="29162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2" name="圖片 16">
            <a:extLst>
              <a:ext uri="{FF2B5EF4-FFF2-40B4-BE49-F238E27FC236}">
                <a16:creationId xmlns:a16="http://schemas.microsoft.com/office/drawing/2014/main" id="{6D7A022C-F71A-207E-220F-C822C097C5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388" y="4902200"/>
            <a:ext cx="1073150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3" name="圖片 18">
            <a:extLst>
              <a:ext uri="{FF2B5EF4-FFF2-40B4-BE49-F238E27FC236}">
                <a16:creationId xmlns:a16="http://schemas.microsoft.com/office/drawing/2014/main" id="{61F94552-22CC-3FCB-F0ED-8C353F28E3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4860925"/>
            <a:ext cx="1173163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圓角矩形圖說文字 12">
            <a:extLst>
              <a:ext uri="{FF2B5EF4-FFF2-40B4-BE49-F238E27FC236}">
                <a16:creationId xmlns:a16="http://schemas.microsoft.com/office/drawing/2014/main" id="{63424752-599E-ED9A-6AE0-047F575C90FD}"/>
              </a:ext>
            </a:extLst>
          </p:cNvPr>
          <p:cNvSpPr/>
          <p:nvPr/>
        </p:nvSpPr>
        <p:spPr bwMode="auto">
          <a:xfrm>
            <a:off x="28575" y="2695575"/>
            <a:ext cx="4676775" cy="1879600"/>
          </a:xfrm>
          <a:prstGeom prst="wedgeRoundRectCallout">
            <a:avLst>
              <a:gd name="adj1" fmla="val -21786"/>
              <a:gd name="adj2" fmla="val 63164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TW" sz="240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10</a:t>
            </a:r>
            <a:r>
              <a:rPr lang="zh-TW" altLang="en-US" sz="240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個</a:t>
            </a:r>
            <a:r>
              <a:rPr lang="en-US" altLang="zh-TW" sz="240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0.1</a:t>
            </a:r>
            <a:r>
              <a:rPr lang="zh-TW" altLang="en-US" sz="240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條橘色積木是</a:t>
            </a:r>
            <a:r>
              <a:rPr lang="en-US" altLang="zh-TW" sz="240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10</a:t>
            </a:r>
            <a:r>
              <a:rPr lang="zh-TW" altLang="en-US" sz="240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個     條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也就是     條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       </a:t>
            </a:r>
            <a:endParaRPr lang="en-US" altLang="zh-TW" sz="2400" dirty="0">
              <a:solidFill>
                <a:srgbClr val="000000"/>
              </a:solidFill>
              <a:latin typeface="Times New Roman" pitchFamily="18" charset="0"/>
              <a:ea typeface="書法中楷（注音一）" pitchFamily="49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     條等於</a:t>
            </a:r>
            <a:r>
              <a:rPr lang="en-US" altLang="zh-TW" sz="240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1</a:t>
            </a:r>
            <a:r>
              <a:rPr lang="zh-TW" altLang="en-US" sz="240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條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14" name="物件 15">
            <a:extLst>
              <a:ext uri="{FF2B5EF4-FFF2-40B4-BE49-F238E27FC236}">
                <a16:creationId xmlns:a16="http://schemas.microsoft.com/office/drawing/2014/main" id="{2F76893F-453E-709B-A1E3-E993FC4DBD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" y="3367088"/>
          <a:ext cx="32385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112" imgH="393529" progId="Equation.DSMT4">
                  <p:embed/>
                </p:oleObj>
              </mc:Choice>
              <mc:Fallback>
                <p:oleObj name="Equation" r:id="rId8" imgW="203112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3367088"/>
                        <a:ext cx="32385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物件 15">
            <a:extLst>
              <a:ext uri="{FF2B5EF4-FFF2-40B4-BE49-F238E27FC236}">
                <a16:creationId xmlns:a16="http://schemas.microsoft.com/office/drawing/2014/main" id="{333385D8-DF2B-C017-68C6-CB582543DA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4050" y="3402013"/>
          <a:ext cx="323850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112" imgH="393529" progId="Equation.DSMT4">
                  <p:embed/>
                </p:oleObj>
              </mc:Choice>
              <mc:Fallback>
                <p:oleObj name="Equation" r:id="rId10" imgW="203112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0" y="3402013"/>
                        <a:ext cx="323850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物件 15">
            <a:extLst>
              <a:ext uri="{FF2B5EF4-FFF2-40B4-BE49-F238E27FC236}">
                <a16:creationId xmlns:a16="http://schemas.microsoft.com/office/drawing/2014/main" id="{E00CB6ED-7AE8-30AB-2BCB-AEBA83E12B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250" y="3938588"/>
          <a:ext cx="32226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3112" imgH="393529" progId="Equation.DSMT4">
                  <p:embed/>
                </p:oleObj>
              </mc:Choice>
              <mc:Fallback>
                <p:oleObj name="Equation" r:id="rId12" imgW="203112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" y="3938588"/>
                        <a:ext cx="322263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圓角矩形圖說文字 16">
            <a:extLst>
              <a:ext uri="{FF2B5EF4-FFF2-40B4-BE49-F238E27FC236}">
                <a16:creationId xmlns:a16="http://schemas.microsoft.com/office/drawing/2014/main" id="{6832F4B9-C3A9-4A02-9934-258CAC5E50DC}"/>
              </a:ext>
            </a:extLst>
          </p:cNvPr>
          <p:cNvSpPr/>
          <p:nvPr/>
        </p:nvSpPr>
        <p:spPr bwMode="auto">
          <a:xfrm>
            <a:off x="4962525" y="2363788"/>
            <a:ext cx="4084638" cy="2422525"/>
          </a:xfrm>
          <a:prstGeom prst="wedgeRoundRectCallout">
            <a:avLst>
              <a:gd name="adj1" fmla="val -861"/>
              <a:gd name="adj2" fmla="val 66340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條橘色積木合起來</a:t>
            </a:r>
            <a:r>
              <a:rPr lang="zh-TW" altLang="en-US" sz="2400" dirty="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</a:t>
            </a:r>
            <a:r>
              <a:rPr lang="zh-TW" altLang="en-US" sz="2400" dirty="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樣</a:t>
            </a:r>
            <a:r>
              <a:rPr lang="zh-TW" altLang="en-US" sz="2400" dirty="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長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所以是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矩形 2">
            <a:extLst>
              <a:ext uri="{FF2B5EF4-FFF2-40B4-BE49-F238E27FC236}">
                <a16:creationId xmlns:a16="http://schemas.microsoft.com/office/drawing/2014/main" id="{E393FEB4-58D6-6261-488E-E32422A3E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55563"/>
            <a:ext cx="43132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拿出積木做做看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4580" name="圖片 3">
            <a:extLst>
              <a:ext uri="{FF2B5EF4-FFF2-40B4-BE49-F238E27FC236}">
                <a16:creationId xmlns:a16="http://schemas.microsoft.com/office/drawing/2014/main" id="{1D826E9D-0D50-C7FC-E830-02F207601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8" y="1997075"/>
            <a:ext cx="3651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矩形 45">
            <a:extLst>
              <a:ext uri="{FF2B5EF4-FFF2-40B4-BE49-F238E27FC236}">
                <a16:creationId xmlns:a16="http://schemas.microsoft.com/office/drawing/2014/main" id="{71E93825-040E-A38A-0F07-9DCA95E2E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3" y="1933575"/>
            <a:ext cx="8559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條橘色積木合起來是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grpSp>
        <p:nvGrpSpPr>
          <p:cNvPr id="26629" name="群組 16">
            <a:extLst>
              <a:ext uri="{FF2B5EF4-FFF2-40B4-BE49-F238E27FC236}">
                <a16:creationId xmlns:a16="http://schemas.microsoft.com/office/drawing/2014/main" id="{4C542856-7B1F-88EA-7A60-88D9F063E277}"/>
              </a:ext>
            </a:extLst>
          </p:cNvPr>
          <p:cNvGrpSpPr>
            <a:grpSpLocks/>
          </p:cNvGrpSpPr>
          <p:nvPr/>
        </p:nvGrpSpPr>
        <p:grpSpPr bwMode="auto">
          <a:xfrm>
            <a:off x="4681538" y="49213"/>
            <a:ext cx="1520825" cy="482600"/>
            <a:chOff x="6722457" y="1658256"/>
            <a:chExt cx="1967833" cy="652081"/>
          </a:xfrm>
        </p:grpSpPr>
        <p:pic>
          <p:nvPicPr>
            <p:cNvPr id="26645" name="Picture 14">
              <a:extLst>
                <a:ext uri="{FF2B5EF4-FFF2-40B4-BE49-F238E27FC236}">
                  <a16:creationId xmlns:a16="http://schemas.microsoft.com/office/drawing/2014/main" id="{AE58C89D-5D30-0841-446A-3BD7A97C84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46" name="矩形 1">
              <a:extLst>
                <a:ext uri="{FF2B5EF4-FFF2-40B4-BE49-F238E27FC236}">
                  <a16:creationId xmlns:a16="http://schemas.microsoft.com/office/drawing/2014/main" id="{B8FFF4E7-B046-13BD-1B68-A2A5AECB9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17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26630" name="圖片 2">
            <a:extLst>
              <a:ext uri="{FF2B5EF4-FFF2-40B4-BE49-F238E27FC236}">
                <a16:creationId xmlns:a16="http://schemas.microsoft.com/office/drawing/2014/main" id="{F7140944-22CF-1757-44F8-F9A2ACAF4E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82550"/>
            <a:ext cx="45720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6EB4F919-99D7-C5A6-641F-97AD1A8E89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633413"/>
            <a:ext cx="82756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6D36C66B-93DA-C10C-2989-5F04498B0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5" y="822325"/>
            <a:ext cx="4232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這是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83817C7-89DD-7BA6-8C17-23F5A6145A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8" y="908050"/>
            <a:ext cx="2200275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D294C5D-1C7C-C51B-FBF3-6931C63D63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1371600"/>
            <a:ext cx="2762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25CB6CD-A0A1-74A0-99D9-846C878F1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338" y="1284288"/>
            <a:ext cx="41862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這是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0.1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條橘色積木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ACF4B48-B1F3-245C-6F7E-005E7E084E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2462213"/>
            <a:ext cx="297338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B7603E3-5986-E8AB-873B-1E0FC7427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1863" y="2513013"/>
            <a:ext cx="1457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 sz="20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個 </a:t>
            </a:r>
            <a:r>
              <a:rPr lang="en-US" altLang="zh-TW" sz="20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0.1</a:t>
            </a:r>
            <a:r>
              <a:rPr lang="zh-TW" altLang="en-US" sz="20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條</a:t>
            </a:r>
            <a:endParaRPr lang="zh-TW" altLang="en-US" sz="2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228E7C0-3DF0-ACD7-8CDF-BF36FAC42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1863" y="3257550"/>
            <a:ext cx="15954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</a:t>
            </a:r>
            <a:r>
              <a:rPr lang="zh-TW" altLang="en-US" sz="20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條又 </a:t>
            </a:r>
            <a:r>
              <a:rPr lang="en-US" altLang="zh-TW" sz="20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0.1 </a:t>
            </a:r>
            <a:r>
              <a:rPr lang="zh-TW" altLang="en-US" sz="20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</a:t>
            </a:r>
            <a:endParaRPr lang="zh-TW" altLang="en-US" sz="2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2D56A91C-E3BF-F1EC-2882-8E97794B12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3868738"/>
            <a:ext cx="8275638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3F10A602-936F-B1B9-C1C6-3FAC36C7E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3952875"/>
            <a:ext cx="83661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條合起來是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條又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記成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1.1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1.1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讀作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一點一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」。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E37F0FA-A059-22BC-5721-7DBB4BD62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8" y="5276850"/>
            <a:ext cx="87423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條橘色積木合起來是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13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0.1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條橘色積木</a:t>
            </a: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呢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r>
              <a:rPr lang="en-US" altLang="zh-TW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……</a:t>
            </a:r>
            <a:endParaRPr lang="zh-TW" altLang="en-US" sz="240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A1B7163-890A-6F01-96C7-D329BB4DF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2406650"/>
            <a:ext cx="877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1.1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D0F8C24-D120-FD8A-4345-2450D5AFD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5710238"/>
            <a:ext cx="8778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1.2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A239F1-D4D4-BA60-3AE3-964D4756F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975" y="6394450"/>
            <a:ext cx="876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1.3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/>
      <p:bldP spid="20" grpId="0"/>
      <p:bldP spid="9" grpId="0"/>
      <p:bldP spid="11" grpId="0"/>
      <p:bldP spid="26" grpId="0"/>
      <p:bldP spid="30" grpId="0"/>
      <p:bldP spid="31" grpId="0"/>
      <p:bldP spid="32" grpId="0"/>
      <p:bldP spid="33" grpId="0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矩形 45">
            <a:extLst>
              <a:ext uri="{FF2B5EF4-FFF2-40B4-BE49-F238E27FC236}">
                <a16:creationId xmlns:a16="http://schemas.microsoft.com/office/drawing/2014/main" id="{70786A1A-C850-B5EE-1819-FF6168927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122238"/>
            <a:ext cx="55705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怎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麼拿出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1.7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</a:t>
            </a: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呢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27651" name="圖片 4">
            <a:extLst>
              <a:ext uri="{FF2B5EF4-FFF2-40B4-BE49-F238E27FC236}">
                <a16:creationId xmlns:a16="http://schemas.microsoft.com/office/drawing/2014/main" id="{6762E817-763B-0C78-EB68-7EBEAE7E1F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173038"/>
            <a:ext cx="3619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181BE9E-9767-EEC0-9C4F-72EE00F81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747713"/>
            <a:ext cx="4119562" cy="200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E7D698D-47F0-9A96-16DB-D2FD789322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777875"/>
            <a:ext cx="4799012" cy="197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矩形 45">
            <a:extLst>
              <a:ext uri="{FF2B5EF4-FFF2-40B4-BE49-F238E27FC236}">
                <a16:creationId xmlns:a16="http://schemas.microsoft.com/office/drawing/2014/main" id="{9E4A6F9A-6EC1-2473-FF8E-F6EC2515C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" y="917575"/>
            <a:ext cx="3416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1.7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條是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17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9" name="矩形 45">
            <a:extLst>
              <a:ext uri="{FF2B5EF4-FFF2-40B4-BE49-F238E27FC236}">
                <a16:creationId xmlns:a16="http://schemas.microsoft.com/office/drawing/2014/main" id="{2DB72BCC-6961-0397-DC54-0CCD73C92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975" y="849313"/>
            <a:ext cx="36480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1.7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條就是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</a:t>
            </a: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BDD6D21-2C10-8314-BACB-9BBCA10721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5" y="1571625"/>
            <a:ext cx="3497263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6A8882B-8F59-0543-AF2F-8188189515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238" y="1679575"/>
            <a:ext cx="230663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矩形 45">
            <a:extLst>
              <a:ext uri="{FF2B5EF4-FFF2-40B4-BE49-F238E27FC236}">
                <a16:creationId xmlns:a16="http://schemas.microsoft.com/office/drawing/2014/main" id="{3712E599-69BE-CA00-2834-8C0C4BE9B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3197225"/>
            <a:ext cx="85709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</a:t>
            </a: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條合起來是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37" name="矩形 45">
            <a:extLst>
              <a:ext uri="{FF2B5EF4-FFF2-40B4-BE49-F238E27FC236}">
                <a16:creationId xmlns:a16="http://schemas.microsoft.com/office/drawing/2014/main" id="{7DF825DC-994C-71EB-74EC-9E4F6E25B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4746625"/>
            <a:ext cx="8494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</a:t>
            </a: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14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條合起來是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條橘色積木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39" name="圖片 5">
            <a:extLst>
              <a:ext uri="{FF2B5EF4-FFF2-40B4-BE49-F238E27FC236}">
                <a16:creationId xmlns:a16="http://schemas.microsoft.com/office/drawing/2014/main" id="{45E48912-BFE9-5140-C8CC-F22874EFB6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4799013"/>
            <a:ext cx="347662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圖片 5">
            <a:extLst>
              <a:ext uri="{FF2B5EF4-FFF2-40B4-BE49-F238E27FC236}">
                <a16:creationId xmlns:a16="http://schemas.microsoft.com/office/drawing/2014/main" id="{4CA7F2FD-8DA8-E9F6-201D-99333FDC69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3246438"/>
            <a:ext cx="3603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矩形 42">
            <a:extLst>
              <a:ext uri="{FF2B5EF4-FFF2-40B4-BE49-F238E27FC236}">
                <a16:creationId xmlns:a16="http://schemas.microsoft.com/office/drawing/2014/main" id="{389D8027-1009-8B5B-BA3C-E3E9AA641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25" y="3657600"/>
            <a:ext cx="876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4.3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5694BEF-B138-A22E-DB59-EDD81FD4A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25" y="5157788"/>
            <a:ext cx="876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3.4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46AB990-8B64-5F90-A8E3-B5B8528A5B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3646488"/>
            <a:ext cx="2854325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B8E930A4-7075-4310-DA85-D9F24282FB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225" y="4270375"/>
            <a:ext cx="361950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9838B8D9-4A38-13CB-7B75-8B30802286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4027488"/>
            <a:ext cx="2854325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2C1630B9-E46C-5D45-9BC9-FFED0D0748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4408488"/>
            <a:ext cx="2854325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6C27719C-3987-5BF1-631E-08960CBEEE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225" y="3644900"/>
            <a:ext cx="2854325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BC61DD4B-FE31-31BE-9273-578742E54D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475" y="4270375"/>
            <a:ext cx="361950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E4E30C42-ACE6-550E-0E80-162BF4F1EC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138" y="4270375"/>
            <a:ext cx="363537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702E66B0-6B0E-7049-67CC-C0D95D8A57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5354638"/>
            <a:ext cx="2854325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8CA102B7-D305-4D14-6DDC-8546387AFC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5735638"/>
            <a:ext cx="2854325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0987FFF6-765C-5040-CD91-4A8F18CD3F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225" y="5316538"/>
            <a:ext cx="36195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D072B671-F255-6D30-62A3-C1E8469881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475" y="5316538"/>
            <a:ext cx="36195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F1A1A484-6900-AAE0-6D40-DF6FD2D521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138" y="5316538"/>
            <a:ext cx="363537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AA734AE9-86DE-DB72-C809-A747BF0518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388" y="5305425"/>
            <a:ext cx="36353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564D30F5-4859-8157-6700-59733C5799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638" y="5305425"/>
            <a:ext cx="36353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47770AEA-9235-EE25-85DF-E8EDD72386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225" y="5765800"/>
            <a:ext cx="3619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5249A259-277C-0E63-C4CE-B8937747CF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475" y="5765800"/>
            <a:ext cx="3619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DA1B806C-4BE9-0712-6585-EFB0CAADF7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138" y="5765800"/>
            <a:ext cx="36353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88332FCA-D4D9-E3A1-5917-4DFBFFA2A6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388" y="5754688"/>
            <a:ext cx="36353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3F1EA05C-AF09-0EAB-D050-F22E33D291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638" y="5754688"/>
            <a:ext cx="36353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2056A3C4-B8C9-E508-6D95-D7DD2D8908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225" y="6215063"/>
            <a:ext cx="3619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D2A1C969-00C9-A944-18B8-B7002DD86F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475" y="6215063"/>
            <a:ext cx="3619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96546B26-9916-FE80-ADA1-F6E18616B8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138" y="6215063"/>
            <a:ext cx="36353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F0527FA7-6B20-3229-DC87-1480A6CDC2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388" y="6203950"/>
            <a:ext cx="36353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5" grpId="0"/>
      <p:bldP spid="37" grpId="0"/>
      <p:bldP spid="43" grpId="0"/>
      <p:bldP spid="4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矩形 2">
            <a:extLst>
              <a:ext uri="{FF2B5EF4-FFF2-40B4-BE49-F238E27FC236}">
                <a16:creationId xmlns:a16="http://schemas.microsoft.com/office/drawing/2014/main" id="{8B21626B-9687-24E6-ED01-A6F1AFB8D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55563"/>
            <a:ext cx="43132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這是</a:t>
            </a:r>
            <a:r>
              <a:rPr lang="zh-TW" altLang="en-US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個定位板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28675" name="群組 16">
            <a:extLst>
              <a:ext uri="{FF2B5EF4-FFF2-40B4-BE49-F238E27FC236}">
                <a16:creationId xmlns:a16="http://schemas.microsoft.com/office/drawing/2014/main" id="{EDD88097-909A-8D40-F14A-F29650BE4905}"/>
              </a:ext>
            </a:extLst>
          </p:cNvPr>
          <p:cNvGrpSpPr>
            <a:grpSpLocks/>
          </p:cNvGrpSpPr>
          <p:nvPr/>
        </p:nvGrpSpPr>
        <p:grpSpPr bwMode="auto">
          <a:xfrm>
            <a:off x="4681538" y="49213"/>
            <a:ext cx="1520825" cy="482600"/>
            <a:chOff x="6722457" y="1658256"/>
            <a:chExt cx="1967833" cy="652081"/>
          </a:xfrm>
        </p:grpSpPr>
        <p:pic>
          <p:nvPicPr>
            <p:cNvPr id="28713" name="Picture 14">
              <a:extLst>
                <a:ext uri="{FF2B5EF4-FFF2-40B4-BE49-F238E27FC236}">
                  <a16:creationId xmlns:a16="http://schemas.microsoft.com/office/drawing/2014/main" id="{35231EE8-02C8-7837-E364-79E1693A56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714" name="矩形 1">
              <a:extLst>
                <a:ext uri="{FF2B5EF4-FFF2-40B4-BE49-F238E27FC236}">
                  <a16:creationId xmlns:a16="http://schemas.microsoft.com/office/drawing/2014/main" id="{C31010DE-9DD5-964F-CB2A-A630165E8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18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28676" name="圖片 6">
            <a:extLst>
              <a:ext uri="{FF2B5EF4-FFF2-40B4-BE49-F238E27FC236}">
                <a16:creationId xmlns:a16="http://schemas.microsoft.com/office/drawing/2014/main" id="{9E014626-626B-AD8B-7C54-5E68491BCD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92075"/>
            <a:ext cx="458787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C693400-B8C8-1023-F42C-B1BE0A1F5D46}"/>
              </a:ext>
            </a:extLst>
          </p:cNvPr>
          <p:cNvGraphicFramePr>
            <a:graphicFrameLocks noGrp="1"/>
          </p:cNvGraphicFramePr>
          <p:nvPr/>
        </p:nvGraphicFramePr>
        <p:xfrm>
          <a:off x="3649663" y="1003300"/>
          <a:ext cx="1390650" cy="1577975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34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個</a:t>
                      </a:r>
                      <a:endParaRPr lang="en-US" altLang="zh-TW" sz="1800" b="0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1800" b="0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十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分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534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圓角矩形 4">
            <a:extLst>
              <a:ext uri="{FF2B5EF4-FFF2-40B4-BE49-F238E27FC236}">
                <a16:creationId xmlns:a16="http://schemas.microsoft.com/office/drawing/2014/main" id="{5B28030E-13E5-3F2C-B317-1197E42B0B34}"/>
              </a:ext>
            </a:extLst>
          </p:cNvPr>
          <p:cNvSpPr/>
          <p:nvPr/>
        </p:nvSpPr>
        <p:spPr>
          <a:xfrm>
            <a:off x="87313" y="1687513"/>
            <a:ext cx="3203575" cy="893762"/>
          </a:xfrm>
          <a:prstGeom prst="round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/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記錄有</a:t>
            </a:r>
            <a:r>
              <a:rPr lang="zh-TW" altLang="en-US" sz="20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的位置</a:t>
            </a:r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叫做</a:t>
            </a:r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「</a:t>
            </a:r>
            <a:r>
              <a:rPr lang="zh-TW" altLang="en-US" sz="2000" b="1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個</a:t>
            </a:r>
            <a:r>
              <a:rPr lang="zh-TW" altLang="en-US" sz="2000" b="1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位</a:t>
            </a:r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」。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B60C2C7F-8F9C-8890-8312-7E37ED7A4315}"/>
              </a:ext>
            </a:extLst>
          </p:cNvPr>
          <p:cNvSpPr/>
          <p:nvPr/>
        </p:nvSpPr>
        <p:spPr>
          <a:xfrm>
            <a:off x="5314950" y="1687513"/>
            <a:ext cx="3794125" cy="893762"/>
          </a:xfrm>
          <a:prstGeom prst="round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/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記錄有</a:t>
            </a:r>
            <a:r>
              <a:rPr lang="zh-TW" altLang="en-US" sz="20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的位置</a:t>
            </a:r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叫做</a:t>
            </a:r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「</a:t>
            </a:r>
            <a:r>
              <a:rPr lang="zh-TW" altLang="en-US" sz="2000" b="1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十分位</a:t>
            </a:r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」。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36079848-31BD-0889-B870-D0C6A91104CC}"/>
              </a:ext>
            </a:extLst>
          </p:cNvPr>
          <p:cNvCxnSpPr/>
          <p:nvPr/>
        </p:nvCxnSpPr>
        <p:spPr>
          <a:xfrm>
            <a:off x="3290888" y="2376488"/>
            <a:ext cx="358775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99B49CC5-53CF-5232-5966-05ACA072CB57}"/>
              </a:ext>
            </a:extLst>
          </p:cNvPr>
          <p:cNvCxnSpPr/>
          <p:nvPr/>
        </p:nvCxnSpPr>
        <p:spPr>
          <a:xfrm flipH="1">
            <a:off x="5040313" y="2376488"/>
            <a:ext cx="274637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>
            <a:extLst>
              <a:ext uri="{FF2B5EF4-FFF2-40B4-BE49-F238E27FC236}">
                <a16:creationId xmlns:a16="http://schemas.microsoft.com/office/drawing/2014/main" id="{A3CC92C3-9DBC-B762-656F-79D27B84FB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663" y="2767013"/>
            <a:ext cx="917575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圓角矩形圖說文字 34">
            <a:extLst>
              <a:ext uri="{FF2B5EF4-FFF2-40B4-BE49-F238E27FC236}">
                <a16:creationId xmlns:a16="http://schemas.microsoft.com/office/drawing/2014/main" id="{7C0EBF31-4954-7FAF-3BCF-913C2987D5DB}"/>
              </a:ext>
            </a:extLst>
          </p:cNvPr>
          <p:cNvSpPr/>
          <p:nvPr/>
        </p:nvSpPr>
        <p:spPr bwMode="auto">
          <a:xfrm>
            <a:off x="452438" y="2959100"/>
            <a:ext cx="6315075" cy="690563"/>
          </a:xfrm>
          <a:prstGeom prst="wedgeRoundRectCallout">
            <a:avLst>
              <a:gd name="adj1" fmla="val 51873"/>
              <a:gd name="adj2" fmla="val -13558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因為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0.1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是     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所以叫做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十分位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36" name="物件 15">
            <a:extLst>
              <a:ext uri="{FF2B5EF4-FFF2-40B4-BE49-F238E27FC236}">
                <a16:creationId xmlns:a16="http://schemas.microsoft.com/office/drawing/2014/main" id="{8C0BEF52-FE89-7E0E-ED01-8F5A0487C3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2363" y="2959100"/>
          <a:ext cx="344487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112" imgH="393529" progId="Equation.DSMT4">
                  <p:embed/>
                </p:oleObj>
              </mc:Choice>
              <mc:Fallback>
                <p:oleObj name="Equation" r:id="rId5" imgW="203112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363" y="2959100"/>
                        <a:ext cx="344487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" name="圖片 3">
            <a:extLst>
              <a:ext uri="{FF2B5EF4-FFF2-40B4-BE49-F238E27FC236}">
                <a16:creationId xmlns:a16="http://schemas.microsoft.com/office/drawing/2014/main" id="{B5F027CD-F4F6-5C01-E13E-D244349742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005263"/>
            <a:ext cx="3651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矩形 45">
            <a:extLst>
              <a:ext uri="{FF2B5EF4-FFF2-40B4-BE49-F238E27FC236}">
                <a16:creationId xmlns:a16="http://schemas.microsoft.com/office/drawing/2014/main" id="{9E956E95-3E73-8FA4-D4CC-DEC7E97BB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3941763"/>
            <a:ext cx="3698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在定位板上記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2.7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F6F2CC23-9DA1-784E-CC6B-1519BAD6B785}"/>
              </a:ext>
            </a:extLst>
          </p:cNvPr>
          <p:cNvGraphicFramePr>
            <a:graphicFrameLocks noGrp="1"/>
          </p:cNvGraphicFramePr>
          <p:nvPr/>
        </p:nvGraphicFramePr>
        <p:xfrm>
          <a:off x="3649663" y="4667250"/>
          <a:ext cx="1390650" cy="1576388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236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  <a:p>
                      <a:pPr algn="ctr"/>
                      <a:endParaRPr lang="en-US" altLang="zh-TW" sz="1800" b="0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04" marB="4570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十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分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04" marB="4570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26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04" marB="45704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04" marB="4570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" name="圓角矩形 39">
            <a:extLst>
              <a:ext uri="{FF2B5EF4-FFF2-40B4-BE49-F238E27FC236}">
                <a16:creationId xmlns:a16="http://schemas.microsoft.com/office/drawing/2014/main" id="{0E9D9E1D-0798-AB8A-60E9-E00B4FE4D529}"/>
              </a:ext>
            </a:extLst>
          </p:cNvPr>
          <p:cNvSpPr/>
          <p:nvPr/>
        </p:nvSpPr>
        <p:spPr>
          <a:xfrm>
            <a:off x="990600" y="5351463"/>
            <a:ext cx="2300288" cy="892175"/>
          </a:xfrm>
          <a:prstGeom prst="round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 </a:t>
            </a: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表示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</a:t>
            </a:r>
            <a:r>
              <a:rPr lang="en-US" altLang="zh-TW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</a:t>
            </a: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記在</a:t>
            </a:r>
            <a:r>
              <a:rPr lang="zh-TW" altLang="en-US" sz="20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個</a:t>
            </a: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位</a:t>
            </a:r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579CB7D1-480F-8E20-5800-E155910140B5}"/>
              </a:ext>
            </a:extLst>
          </p:cNvPr>
          <p:cNvSpPr/>
          <p:nvPr/>
        </p:nvSpPr>
        <p:spPr>
          <a:xfrm>
            <a:off x="5314950" y="5351463"/>
            <a:ext cx="2554288" cy="892175"/>
          </a:xfrm>
          <a:prstGeom prst="round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</a:t>
            </a:r>
            <a:r>
              <a:rPr lang="en-US" altLang="zh-TW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</a:t>
            </a: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表示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</a:t>
            </a:r>
            <a:r>
              <a:rPr lang="en-US" altLang="zh-TW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</a:t>
            </a: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記在十分位</a:t>
            </a:r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2165E176-4651-427E-1933-6D6A7C5016B6}"/>
              </a:ext>
            </a:extLst>
          </p:cNvPr>
          <p:cNvCxnSpPr/>
          <p:nvPr/>
        </p:nvCxnSpPr>
        <p:spPr>
          <a:xfrm>
            <a:off x="3290888" y="6038850"/>
            <a:ext cx="358775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2392803A-41EA-6677-1019-057FA8141681}"/>
              </a:ext>
            </a:extLst>
          </p:cNvPr>
          <p:cNvCxnSpPr/>
          <p:nvPr/>
        </p:nvCxnSpPr>
        <p:spPr>
          <a:xfrm flipH="1">
            <a:off x="5040313" y="6038850"/>
            <a:ext cx="274637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EE63BF34-2CF4-A2A3-D4F2-28134FF8B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6513" y="5748338"/>
            <a:ext cx="1082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kumimoji="1" lang="zh-TW" altLang="en-US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kumimoji="1" lang="en-US" altLang="zh-TW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kumimoji="1" lang="zh-TW" altLang="en-US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kumimoji="1" lang="en-US" altLang="zh-TW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kumimoji="1" lang="zh-TW" altLang="en-US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7" grpId="0" animBg="1"/>
      <p:bldP spid="35" grpId="0" animBg="1"/>
      <p:bldP spid="38" grpId="0"/>
      <p:bldP spid="40" grpId="0" animBg="1"/>
      <p:bldP spid="41" grpId="0" animBg="1"/>
      <p:bldP spid="4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矩形 45">
            <a:extLst>
              <a:ext uri="{FF2B5EF4-FFF2-40B4-BE49-F238E27FC236}">
                <a16:creationId xmlns:a16="http://schemas.microsoft.com/office/drawing/2014/main" id="{FB4E022F-139B-E2C6-ED17-E36836EF1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122238"/>
            <a:ext cx="595471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合起來是多少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在定位板上記記看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9699" name="圖片 4">
            <a:extLst>
              <a:ext uri="{FF2B5EF4-FFF2-40B4-BE49-F238E27FC236}">
                <a16:creationId xmlns:a16="http://schemas.microsoft.com/office/drawing/2014/main" id="{0B084CBC-6411-6525-6F74-5D108ADE3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173038"/>
            <a:ext cx="3619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5D2113DD-8769-259D-EB13-2D63595F3FF3}"/>
              </a:ext>
            </a:extLst>
          </p:cNvPr>
          <p:cNvGraphicFramePr>
            <a:graphicFrameLocks noGrp="1"/>
          </p:cNvGraphicFramePr>
          <p:nvPr/>
        </p:nvGraphicFramePr>
        <p:xfrm>
          <a:off x="3341688" y="1727200"/>
          <a:ext cx="1390650" cy="1577975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34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十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分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534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AB728D87-8651-31C6-06E1-A9D2C6A44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2808288"/>
            <a:ext cx="1082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kumimoji="1" lang="zh-TW" altLang="en-US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kumimoji="1" lang="en-US" altLang="zh-TW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kumimoji="1" lang="zh-TW" altLang="en-US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kumimoji="1" lang="en-US" altLang="zh-TW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kumimoji="1" lang="zh-TW" altLang="en-US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3EDF65C2-FF6F-3384-EABA-56551D6EB9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538" y="2079625"/>
            <a:ext cx="923925" cy="179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圓角矩形圖說文字 18">
            <a:extLst>
              <a:ext uri="{FF2B5EF4-FFF2-40B4-BE49-F238E27FC236}">
                <a16:creationId xmlns:a16="http://schemas.microsoft.com/office/drawing/2014/main" id="{388E8D11-17B4-6A98-A6F0-FEE62F832F6F}"/>
              </a:ext>
            </a:extLst>
          </p:cNvPr>
          <p:cNvSpPr/>
          <p:nvPr/>
        </p:nvSpPr>
        <p:spPr bwMode="auto">
          <a:xfrm>
            <a:off x="5891213" y="804863"/>
            <a:ext cx="3065462" cy="1187450"/>
          </a:xfrm>
          <a:prstGeom prst="wedgeRoundRectCallout">
            <a:avLst>
              <a:gd name="adj1" fmla="val -861"/>
              <a:gd name="adj2" fmla="val 66340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 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</a:p>
          <a:p>
            <a:pPr>
              <a:lnSpc>
                <a:spcPct val="150000"/>
              </a:lnSpc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合起來是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8.3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圖片 1">
            <a:extLst>
              <a:ext uri="{FF2B5EF4-FFF2-40B4-BE49-F238E27FC236}">
                <a16:creationId xmlns:a16="http://schemas.microsoft.com/office/drawing/2014/main" id="{36593EEB-5348-EA06-A4FF-BF941F3F3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矩形 43">
            <a:extLst>
              <a:ext uri="{FF2B5EF4-FFF2-40B4-BE49-F238E27FC236}">
                <a16:creationId xmlns:a16="http://schemas.microsoft.com/office/drawing/2014/main" id="{8E702447-28C0-3BB4-71D1-D55B06879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3" y="714375"/>
            <a:ext cx="69564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在定位板上記記看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並回答問題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0724" name="圖片 2">
            <a:extLst>
              <a:ext uri="{FF2B5EF4-FFF2-40B4-BE49-F238E27FC236}">
                <a16:creationId xmlns:a16="http://schemas.microsoft.com/office/drawing/2014/main" id="{D3CA9C0A-2525-96A8-7F0B-1C4C8536B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1277938"/>
            <a:ext cx="3619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矩形 48">
            <a:extLst>
              <a:ext uri="{FF2B5EF4-FFF2-40B4-BE49-F238E27FC236}">
                <a16:creationId xmlns:a16="http://schemas.microsoft.com/office/drawing/2014/main" id="{6F5B26FB-2C83-6056-4C06-751275E01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75" y="2901950"/>
            <a:ext cx="8645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5.4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 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)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合起來的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D14D7D-FF2A-C713-3B5A-4E6AC4B50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025775"/>
            <a:ext cx="338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BC66637-0E85-F680-B1E0-B993B36A9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301148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728" name="矩形 43">
            <a:extLst>
              <a:ext uri="{FF2B5EF4-FFF2-40B4-BE49-F238E27FC236}">
                <a16:creationId xmlns:a16="http://schemas.microsoft.com/office/drawing/2014/main" id="{3A016A65-ABF9-45A4-27F6-83A800D71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00" y="1216025"/>
            <a:ext cx="568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5.4</a:t>
            </a:r>
            <a:endParaRPr lang="zh-TW" altLang="en-US" sz="24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297052A9-1346-B181-4BD6-139A8BFC78AB}"/>
              </a:ext>
            </a:extLst>
          </p:cNvPr>
          <p:cNvGraphicFramePr>
            <a:graphicFrameLocks noGrp="1"/>
          </p:cNvGraphicFramePr>
          <p:nvPr/>
        </p:nvGraphicFramePr>
        <p:xfrm>
          <a:off x="1247775" y="1263650"/>
          <a:ext cx="1390650" cy="1577975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34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十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分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534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740" name="矩形 48">
            <a:extLst>
              <a:ext uri="{FF2B5EF4-FFF2-40B4-BE49-F238E27FC236}">
                <a16:creationId xmlns:a16="http://schemas.microsoft.com/office/drawing/2014/main" id="{A8BFFF08-4BF4-72FF-F537-5E5C5A5CB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75" y="5432425"/>
            <a:ext cx="8645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3.7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是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 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)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合起來的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0741" name="矩形 43">
            <a:extLst>
              <a:ext uri="{FF2B5EF4-FFF2-40B4-BE49-F238E27FC236}">
                <a16:creationId xmlns:a16="http://schemas.microsoft.com/office/drawing/2014/main" id="{790EE35D-A256-5911-823D-8A9F44057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00" y="3744913"/>
            <a:ext cx="568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3.7</a:t>
            </a:r>
            <a:endParaRPr lang="zh-TW" altLang="en-US" sz="24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B1AECF26-565B-FA72-E4F9-3257E8EDFF49}"/>
              </a:ext>
            </a:extLst>
          </p:cNvPr>
          <p:cNvGraphicFramePr>
            <a:graphicFrameLocks noGrp="1"/>
          </p:cNvGraphicFramePr>
          <p:nvPr/>
        </p:nvGraphicFramePr>
        <p:xfrm>
          <a:off x="1247775" y="3792538"/>
          <a:ext cx="1390650" cy="1577975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34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十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分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534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0753" name="圖片 3">
            <a:extLst>
              <a:ext uri="{FF2B5EF4-FFF2-40B4-BE49-F238E27FC236}">
                <a16:creationId xmlns:a16="http://schemas.microsoft.com/office/drawing/2014/main" id="{91E67A3A-7547-C075-DC07-0933869FEB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3792538"/>
            <a:ext cx="36036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3031EE34-F47C-9AD4-BC82-58B937BDF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988" y="2351088"/>
            <a:ext cx="1031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TW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kumimoji="1" lang="zh-TW" altLang="en-US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kumimoji="1" lang="en-US" altLang="zh-TW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kumimoji="1" lang="zh-TW" altLang="en-US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kumimoji="1" lang="en-US" altLang="zh-TW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kumimoji="1" lang="zh-TW" altLang="en-US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F8D143A-C109-2189-54DB-02A104A84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4850" y="5589588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5DA9EF6-1488-1EF8-BB65-9E9F07FE3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0" y="557530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65F7FD7-C775-DBFE-0AF4-648D45818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4914900"/>
            <a:ext cx="1030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TW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kumimoji="1" lang="zh-TW" altLang="en-US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kumimoji="1" lang="en-US" altLang="zh-TW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kumimoji="1" lang="zh-TW" altLang="en-US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kumimoji="1" lang="en-US" altLang="zh-TW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kumimoji="1" lang="zh-TW" altLang="en-US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7" grpId="0"/>
      <p:bldP spid="29" grpId="0"/>
      <p:bldP spid="30" grpId="0"/>
      <p:bldP spid="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矩形 45">
            <a:extLst>
              <a:ext uri="{FF2B5EF4-FFF2-40B4-BE49-F238E27FC236}">
                <a16:creationId xmlns:a16="http://schemas.microsoft.com/office/drawing/2014/main" id="{D8F101AF-9BCD-8418-896C-9AC6E289E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122238"/>
            <a:ext cx="8570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合起來是多少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在定位板上記記看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4F3D2494-2053-FCE4-D1C8-C0469FB9FC86}"/>
              </a:ext>
            </a:extLst>
          </p:cNvPr>
          <p:cNvGraphicFramePr>
            <a:graphicFrameLocks noGrp="1"/>
          </p:cNvGraphicFramePr>
          <p:nvPr/>
        </p:nvGraphicFramePr>
        <p:xfrm>
          <a:off x="1265238" y="1231900"/>
          <a:ext cx="1390650" cy="1577975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34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十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分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534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6E23B426-79BB-E7F7-3C5D-C1BD4BCDD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2475" y="2312988"/>
            <a:ext cx="5445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endParaRPr kumimoji="1" lang="zh-TW" altLang="en-US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圓角矩形圖說文字 18">
            <a:extLst>
              <a:ext uri="{FF2B5EF4-FFF2-40B4-BE49-F238E27FC236}">
                <a16:creationId xmlns:a16="http://schemas.microsoft.com/office/drawing/2014/main" id="{6CE6E055-4787-A6CD-A1C2-26B2789EADAC}"/>
              </a:ext>
            </a:extLst>
          </p:cNvPr>
          <p:cNvSpPr/>
          <p:nvPr/>
        </p:nvSpPr>
        <p:spPr bwMode="auto">
          <a:xfrm>
            <a:off x="3238500" y="1263650"/>
            <a:ext cx="3771900" cy="1509713"/>
          </a:xfrm>
          <a:prstGeom prst="wedgeRoundRectCallout">
            <a:avLst>
              <a:gd name="adj1" fmla="val 56767"/>
              <a:gd name="adj2" fmla="val -18587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每個位置都只能記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9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呵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！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滿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時要</a:t>
            </a:r>
            <a:r>
              <a:rPr lang="zh-TW" altLang="en-US" sz="2200" dirty="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怎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麼記</a:t>
            </a:r>
            <a:r>
              <a:rPr lang="zh-TW" altLang="en-US" sz="2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zh-TW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45">
            <a:extLst>
              <a:ext uri="{FF2B5EF4-FFF2-40B4-BE49-F238E27FC236}">
                <a16:creationId xmlns:a16="http://schemas.microsoft.com/office/drawing/2014/main" id="{A9F674F6-B788-5C84-92C2-2B93A79EA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620713"/>
            <a:ext cx="6802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下面是</a:t>
            </a:r>
            <a:r>
              <a:rPr lang="zh-TW" altLang="en-US" sz="24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品妍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的記法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這樣記對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嗎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AFC432F-9BEA-8762-E857-7E3E7B732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200" y="1266825"/>
            <a:ext cx="573088" cy="162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45">
            <a:extLst>
              <a:ext uri="{FF2B5EF4-FFF2-40B4-BE49-F238E27FC236}">
                <a16:creationId xmlns:a16="http://schemas.microsoft.com/office/drawing/2014/main" id="{4EDDE417-64BB-02CC-7B2C-9719A9121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2886075"/>
            <a:ext cx="79533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下面是</a:t>
            </a:r>
            <a:r>
              <a:rPr lang="zh-TW" altLang="en-US" sz="24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豆豆</a:t>
            </a: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 sz="24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妙妙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的記法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這兩種記法都可以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嗎</a:t>
            </a:r>
            <a:r>
              <a:rPr lang="zh-TW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189B481-E998-AEBF-73D0-227A1098A5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3744913"/>
            <a:ext cx="73025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37DA36A-13CF-8D07-12DF-DEEE9DBDEE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863" y="3971925"/>
            <a:ext cx="677862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83E6403D-93A2-0B1F-706B-E1CA4E78614B}"/>
              </a:ext>
            </a:extLst>
          </p:cNvPr>
          <p:cNvGraphicFramePr>
            <a:graphicFrameLocks noGrp="1"/>
          </p:cNvGraphicFramePr>
          <p:nvPr/>
        </p:nvGraphicFramePr>
        <p:xfrm>
          <a:off x="2401888" y="3816350"/>
          <a:ext cx="1390650" cy="1577975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34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十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分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534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0E841027-C9B6-72C3-F2B7-A6397A633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4897438"/>
            <a:ext cx="992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kumimoji="1" lang="zh-TW" altLang="en-US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kumimoji="1" lang="en-US" altLang="zh-TW" b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kumimoji="1" lang="zh-TW" altLang="en-US" b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kumimoji="1" lang="en-US" altLang="zh-TW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kumimoji="1" lang="zh-TW" altLang="en-US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BD494BF2-EF30-14BB-1098-105B8BBAC5D7}"/>
              </a:ext>
            </a:extLst>
          </p:cNvPr>
          <p:cNvGraphicFramePr>
            <a:graphicFrameLocks noGrp="1"/>
          </p:cNvGraphicFramePr>
          <p:nvPr/>
        </p:nvGraphicFramePr>
        <p:xfrm>
          <a:off x="5256213" y="3816350"/>
          <a:ext cx="1390650" cy="1577975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34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十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分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534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5CA15058-C91F-1685-8DC1-158004D47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725" y="4897438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kumimoji="1" lang="zh-TW" altLang="en-US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802CDF-FE87-2996-D561-972419379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0" y="4932363"/>
            <a:ext cx="11064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豆豆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D0B468-3C10-FD43-FD82-CB31DBE16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4932363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妙妙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7E8219E-A7A9-B1A5-805F-9D4722CF43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1188" y="5478463"/>
            <a:ext cx="912812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圓角矩形圖說文字 20">
            <a:extLst>
              <a:ext uri="{FF2B5EF4-FFF2-40B4-BE49-F238E27FC236}">
                <a16:creationId xmlns:a16="http://schemas.microsoft.com/office/drawing/2014/main" id="{CBFC309C-9D2A-CFF4-AF54-5A5A7F13BBA5}"/>
              </a:ext>
            </a:extLst>
          </p:cNvPr>
          <p:cNvSpPr/>
          <p:nvPr/>
        </p:nvSpPr>
        <p:spPr bwMode="auto">
          <a:xfrm>
            <a:off x="290513" y="5575300"/>
            <a:ext cx="7820025" cy="1220788"/>
          </a:xfrm>
          <a:prstGeom prst="wedgeRoundRectCallout">
            <a:avLst>
              <a:gd name="adj1" fmla="val 51873"/>
              <a:gd name="adj2" fmla="val -13558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10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個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0.1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是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1.0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也就是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個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</a:t>
            </a:r>
            <a:r>
              <a:rPr lang="zh-TW" altLang="en-US" sz="2400" dirty="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0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個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0.1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合起來的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它</a:t>
            </a:r>
            <a:r>
              <a:rPr lang="zh-TW" altLang="en-US" sz="2400" dirty="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</a:t>
            </a:r>
            <a:r>
              <a:rPr lang="zh-TW" altLang="en-US" sz="2400" dirty="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樣大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所以兩人的記法都可以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1793" name="圖片 5">
            <a:extLst>
              <a:ext uri="{FF2B5EF4-FFF2-40B4-BE49-F238E27FC236}">
                <a16:creationId xmlns:a16="http://schemas.microsoft.com/office/drawing/2014/main" id="{27F5DDAC-1AB9-E8EE-9721-E520486F90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182563"/>
            <a:ext cx="3603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 animBg="1"/>
      <p:bldP spid="9" grpId="0"/>
      <p:bldP spid="11" grpId="0"/>
      <p:bldP spid="15" grpId="0"/>
      <p:bldP spid="20" grpId="0"/>
      <p:bldP spid="6" grpId="0"/>
      <p:bldP spid="7" grpId="0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矩形 2">
            <a:extLst>
              <a:ext uri="{FF2B5EF4-FFF2-40B4-BE49-F238E27FC236}">
                <a16:creationId xmlns:a16="http://schemas.microsoft.com/office/drawing/2014/main" id="{2AC05A1B-699B-5D33-053B-B830A57E2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55563"/>
            <a:ext cx="4224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盒冰棒有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10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枝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2771" name="矩形 45">
            <a:extLst>
              <a:ext uri="{FF2B5EF4-FFF2-40B4-BE49-F238E27FC236}">
                <a16:creationId xmlns:a16="http://schemas.microsoft.com/office/drawing/2014/main" id="{F3C094DD-24EB-C86B-9B77-09C753FCF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" y="523875"/>
            <a:ext cx="8601075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班上同樂會吃掉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32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枝冰棒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是吃了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盒冰棒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在定位板上記記看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D9107708-4F42-EF21-1B59-9CFEA59385E4}"/>
              </a:ext>
            </a:extLst>
          </p:cNvPr>
          <p:cNvGraphicFramePr>
            <a:graphicFrameLocks noGrp="1"/>
          </p:cNvGraphicFramePr>
          <p:nvPr/>
        </p:nvGraphicFramePr>
        <p:xfrm>
          <a:off x="3624263" y="2120900"/>
          <a:ext cx="1390650" cy="1576388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236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04" marB="4570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十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分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04" marB="4570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26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04" marB="45704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04" marB="4570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2783" name="圖片 7">
            <a:extLst>
              <a:ext uri="{FF2B5EF4-FFF2-40B4-BE49-F238E27FC236}">
                <a16:creationId xmlns:a16="http://schemas.microsoft.com/office/drawing/2014/main" id="{3A760F29-15F7-876D-4946-7E663D536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65088"/>
            <a:ext cx="4540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A6BBDD37-8921-153C-A98B-B7571A429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788" y="985838"/>
            <a:ext cx="8778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3.2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B90357E-991B-07F9-FCDD-23FC4C15E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2688" y="3213100"/>
            <a:ext cx="1184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TW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kumimoji="1" lang="zh-TW" altLang="en-US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</a:t>
            </a:r>
            <a:r>
              <a:rPr kumimoji="1" lang="en-US" altLang="zh-TW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kumimoji="1" lang="zh-TW" altLang="en-US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</a:t>
            </a:r>
            <a:r>
              <a:rPr kumimoji="1" lang="en-US" altLang="zh-TW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kumimoji="1" lang="zh-TW" altLang="en-US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圖片 1">
            <a:extLst>
              <a:ext uri="{FF2B5EF4-FFF2-40B4-BE49-F238E27FC236}">
                <a16:creationId xmlns:a16="http://schemas.microsoft.com/office/drawing/2014/main" id="{621E1715-00AC-3455-3B93-FB6529A1E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矩形 43">
            <a:extLst>
              <a:ext uri="{FF2B5EF4-FFF2-40B4-BE49-F238E27FC236}">
                <a16:creationId xmlns:a16="http://schemas.microsoft.com/office/drawing/2014/main" id="{210852F6-B1F6-1526-8F90-5CC0B2FA3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3" y="714375"/>
            <a:ext cx="6557962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16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合起來是多少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在定位板上記記看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7C859DE4-02C5-B72E-548E-5A7C6A89EF24}"/>
              </a:ext>
            </a:extLst>
          </p:cNvPr>
          <p:cNvGraphicFramePr>
            <a:graphicFrameLocks noGrp="1"/>
          </p:cNvGraphicFramePr>
          <p:nvPr/>
        </p:nvGraphicFramePr>
        <p:xfrm>
          <a:off x="3770313" y="1870075"/>
          <a:ext cx="1390650" cy="1577975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34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十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分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534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50" marB="457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" name="矩形 30">
            <a:extLst>
              <a:ext uri="{FF2B5EF4-FFF2-40B4-BE49-F238E27FC236}">
                <a16:creationId xmlns:a16="http://schemas.microsoft.com/office/drawing/2014/main" id="{6BA408F5-F178-AD97-9217-60EBEB82E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463" y="2990850"/>
            <a:ext cx="1031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TW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kumimoji="1" lang="zh-TW" altLang="en-US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kumimoji="1" lang="en-US" altLang="zh-TW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kumimoji="1" lang="zh-TW" altLang="en-US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kumimoji="1" lang="en-US" altLang="zh-TW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kumimoji="1" lang="zh-TW" altLang="en-US" sz="2400" b="1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C485CE-BD7C-1C97-72D3-D415B82A5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763" y="773113"/>
            <a:ext cx="569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5.6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標題 1">
            <a:extLst>
              <a:ext uri="{FF2B5EF4-FFF2-40B4-BE49-F238E27FC236}">
                <a16:creationId xmlns:a16="http://schemas.microsoft.com/office/drawing/2014/main" id="{0E3EB394-7B0B-DBBD-D3F7-D93DBF24FBCA}"/>
              </a:ext>
            </a:extLst>
          </p:cNvPr>
          <p:cNvSpPr txBox="1">
            <a:spLocks/>
          </p:cNvSpPr>
          <p:nvPr/>
        </p:nvSpPr>
        <p:spPr bwMode="auto">
          <a:xfrm>
            <a:off x="742950" y="3656013"/>
            <a:ext cx="7886700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第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5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單元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小數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活動３ 小數的大小比較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圖片 1">
            <a:extLst>
              <a:ext uri="{FF2B5EF4-FFF2-40B4-BE49-F238E27FC236}">
                <a16:creationId xmlns:a16="http://schemas.microsoft.com/office/drawing/2014/main" id="{6A6B9713-0E71-C43C-5EFD-3E2E41033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038"/>
            <a:ext cx="45085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矩形 2">
            <a:extLst>
              <a:ext uri="{FF2B5EF4-FFF2-40B4-BE49-F238E27FC236}">
                <a16:creationId xmlns:a16="http://schemas.microsoft.com/office/drawing/2014/main" id="{2B5F56E8-EA54-800A-A9DE-F917E0999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0"/>
            <a:ext cx="8853487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兩個杯子</a:t>
            </a:r>
            <a:r>
              <a:rPr lang="zh-TW" altLang="en-US" sz="26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樣大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TW" altLang="en-US" sz="26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宥希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喝了</a:t>
            </a:r>
            <a:r>
              <a:rPr lang="en-US" altLang="zh-TW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0.4 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杯果汁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詠安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喝了</a:t>
            </a:r>
            <a:r>
              <a:rPr lang="en-US" altLang="zh-TW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0.6 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杯果汁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誰喝的果汁比較多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23557" name="矩形 45">
            <a:extLst>
              <a:ext uri="{FF2B5EF4-FFF2-40B4-BE49-F238E27FC236}">
                <a16:creationId xmlns:a16="http://schemas.microsoft.com/office/drawing/2014/main" id="{9686D320-7006-95F4-F8B6-4993D986E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4200525"/>
            <a:ext cx="8751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0.4 </a:t>
            </a: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0.6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哪</a:t>
            </a:r>
            <a:r>
              <a:rPr lang="zh-TW" altLang="en-US" sz="26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個數比較大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用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或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記記看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TW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44DDB5C-F6D0-239B-B6F6-3C4195D312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882775"/>
            <a:ext cx="2879725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C5D1C495-CD0C-EC9B-9A72-422C57ECE8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9038" y="2133600"/>
            <a:ext cx="1147762" cy="155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EE7E803-9904-9F6A-8C2B-08AD5E231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3052763"/>
            <a:ext cx="7048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0.4</a:t>
            </a:r>
            <a:r>
              <a:rPr lang="zh-TW" altLang="en-US" sz="18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杯</a:t>
            </a:r>
            <a:endParaRPr lang="zh-TW" altLang="en-US" sz="1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F663E7-C303-A478-7362-CADD96B12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9850" y="3054350"/>
            <a:ext cx="703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0.6</a:t>
            </a:r>
            <a:r>
              <a:rPr lang="zh-TW" altLang="en-US" sz="18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杯</a:t>
            </a:r>
          </a:p>
        </p:txBody>
      </p:sp>
      <p:sp>
        <p:nvSpPr>
          <p:cNvPr id="22" name="圓角矩形圖說文字 21">
            <a:extLst>
              <a:ext uri="{FF2B5EF4-FFF2-40B4-BE49-F238E27FC236}">
                <a16:creationId xmlns:a16="http://schemas.microsoft.com/office/drawing/2014/main" id="{0543D815-5206-BE8A-CB05-CCBA17D4E318}"/>
              </a:ext>
            </a:extLst>
          </p:cNvPr>
          <p:cNvSpPr/>
          <p:nvPr/>
        </p:nvSpPr>
        <p:spPr bwMode="auto">
          <a:xfrm>
            <a:off x="3679825" y="2254250"/>
            <a:ext cx="3492500" cy="1287463"/>
          </a:xfrm>
          <a:prstGeom prst="wedgeRoundRectCallout">
            <a:avLst>
              <a:gd name="adj1" fmla="val 56767"/>
              <a:gd name="adj2" fmla="val -18587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0.4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0.6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所以</a:t>
            </a:r>
            <a:r>
              <a:rPr lang="en-US" altLang="zh-TW" sz="2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endParaRPr lang="zh-TW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F3149A6-9BDC-C60B-5CCF-DCA96BC95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5950" y="795338"/>
            <a:ext cx="801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詠安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10839A8-B167-683C-2B1C-57D7D4045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4724400"/>
            <a:ext cx="568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0.6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AC0195-3337-469C-4F04-220B5EA51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4725" y="4724400"/>
            <a:ext cx="17256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0.4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＜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0.6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0.6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＞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0.4)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9" grpId="0"/>
      <p:bldP spid="10" grpId="0"/>
      <p:bldP spid="22" grpId="0" animBg="1"/>
      <p:bldP spid="23" grpId="0"/>
      <p:bldP spid="24" grpId="0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矩形 2">
            <a:extLst>
              <a:ext uri="{FF2B5EF4-FFF2-40B4-BE49-F238E27FC236}">
                <a16:creationId xmlns:a16="http://schemas.microsoft.com/office/drawing/2014/main" id="{4C9D4F75-6BEF-64A5-8573-0A307B9DB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0"/>
            <a:ext cx="860425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盒鳳梨酥有</a:t>
            </a:r>
            <a:r>
              <a:rPr lang="en-US" altLang="zh-TW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甲班吃了</a:t>
            </a:r>
            <a:r>
              <a:rPr lang="en-US" altLang="zh-TW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2.7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盒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乙班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吃了</a:t>
            </a:r>
            <a:r>
              <a:rPr lang="en-US" altLang="zh-TW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3 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盒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哪</a:t>
            </a:r>
            <a:r>
              <a:rPr lang="zh-TW" altLang="en-US" sz="26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班吃的比較多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23557" name="矩形 45">
            <a:extLst>
              <a:ext uri="{FF2B5EF4-FFF2-40B4-BE49-F238E27FC236}">
                <a16:creationId xmlns:a16="http://schemas.microsoft.com/office/drawing/2014/main" id="{AF89D326-E379-ABB5-5B97-9F0FB1FC7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3" y="3063875"/>
            <a:ext cx="8353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2.7 </a:t>
            </a: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哪</a:t>
            </a:r>
            <a:r>
              <a:rPr lang="zh-TW" altLang="en-US" sz="26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個數比較大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用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或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記記看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TW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B63DEE-F1A9-9A89-F8C0-7E8EF55E0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263" y="2144713"/>
            <a:ext cx="7604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2.7</a:t>
            </a:r>
            <a:r>
              <a:rPr lang="zh-TW" altLang="en-US" sz="20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盒</a:t>
            </a:r>
            <a:endParaRPr lang="zh-TW" altLang="en-US" sz="2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77FEC7-F68C-7286-255A-3B5A9CFBE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0513" y="2144713"/>
            <a:ext cx="568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盒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62204F6-7583-8F84-C707-3F5CF5184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8788" y="482600"/>
            <a:ext cx="800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乙班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50435D-18AA-69F9-2544-A776AED7F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563" y="3548063"/>
            <a:ext cx="3381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8297B-47B1-D605-3B18-E02E08B15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063" y="3587750"/>
            <a:ext cx="17478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2.7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＜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＞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2.7)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6873" name="圖片 2">
            <a:extLst>
              <a:ext uri="{FF2B5EF4-FFF2-40B4-BE49-F238E27FC236}">
                <a16:creationId xmlns:a16="http://schemas.microsoft.com/office/drawing/2014/main" id="{4362369A-0C0F-4460-2B8D-DADE7E1FA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98425"/>
            <a:ext cx="45720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DEBA855B-1DC1-7886-75D5-65B585F6B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473200"/>
            <a:ext cx="42354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B681F98-9BF2-9A42-A949-07FF36670D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13" y="1438275"/>
            <a:ext cx="4251325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9" grpId="0"/>
      <p:bldP spid="10" grpId="0"/>
      <p:bldP spid="23" grpId="0"/>
      <p:bldP spid="24" grpId="0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矩形 2">
            <a:extLst>
              <a:ext uri="{FF2B5EF4-FFF2-40B4-BE49-F238E27FC236}">
                <a16:creationId xmlns:a16="http://schemas.microsoft.com/office/drawing/2014/main" id="{41745E97-5D7E-B231-F123-DECE11551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0"/>
            <a:ext cx="75199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哪</a:t>
            </a:r>
            <a:r>
              <a:rPr lang="zh-TW" altLang="en-US" sz="26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個數比較大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用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＞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或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記記看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7891" name="圖片 6">
            <a:extLst>
              <a:ext uri="{FF2B5EF4-FFF2-40B4-BE49-F238E27FC236}">
                <a16:creationId xmlns:a16="http://schemas.microsoft.com/office/drawing/2014/main" id="{71CF29F9-4B1C-8C13-F6AE-0976A7A1E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" y="39688"/>
            <a:ext cx="458788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A9CA1C9B-09D9-C7E0-66DD-C33E7AC8EED9}"/>
              </a:ext>
            </a:extLst>
          </p:cNvPr>
          <p:cNvGraphicFramePr>
            <a:graphicFrameLocks noGrp="1"/>
          </p:cNvGraphicFramePr>
          <p:nvPr/>
        </p:nvGraphicFramePr>
        <p:xfrm>
          <a:off x="1071563" y="1376363"/>
          <a:ext cx="1390650" cy="2085975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949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74" marB="4577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十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分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74" marB="4577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239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74" marB="4577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74" marB="4577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239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74" marB="4577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74" marB="4577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906" name="矩形 2">
            <a:extLst>
              <a:ext uri="{FF2B5EF4-FFF2-40B4-BE49-F238E27FC236}">
                <a16:creationId xmlns:a16="http://schemas.microsoft.com/office/drawing/2014/main" id="{98361E18-5B86-60C0-1200-C4EFE2B11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619125"/>
            <a:ext cx="201771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6.9            7.2</a:t>
            </a:r>
            <a:endParaRPr lang="zh-TW" altLang="en-US" sz="26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pic>
        <p:nvPicPr>
          <p:cNvPr id="37907" name="圖片 3">
            <a:extLst>
              <a:ext uri="{FF2B5EF4-FFF2-40B4-BE49-F238E27FC236}">
                <a16:creationId xmlns:a16="http://schemas.microsoft.com/office/drawing/2014/main" id="{476B995B-27DC-076A-2D4A-DFBA6EDC1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681038"/>
            <a:ext cx="3651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8" name="圖片 4">
            <a:extLst>
              <a:ext uri="{FF2B5EF4-FFF2-40B4-BE49-F238E27FC236}">
                <a16:creationId xmlns:a16="http://schemas.microsoft.com/office/drawing/2014/main" id="{6FFB0D15-DC0D-A925-CC5A-6851C9DD05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3" y="3854450"/>
            <a:ext cx="3619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9" name="Picture 3">
            <a:extLst>
              <a:ext uri="{FF2B5EF4-FFF2-40B4-BE49-F238E27FC236}">
                <a16:creationId xmlns:a16="http://schemas.microsoft.com/office/drawing/2014/main" id="{260FA846-7145-776C-8EC3-93D3D2476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550863"/>
            <a:ext cx="720725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528C4514-423E-8867-C6C5-902ABD453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0363" y="604838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＜</a:t>
            </a:r>
          </a:p>
        </p:txBody>
      </p:sp>
      <p:sp>
        <p:nvSpPr>
          <p:cNvPr id="37911" name="矩形 2">
            <a:extLst>
              <a:ext uri="{FF2B5EF4-FFF2-40B4-BE49-F238E27FC236}">
                <a16:creationId xmlns:a16="http://schemas.microsoft.com/office/drawing/2014/main" id="{11A445C3-D1F5-0DA5-AAF5-610DA613A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25" y="3776663"/>
            <a:ext cx="20193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8.7            8.3</a:t>
            </a:r>
            <a:endParaRPr lang="zh-TW" altLang="en-US" sz="26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pic>
        <p:nvPicPr>
          <p:cNvPr id="37912" name="Picture 3">
            <a:extLst>
              <a:ext uri="{FF2B5EF4-FFF2-40B4-BE49-F238E27FC236}">
                <a16:creationId xmlns:a16="http://schemas.microsoft.com/office/drawing/2014/main" id="{2BBB0759-4C5D-7290-CBE8-D178D8989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663" y="3708400"/>
            <a:ext cx="720725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9C9944E5-AF89-A177-CB14-6DCC5532A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0" y="3762375"/>
            <a:ext cx="5445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＞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0A349F-C809-0D82-4A51-161D93774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288" y="2473325"/>
            <a:ext cx="992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6  .  9</a:t>
            </a:r>
            <a:endParaRPr lang="zh-TW" altLang="en-US" b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B9E924-D4D8-CA18-1275-121C21CFD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2986088"/>
            <a:ext cx="993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b="1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7  .  2</a:t>
            </a:r>
            <a:endParaRPr lang="zh-TW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95BF7BC1-3DD6-5632-9D37-C8D94A6BCCB7}"/>
              </a:ext>
            </a:extLst>
          </p:cNvPr>
          <p:cNvSpPr/>
          <p:nvPr/>
        </p:nvSpPr>
        <p:spPr>
          <a:xfrm>
            <a:off x="2635250" y="2465388"/>
            <a:ext cx="3432175" cy="987425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先比</a:t>
            </a:r>
            <a:r>
              <a:rPr lang="zh-TW" altLang="en-US" sz="2400" dirty="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位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＜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所以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endParaRPr lang="zh-TW" altLang="en-US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426B998F-CCE8-57FC-7939-7CA1D54979DF}"/>
              </a:ext>
            </a:extLst>
          </p:cNvPr>
          <p:cNvGraphicFramePr>
            <a:graphicFrameLocks noGrp="1"/>
          </p:cNvGraphicFramePr>
          <p:nvPr/>
        </p:nvGraphicFramePr>
        <p:xfrm>
          <a:off x="1096963" y="4530725"/>
          <a:ext cx="1390650" cy="2085975"/>
        </p:xfrm>
        <a:graphic>
          <a:graphicData uri="http://schemas.openxmlformats.org/drawingml/2006/table">
            <a:tbl>
              <a:tblPr firstRow="1" bandRow="1">
                <a:tableStyleId>{5EF00A0C-396C-4BD8-A62D-F509AEB4C581}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949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74" marB="4577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十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分</a:t>
                      </a:r>
                    </a:p>
                    <a:p>
                      <a:pPr algn="ctr"/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74" marB="4577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239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74" marB="4577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74" marB="4577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239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74" marB="45774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1475" marR="91475" marT="45774" marB="4577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矩形 31">
            <a:extLst>
              <a:ext uri="{FF2B5EF4-FFF2-40B4-BE49-F238E27FC236}">
                <a16:creationId xmlns:a16="http://schemas.microsoft.com/office/drawing/2014/main" id="{37C037BA-253D-F2A5-5C82-9496EC580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100" y="5627688"/>
            <a:ext cx="992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8  .  7</a:t>
            </a:r>
            <a:endParaRPr lang="zh-TW" altLang="en-US" b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515AF86-BE0F-A2F4-FC9B-986C19DC5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0163" y="6140450"/>
            <a:ext cx="992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b="1">
                <a:solidFill>
                  <a:srgbClr val="00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8  .  3</a:t>
            </a:r>
            <a:endParaRPr lang="zh-TW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3C37B305-0796-6CCF-81EB-D5D6F1712524}"/>
              </a:ext>
            </a:extLst>
          </p:cNvPr>
          <p:cNvSpPr/>
          <p:nvPr/>
        </p:nvSpPr>
        <p:spPr>
          <a:xfrm>
            <a:off x="2659063" y="5314950"/>
            <a:ext cx="4040187" cy="1292225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先比</a:t>
            </a:r>
            <a:r>
              <a:rPr lang="zh-TW" altLang="en-US" sz="2400" dirty="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位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再比十分位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＞ 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所以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endParaRPr lang="zh-TW" altLang="en-US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7" grpId="0"/>
      <p:bldP spid="3" grpId="0"/>
      <p:bldP spid="4" grpId="0"/>
      <p:bldP spid="6" grpId="0" animBg="1"/>
      <p:bldP spid="32" grpId="0"/>
      <p:bldP spid="33" grpId="0"/>
      <p:bldP spid="3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43">
            <a:extLst>
              <a:ext uri="{FF2B5EF4-FFF2-40B4-BE49-F238E27FC236}">
                <a16:creationId xmlns:a16="http://schemas.microsoft.com/office/drawing/2014/main" id="{4C1F8342-4EAC-35EE-298D-3F4DC162E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3" y="714375"/>
            <a:ext cx="902493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有</a:t>
            </a:r>
            <a:r>
              <a:rPr lang="zh-TW" altLang="en-US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個限高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公尺的地下道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下面的車子能通過的打</a:t>
            </a:r>
            <a:r>
              <a:rPr lang="en-US" altLang="zh-TW">
                <a:solidFill>
                  <a:srgbClr val="000000"/>
                </a:solidFill>
                <a:latin typeface="Wingdings 2" panose="05020102010507070707" pitchFamily="18" charset="2"/>
                <a:ea typeface="書法中楷（注音一）" panose="02010609010101010101" pitchFamily="49" charset="-120"/>
              </a:rPr>
              <a:t>P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38915" name="圖片 29">
            <a:extLst>
              <a:ext uri="{FF2B5EF4-FFF2-40B4-BE49-F238E27FC236}">
                <a16:creationId xmlns:a16="http://schemas.microsoft.com/office/drawing/2014/main" id="{BBC10EE4-999F-7898-5171-68EF87285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25413"/>
            <a:ext cx="871378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6" name="圖片 1">
            <a:extLst>
              <a:ext uri="{FF2B5EF4-FFF2-40B4-BE49-F238E27FC236}">
                <a16:creationId xmlns:a16="http://schemas.microsoft.com/office/drawing/2014/main" id="{490047FC-0CCB-24F8-0F2D-7CC8DB779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3008313"/>
            <a:ext cx="8112125" cy="384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矩形 43">
            <a:extLst>
              <a:ext uri="{FF2B5EF4-FFF2-40B4-BE49-F238E27FC236}">
                <a16:creationId xmlns:a16="http://schemas.microsoft.com/office/drawing/2014/main" id="{B0EAE160-DBC7-1E5A-AF89-8B13AD4CF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1731963"/>
            <a:ext cx="9040813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 )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高度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2.8 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公尺的車子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 )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高度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3.2 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公尺的車子</a:t>
            </a:r>
            <a:endParaRPr lang="zh-TW" altLang="en-US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DF4ACD-3333-B422-12D6-ABB9C61E3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1782763"/>
            <a:ext cx="46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8388A"/>
                </a:solidFill>
                <a:latin typeface="Wingdings 2" panose="05020102010507070707" pitchFamily="18" charset="2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P</a:t>
            </a:r>
            <a:endParaRPr lang="zh-TW" altLang="en-US">
              <a:solidFill>
                <a:srgbClr val="F8388A"/>
              </a:solidFill>
              <a:latin typeface="Wingdings 2" panose="05020102010507070707" pitchFamily="18" charset="2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標題 1">
            <a:extLst>
              <a:ext uri="{FF2B5EF4-FFF2-40B4-BE49-F238E27FC236}">
                <a16:creationId xmlns:a16="http://schemas.microsoft.com/office/drawing/2014/main" id="{C91BF2AB-345C-0A4A-EDA3-99BC5AEFF957}"/>
              </a:ext>
            </a:extLst>
          </p:cNvPr>
          <p:cNvSpPr txBox="1">
            <a:spLocks/>
          </p:cNvSpPr>
          <p:nvPr/>
        </p:nvSpPr>
        <p:spPr bwMode="auto">
          <a:xfrm>
            <a:off x="742950" y="3656013"/>
            <a:ext cx="7886700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第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5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單元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小數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活動４ 小數的加減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圖片 1">
            <a:extLst>
              <a:ext uri="{FF2B5EF4-FFF2-40B4-BE49-F238E27FC236}">
                <a16:creationId xmlns:a16="http://schemas.microsoft.com/office/drawing/2014/main" id="{470D1960-7D56-004D-2CF7-C0E855314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0"/>
            <a:ext cx="2686050" cy="203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3" name="圖片 1">
            <a:extLst>
              <a:ext uri="{FF2B5EF4-FFF2-40B4-BE49-F238E27FC236}">
                <a16:creationId xmlns:a16="http://schemas.microsoft.com/office/drawing/2014/main" id="{2A9190E5-6B81-1202-A319-14B9C194D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038"/>
            <a:ext cx="45085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矩形 2">
            <a:extLst>
              <a:ext uri="{FF2B5EF4-FFF2-40B4-BE49-F238E27FC236}">
                <a16:creationId xmlns:a16="http://schemas.microsoft.com/office/drawing/2014/main" id="{CAC09143-A03E-5FD9-5ED7-1E2D77BF0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0"/>
            <a:ext cx="635317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哥</a:t>
            </a:r>
            <a:r>
              <a:rPr lang="zh-TW" altLang="en-US" sz="26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哥</a:t>
            </a:r>
            <a:r>
              <a:rPr lang="zh-TW" altLang="en-US" sz="26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弟</a:t>
            </a:r>
            <a:r>
              <a:rPr lang="zh-TW" altLang="en-US" sz="26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弟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共有</a:t>
            </a:r>
            <a:r>
              <a:rPr lang="en-US" altLang="zh-TW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條巧克力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把它平分成</a:t>
            </a:r>
            <a:r>
              <a:rPr lang="en-US" altLang="zh-TW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10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等</a:t>
            </a:r>
            <a:r>
              <a:rPr lang="zh-TW" altLang="en-US" sz="26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分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129A82-B25E-A787-57DA-A916FDD98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1801813"/>
            <a:ext cx="26209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0.4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0.3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          )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966" name="矩形 2">
            <a:extLst>
              <a:ext uri="{FF2B5EF4-FFF2-40B4-BE49-F238E27FC236}">
                <a16:creationId xmlns:a16="http://schemas.microsoft.com/office/drawing/2014/main" id="{E1939E32-57D7-2999-72BF-0F04DE729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914400"/>
            <a:ext cx="5827712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哥</a:t>
            </a:r>
            <a:r>
              <a:rPr lang="zh-TW" altLang="en-US" sz="22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哥</a:t>
            </a: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吃了</a:t>
            </a:r>
            <a:r>
              <a:rPr lang="en-US" altLang="zh-TW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0.4 </a:t>
            </a: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</a:t>
            </a:r>
            <a:r>
              <a:rPr lang="zh-TW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弟</a:t>
            </a:r>
            <a:r>
              <a:rPr lang="zh-TW" altLang="en-US" sz="22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弟</a:t>
            </a: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吃了</a:t>
            </a:r>
            <a:r>
              <a:rPr lang="en-US" altLang="zh-TW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0.3 </a:t>
            </a: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條</a:t>
            </a:r>
            <a:r>
              <a:rPr lang="zh-TW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兩人共吃了</a:t>
            </a:r>
            <a:r>
              <a:rPr lang="zh-TW" altLang="en-US" sz="22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條巧克力</a:t>
            </a:r>
            <a:r>
              <a:rPr lang="zh-TW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D50C195-3FA0-68E8-8F35-16E03FB48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100" y="1885950"/>
            <a:ext cx="3367088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2">
            <a:extLst>
              <a:ext uri="{FF2B5EF4-FFF2-40B4-BE49-F238E27FC236}">
                <a16:creationId xmlns:a16="http://schemas.microsoft.com/office/drawing/2014/main" id="{C91A4F67-DF04-1A75-A679-76395A236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263" y="1603375"/>
            <a:ext cx="8905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0.4</a:t>
            </a:r>
            <a:r>
              <a:rPr lang="zh-TW" altLang="en-US" sz="20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</a:t>
            </a:r>
            <a:endParaRPr lang="zh-TW" altLang="en-US" sz="20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17" name="矩形 2">
            <a:extLst>
              <a:ext uri="{FF2B5EF4-FFF2-40B4-BE49-F238E27FC236}">
                <a16:creationId xmlns:a16="http://schemas.microsoft.com/office/drawing/2014/main" id="{17B4D3D5-49C2-3CDC-AC87-E5831C7D1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600" y="1593850"/>
            <a:ext cx="889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0.3</a:t>
            </a:r>
            <a:r>
              <a:rPr lang="zh-TW" altLang="en-US" sz="20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</a:t>
            </a:r>
            <a:endParaRPr lang="zh-TW" altLang="en-US" sz="2000"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6C7204B-F92F-53AF-FA4E-62E7B21D11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24125"/>
            <a:ext cx="4916488" cy="171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8A542F5-05B6-8B52-7C02-52ACAA2263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600" y="2581275"/>
            <a:ext cx="3984625" cy="171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2">
            <a:extLst>
              <a:ext uri="{FF2B5EF4-FFF2-40B4-BE49-F238E27FC236}">
                <a16:creationId xmlns:a16="http://schemas.microsoft.com/office/drawing/2014/main" id="{CCF87174-BFFF-633F-B479-3798CD92E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2679700"/>
            <a:ext cx="5184775" cy="152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ts val="28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    ，</a:t>
            </a:r>
            <a:endParaRPr lang="en-US" altLang="zh-TW" sz="200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spcBef>
                <a:spcPct val="0"/>
              </a:spcBef>
              <a:buFontTx/>
              <a:buNone/>
            </a:pPr>
            <a:endParaRPr lang="en-US" altLang="zh-TW" sz="200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spcBef>
                <a:spcPct val="0"/>
              </a:spcBef>
              <a:buFontTx/>
              <a:buNone/>
            </a:pPr>
            <a:endParaRPr lang="en-US" altLang="zh-TW" sz="200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 sz="20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</a:t>
            </a:r>
            <a:r>
              <a:rPr lang="zh-TW" altLang="en-US" sz="20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0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所以兩人共吃了</a:t>
            </a:r>
            <a:r>
              <a:rPr lang="en-US" altLang="zh-TW" sz="20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endParaRPr lang="zh-TW" altLang="en-US" sz="20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0" name="物件 15">
            <a:extLst>
              <a:ext uri="{FF2B5EF4-FFF2-40B4-BE49-F238E27FC236}">
                <a16:creationId xmlns:a16="http://schemas.microsoft.com/office/drawing/2014/main" id="{9BCCBC6A-9E48-9974-7D29-3C83A2554E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525" y="2632075"/>
          <a:ext cx="75406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45863" imgH="393529" progId="Equation.DSMT4">
                  <p:embed/>
                </p:oleObj>
              </mc:Choice>
              <mc:Fallback>
                <p:oleObj name="Equation" r:id="rId7" imgW="545863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2632075"/>
                        <a:ext cx="75406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物件 15">
            <a:extLst>
              <a:ext uri="{FF2B5EF4-FFF2-40B4-BE49-F238E27FC236}">
                <a16:creationId xmlns:a16="http://schemas.microsoft.com/office/drawing/2014/main" id="{1E4C59EB-8A62-1423-B0EE-6F687BA5B1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6875" y="2647950"/>
          <a:ext cx="75406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45863" imgH="393529" progId="Equation.DSMT4">
                  <p:embed/>
                </p:oleObj>
              </mc:Choice>
              <mc:Fallback>
                <p:oleObj name="Equation" r:id="rId9" imgW="545863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75" y="2647950"/>
                        <a:ext cx="75406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物件 15">
            <a:extLst>
              <a:ext uri="{FF2B5EF4-FFF2-40B4-BE49-F238E27FC236}">
                <a16:creationId xmlns:a16="http://schemas.microsoft.com/office/drawing/2014/main" id="{B319B200-8F6F-2981-A526-072B8606FD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650" y="3149600"/>
          <a:ext cx="106838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74364" imgH="393529" progId="Equation.DSMT4">
                  <p:embed/>
                </p:oleObj>
              </mc:Choice>
              <mc:Fallback>
                <p:oleObj name="Equation" r:id="rId11" imgW="774364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3149600"/>
                        <a:ext cx="1068388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物件 15">
            <a:extLst>
              <a:ext uri="{FF2B5EF4-FFF2-40B4-BE49-F238E27FC236}">
                <a16:creationId xmlns:a16="http://schemas.microsoft.com/office/drawing/2014/main" id="{90F1E66B-9900-98D8-C31D-8F8D9A3D05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6588" y="3679825"/>
          <a:ext cx="7381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33169" imgH="393529" progId="Equation.DSMT4">
                  <p:embed/>
                </p:oleObj>
              </mc:Choice>
              <mc:Fallback>
                <p:oleObj name="Equation" r:id="rId13" imgW="533169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8" y="3679825"/>
                        <a:ext cx="73818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">
            <a:extLst>
              <a:ext uri="{FF2B5EF4-FFF2-40B4-BE49-F238E27FC236}">
                <a16:creationId xmlns:a16="http://schemas.microsoft.com/office/drawing/2014/main" id="{27B96685-71FD-CDE0-53B3-187515C05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0075" y="2711450"/>
            <a:ext cx="3463925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ts val="28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0.4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條是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ts val="28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0.3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條是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0.1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ts val="28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合起來是</a:t>
            </a:r>
            <a:r>
              <a:rPr lang="en-US" altLang="zh-TW" sz="20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endParaRPr lang="zh-TW" altLang="en-US" sz="20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978" name="矩形 2">
            <a:extLst>
              <a:ext uri="{FF2B5EF4-FFF2-40B4-BE49-F238E27FC236}">
                <a16:creationId xmlns:a16="http://schemas.microsoft.com/office/drawing/2014/main" id="{368C7213-CF8C-2B19-3F4B-6FA55611F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6316663"/>
            <a:ext cx="2397125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2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    </a:t>
            </a:r>
          </a:p>
        </p:txBody>
      </p:sp>
      <p:sp>
        <p:nvSpPr>
          <p:cNvPr id="31" name="矩形 2">
            <a:extLst>
              <a:ext uri="{FF2B5EF4-FFF2-40B4-BE49-F238E27FC236}">
                <a16:creationId xmlns:a16="http://schemas.microsoft.com/office/drawing/2014/main" id="{218E4BA3-9B45-DCDE-06E3-8249F63EA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4354513"/>
            <a:ext cx="303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用直式算算看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F18DFF6-D4FA-4695-6A90-293A0B10EA86}"/>
              </a:ext>
            </a:extLst>
          </p:cNvPr>
          <p:cNvSpPr txBox="1"/>
          <p:nvPr/>
        </p:nvSpPr>
        <p:spPr>
          <a:xfrm>
            <a:off x="958850" y="4797425"/>
            <a:ext cx="738188" cy="809625"/>
          </a:xfrm>
          <a:prstGeom prst="rect">
            <a:avLst/>
          </a:prstGeom>
          <a:noFill/>
        </p:spPr>
        <p:txBody>
          <a:bodyPr vert="eaVert">
            <a:spAutoFit/>
          </a:bodyPr>
          <a:lstStyle/>
          <a:p>
            <a:pPr>
              <a:defRPr/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十分位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    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A88807-2A47-3A5D-B267-B6B484703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763" y="5491163"/>
            <a:ext cx="569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0.4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1721536-884C-5A68-ADCD-477E0E259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872163"/>
            <a:ext cx="11795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  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0.3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3DB6CCA8-7036-6448-3409-1C5C0C8AD75B}"/>
              </a:ext>
            </a:extLst>
          </p:cNvPr>
          <p:cNvCxnSpPr/>
          <p:nvPr/>
        </p:nvCxnSpPr>
        <p:spPr>
          <a:xfrm>
            <a:off x="506413" y="6278563"/>
            <a:ext cx="10715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516B62F6-2C29-4F3A-78A4-3A5D6498C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763" y="6269038"/>
            <a:ext cx="569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0.7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B9196F63-8EF5-926F-B624-69D64CA75FA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250" y="4603750"/>
            <a:ext cx="868363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圓角矩形圖說文字 39">
            <a:extLst>
              <a:ext uri="{FF2B5EF4-FFF2-40B4-BE49-F238E27FC236}">
                <a16:creationId xmlns:a16="http://schemas.microsoft.com/office/drawing/2014/main" id="{1E5C1BB1-1A21-919A-A96D-18A2AC3793D1}"/>
              </a:ext>
            </a:extLst>
          </p:cNvPr>
          <p:cNvSpPr/>
          <p:nvPr/>
        </p:nvSpPr>
        <p:spPr bwMode="auto">
          <a:xfrm>
            <a:off x="2589213" y="4841875"/>
            <a:ext cx="5491162" cy="962025"/>
          </a:xfrm>
          <a:prstGeom prst="wedgeRoundRectCallout">
            <a:avLst>
              <a:gd name="adj1" fmla="val 51873"/>
              <a:gd name="adj2" fmla="val -13558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用直式計算小數加法時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小數點要對齊</a:t>
            </a:r>
            <a:r>
              <a:rPr lang="zh-TW" altLang="en-US" sz="2400" dirty="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呵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！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536F0C5-878E-1C3A-8F11-FC4C8E4EA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1825625"/>
            <a:ext cx="569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0.7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E7985D6-8A43-F537-6D0B-0694AAD4D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9050" y="6184900"/>
            <a:ext cx="8778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0.7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</a:t>
            </a:r>
          </a:p>
        </p:txBody>
      </p:sp>
      <p:grpSp>
        <p:nvGrpSpPr>
          <p:cNvPr id="40989" name="群組 16">
            <a:extLst>
              <a:ext uri="{FF2B5EF4-FFF2-40B4-BE49-F238E27FC236}">
                <a16:creationId xmlns:a16="http://schemas.microsoft.com/office/drawing/2014/main" id="{32FC5B4D-C18A-F4C0-C8BD-F0366B2859AD}"/>
              </a:ext>
            </a:extLst>
          </p:cNvPr>
          <p:cNvGrpSpPr>
            <a:grpSpLocks/>
          </p:cNvGrpSpPr>
          <p:nvPr/>
        </p:nvGrpSpPr>
        <p:grpSpPr bwMode="auto">
          <a:xfrm>
            <a:off x="4732338" y="396875"/>
            <a:ext cx="1520825" cy="482600"/>
            <a:chOff x="6722457" y="1658256"/>
            <a:chExt cx="1967833" cy="652081"/>
          </a:xfrm>
        </p:grpSpPr>
        <p:pic>
          <p:nvPicPr>
            <p:cNvPr id="40990" name="Picture 14">
              <a:extLst>
                <a:ext uri="{FF2B5EF4-FFF2-40B4-BE49-F238E27FC236}">
                  <a16:creationId xmlns:a16="http://schemas.microsoft.com/office/drawing/2014/main" id="{0DAC96EF-17EF-E476-5BFF-6F1396CE0F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991" name="矩形 1">
              <a:extLst>
                <a:ext uri="{FF2B5EF4-FFF2-40B4-BE49-F238E27FC236}">
                  <a16:creationId xmlns:a16="http://schemas.microsoft.com/office/drawing/2014/main" id="{6DEBBDCB-3B8C-C175-740A-0006A9AB8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18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17" grpId="0"/>
      <p:bldP spid="31" grpId="0"/>
      <p:bldP spid="11" grpId="0"/>
      <p:bldP spid="15" grpId="0"/>
      <p:bldP spid="35" grpId="0"/>
      <p:bldP spid="38" grpId="0"/>
      <p:bldP spid="40" grpId="0" animBg="1"/>
      <p:bldP spid="41" grpId="0"/>
      <p:bldP spid="4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矩形 2">
            <a:extLst>
              <a:ext uri="{FF2B5EF4-FFF2-40B4-BE49-F238E27FC236}">
                <a16:creationId xmlns:a16="http://schemas.microsoft.com/office/drawing/2014/main" id="{02163C38-C08E-A1A3-E0D2-49523F9BC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0"/>
            <a:ext cx="6019800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下圖的兩杯水各是</a:t>
            </a:r>
            <a:r>
              <a:rPr lang="zh-TW" altLang="en-US" sz="26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公升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TW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用小數說說看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這兩杯水合起來是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公升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41987" name="圖片 2">
            <a:extLst>
              <a:ext uri="{FF2B5EF4-FFF2-40B4-BE49-F238E27FC236}">
                <a16:creationId xmlns:a16="http://schemas.microsoft.com/office/drawing/2014/main" id="{EC0811CE-0AE3-5C1D-3FAD-6D3107E90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98425"/>
            <a:ext cx="45720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988" name="群組 16">
            <a:extLst>
              <a:ext uri="{FF2B5EF4-FFF2-40B4-BE49-F238E27FC236}">
                <a16:creationId xmlns:a16="http://schemas.microsoft.com/office/drawing/2014/main" id="{338BC100-3DAC-E205-D7FD-2DB3A9201CB0}"/>
              </a:ext>
            </a:extLst>
          </p:cNvPr>
          <p:cNvGrpSpPr>
            <a:grpSpLocks/>
          </p:cNvGrpSpPr>
          <p:nvPr/>
        </p:nvGrpSpPr>
        <p:grpSpPr bwMode="auto">
          <a:xfrm>
            <a:off x="6381750" y="23813"/>
            <a:ext cx="1520825" cy="482600"/>
            <a:chOff x="6722457" y="1658256"/>
            <a:chExt cx="1967833" cy="652081"/>
          </a:xfrm>
        </p:grpSpPr>
        <p:pic>
          <p:nvPicPr>
            <p:cNvPr id="42006" name="Picture 14">
              <a:extLst>
                <a:ext uri="{FF2B5EF4-FFF2-40B4-BE49-F238E27FC236}">
                  <a16:creationId xmlns:a16="http://schemas.microsoft.com/office/drawing/2014/main" id="{0A7B6EC3-B793-3818-6D14-F5326CF530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07" name="矩形 1">
              <a:extLst>
                <a:ext uri="{FF2B5EF4-FFF2-40B4-BE49-F238E27FC236}">
                  <a16:creationId xmlns:a16="http://schemas.microsoft.com/office/drawing/2014/main" id="{1B69063A-69B9-7242-33C2-5727A052B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18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41989" name="矩形 2">
            <a:extLst>
              <a:ext uri="{FF2B5EF4-FFF2-40B4-BE49-F238E27FC236}">
                <a16:creationId xmlns:a16="http://schemas.microsoft.com/office/drawing/2014/main" id="{4EE1B5B7-D57E-56C7-94EC-9FFE9A1C9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1263650"/>
            <a:ext cx="303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用直式算算看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A67D916-FD68-7829-3DC8-2E11B6E7FA48}"/>
              </a:ext>
            </a:extLst>
          </p:cNvPr>
          <p:cNvSpPr txBox="1"/>
          <p:nvPr/>
        </p:nvSpPr>
        <p:spPr>
          <a:xfrm>
            <a:off x="2316163" y="2814638"/>
            <a:ext cx="738187" cy="811212"/>
          </a:xfrm>
          <a:prstGeom prst="rect">
            <a:avLst/>
          </a:prstGeom>
          <a:noFill/>
        </p:spPr>
        <p:txBody>
          <a:bodyPr vert="eaVert">
            <a:spAutoFit/>
          </a:bodyPr>
          <a:lstStyle/>
          <a:p>
            <a:pPr>
              <a:defRPr/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十分位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    位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FC427B-ADC1-4E9A-42F7-D76E0BEE0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8075" y="3509963"/>
            <a:ext cx="5794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0.8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D67BDB2-B180-6DAB-4E43-CA69EDF58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088" y="3889375"/>
            <a:ext cx="1200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  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0.2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DA85FC10-B5C9-8BB4-6315-B8F92D6ADBFE}"/>
              </a:ext>
            </a:extLst>
          </p:cNvPr>
          <p:cNvCxnSpPr/>
          <p:nvPr/>
        </p:nvCxnSpPr>
        <p:spPr>
          <a:xfrm>
            <a:off x="1863725" y="4297363"/>
            <a:ext cx="10890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3C38F12-E774-F94C-96B7-7CC5E3A31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8075" y="4286250"/>
            <a:ext cx="579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1.0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4258C6-F5A4-945E-0222-B1266496F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1801813"/>
            <a:ext cx="26209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0.8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0.2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          )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9259FAD-1087-4F41-8D6E-65CB69F2B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2513" y="1825625"/>
            <a:ext cx="338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1997" name="圖片 2">
            <a:extLst>
              <a:ext uri="{FF2B5EF4-FFF2-40B4-BE49-F238E27FC236}">
                <a16:creationId xmlns:a16="http://schemas.microsoft.com/office/drawing/2014/main" id="{9821CC1C-FF0C-5DFB-A9DE-052D49E95F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809625"/>
            <a:ext cx="2555875" cy="133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7" name="物件 15">
            <a:extLst>
              <a:ext uri="{FF2B5EF4-FFF2-40B4-BE49-F238E27FC236}">
                <a16:creationId xmlns:a16="http://schemas.microsoft.com/office/drawing/2014/main" id="{DC2030C5-9FE4-F3CA-33E9-F57F146A96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3025" y="2159000"/>
          <a:ext cx="123983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34725" imgH="393529" progId="Equation.DSMT4">
                  <p:embed/>
                </p:oleObj>
              </mc:Choice>
              <mc:Fallback>
                <p:oleObj name="Equation" r:id="rId5" imgW="634725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3025" y="2159000"/>
                        <a:ext cx="1239838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物件 15">
            <a:extLst>
              <a:ext uri="{FF2B5EF4-FFF2-40B4-BE49-F238E27FC236}">
                <a16:creationId xmlns:a16="http://schemas.microsoft.com/office/drawing/2014/main" id="{B7BC3DA6-CAD8-D20D-C1A4-25B7879D2B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66063" y="2159000"/>
          <a:ext cx="124142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34725" imgH="393529" progId="Equation.DSMT4">
                  <p:embed/>
                </p:oleObj>
              </mc:Choice>
              <mc:Fallback>
                <p:oleObj name="Equation" r:id="rId7" imgW="634725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6063" y="2159000"/>
                        <a:ext cx="1241425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61BFEC45-CB46-5E78-2E5B-4518E8660B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300" y="3259138"/>
            <a:ext cx="779463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圓角矩形圖說文字 28">
            <a:extLst>
              <a:ext uri="{FF2B5EF4-FFF2-40B4-BE49-F238E27FC236}">
                <a16:creationId xmlns:a16="http://schemas.microsoft.com/office/drawing/2014/main" id="{3B735A5F-11DE-13F3-1188-9E8CB7158C45}"/>
              </a:ext>
            </a:extLst>
          </p:cNvPr>
          <p:cNvSpPr/>
          <p:nvPr/>
        </p:nvSpPr>
        <p:spPr bwMode="auto">
          <a:xfrm>
            <a:off x="3227388" y="3111500"/>
            <a:ext cx="3492500" cy="1633538"/>
          </a:xfrm>
          <a:prstGeom prst="wedgeRoundRectCallout">
            <a:avLst>
              <a:gd name="adj1" fmla="val 56767"/>
              <a:gd name="adj2" fmla="val -18587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 </a:t>
            </a:r>
            <a:r>
              <a:rPr lang="zh-TW" altLang="en-US" sz="2200" dirty="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</a:p>
          <a:p>
            <a:pPr>
              <a:lnSpc>
                <a:spcPct val="150000"/>
              </a:lnSpc>
              <a:defRPr/>
            </a:pP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合起來是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50000"/>
              </a:lnSpc>
              <a:defRPr/>
            </a:pP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所以是</a:t>
            </a:r>
            <a:r>
              <a:rPr lang="en-US" altLang="zh-TW" sz="2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endParaRPr lang="zh-TW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002" name="矩形 2">
            <a:extLst>
              <a:ext uri="{FF2B5EF4-FFF2-40B4-BE49-F238E27FC236}">
                <a16:creationId xmlns:a16="http://schemas.microsoft.com/office/drawing/2014/main" id="{972BA009-AB7C-7D40-5E24-F4F3ECA1A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6316663"/>
            <a:ext cx="2397125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2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    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F4BBA1E-492D-2EF6-C634-77B00C9EA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6286500"/>
            <a:ext cx="954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公升</a:t>
            </a: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ACCB394F-963E-4105-5E5A-8F436DAD569A}"/>
              </a:ext>
            </a:extLst>
          </p:cNvPr>
          <p:cNvCxnSpPr/>
          <p:nvPr/>
        </p:nvCxnSpPr>
        <p:spPr>
          <a:xfrm>
            <a:off x="2660650" y="4432300"/>
            <a:ext cx="292100" cy="2286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19A9C2FB-2104-5BE9-B1A5-A965E74D3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8725" y="361950"/>
            <a:ext cx="2506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0.8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公升，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0.2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1" grpId="0"/>
      <p:bldP spid="22" grpId="0"/>
      <p:bldP spid="26" grpId="0"/>
      <p:bldP spid="29" grpId="0" animBg="1"/>
      <p:bldP spid="31" grpId="0"/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2">
            <a:extLst>
              <a:ext uri="{FF2B5EF4-FFF2-40B4-BE49-F238E27FC236}">
                <a16:creationId xmlns:a16="http://schemas.microsoft.com/office/drawing/2014/main" id="{75D82563-5FC4-5D50-E5C1-88BD726C3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0"/>
            <a:ext cx="8586787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長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頸鹿是陸地上最高的動物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臺北市動物園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有</a:t>
            </a:r>
            <a:r>
              <a:rPr lang="en-US" altLang="zh-TW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2 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隻人氣</a:t>
            </a:r>
            <a:r>
              <a:rPr lang="zh-TW" altLang="en-US" sz="26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頸鹿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分別是</a:t>
            </a:r>
            <a:r>
              <a:rPr lang="zh-TW" altLang="en-US" sz="26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麥照</a:t>
            </a:r>
            <a:r>
              <a:rPr lang="zh-TW" altLang="en-US" sz="26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6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麒麟妹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pSp>
        <p:nvGrpSpPr>
          <p:cNvPr id="43011" name="群組 16">
            <a:extLst>
              <a:ext uri="{FF2B5EF4-FFF2-40B4-BE49-F238E27FC236}">
                <a16:creationId xmlns:a16="http://schemas.microsoft.com/office/drawing/2014/main" id="{5F4CA10F-48D0-B654-48F0-C0490FB9C39D}"/>
              </a:ext>
            </a:extLst>
          </p:cNvPr>
          <p:cNvGrpSpPr>
            <a:grpSpLocks/>
          </p:cNvGrpSpPr>
          <p:nvPr/>
        </p:nvGrpSpPr>
        <p:grpSpPr bwMode="auto">
          <a:xfrm>
            <a:off x="6842125" y="9525"/>
            <a:ext cx="1520825" cy="482600"/>
            <a:chOff x="6722457" y="1658256"/>
            <a:chExt cx="1967833" cy="652081"/>
          </a:xfrm>
        </p:grpSpPr>
        <p:pic>
          <p:nvPicPr>
            <p:cNvPr id="43026" name="Picture 14">
              <a:extLst>
                <a:ext uri="{FF2B5EF4-FFF2-40B4-BE49-F238E27FC236}">
                  <a16:creationId xmlns:a16="http://schemas.microsoft.com/office/drawing/2014/main" id="{E50F1BAD-83FB-7FFA-AB5E-0CFECE9638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27" name="矩形 1">
              <a:extLst>
                <a:ext uri="{FF2B5EF4-FFF2-40B4-BE49-F238E27FC236}">
                  <a16:creationId xmlns:a16="http://schemas.microsoft.com/office/drawing/2014/main" id="{220EA4B2-35AA-9091-05CA-95F8507FE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18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43012" name="矩形 2">
            <a:extLst>
              <a:ext uri="{FF2B5EF4-FFF2-40B4-BE49-F238E27FC236}">
                <a16:creationId xmlns:a16="http://schemas.microsoft.com/office/drawing/2014/main" id="{FD0FF6DC-A34A-A11D-1AAF-AD6FB87ED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8" y="6373813"/>
            <a:ext cx="2397125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2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    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2A631CC-79E1-D506-8E23-F636EDECB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538" y="6343650"/>
            <a:ext cx="11858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2.2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公尺</a:t>
            </a:r>
          </a:p>
        </p:txBody>
      </p:sp>
      <p:pic>
        <p:nvPicPr>
          <p:cNvPr id="43014" name="圖片 6">
            <a:extLst>
              <a:ext uri="{FF2B5EF4-FFF2-40B4-BE49-F238E27FC236}">
                <a16:creationId xmlns:a16="http://schemas.microsoft.com/office/drawing/2014/main" id="{1D6C07A7-339E-9A4D-4C64-CA189C2712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" y="57150"/>
            <a:ext cx="45878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5" name="圖片 3">
            <a:extLst>
              <a:ext uri="{FF2B5EF4-FFF2-40B4-BE49-F238E27FC236}">
                <a16:creationId xmlns:a16="http://schemas.microsoft.com/office/drawing/2014/main" id="{504BD1ED-A918-90D8-9F6D-4E91D841F8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3" y="1292225"/>
            <a:ext cx="3651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6" name="矩形 2">
            <a:extLst>
              <a:ext uri="{FF2B5EF4-FFF2-40B4-BE49-F238E27FC236}">
                <a16:creationId xmlns:a16="http://schemas.microsoft.com/office/drawing/2014/main" id="{873CAEEC-BA86-180A-1C05-2E7D421D0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238" y="1214438"/>
            <a:ext cx="5135562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麥照</a:t>
            </a: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出生時的身高是</a:t>
            </a:r>
            <a:r>
              <a:rPr lang="en-US" altLang="zh-TW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1.8</a:t>
            </a: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公尺</a:t>
            </a:r>
            <a:r>
              <a:rPr lang="zh-TW" altLang="en-US" sz="22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</a:t>
            </a: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個月後</a:t>
            </a:r>
            <a:r>
              <a:rPr lang="zh-TW" altLang="en-US" sz="22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長</a:t>
            </a: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高了</a:t>
            </a:r>
            <a:r>
              <a:rPr lang="en-US" altLang="zh-TW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0.4</a:t>
            </a: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公尺</a:t>
            </a:r>
            <a:r>
              <a:rPr lang="zh-TW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牠的身高是</a:t>
            </a:r>
            <a:r>
              <a:rPr lang="zh-TW" altLang="en-US" sz="22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公尺</a:t>
            </a:r>
            <a:r>
              <a:rPr lang="zh-TW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43017" name="圖片 1">
            <a:extLst>
              <a:ext uri="{FF2B5EF4-FFF2-40B4-BE49-F238E27FC236}">
                <a16:creationId xmlns:a16="http://schemas.microsoft.com/office/drawing/2014/main" id="{100C97CD-DFEA-12B0-82DA-2C99B02C85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808038"/>
            <a:ext cx="3117850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8" name="矩形 3">
            <a:extLst>
              <a:ext uri="{FF2B5EF4-FFF2-40B4-BE49-F238E27FC236}">
                <a16:creationId xmlns:a16="http://schemas.microsoft.com/office/drawing/2014/main" id="{5CCDBF16-BC56-CDE0-8B10-34644ECA3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1488" y="825500"/>
            <a:ext cx="1146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5A5A5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 </a:t>
            </a:r>
            <a:r>
              <a:rPr lang="zh-TW" altLang="en-US" sz="2000">
                <a:solidFill>
                  <a:srgbClr val="5A5A5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個月後</a:t>
            </a:r>
            <a:endParaRPr lang="zh-TW" altLang="en-US" sz="2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6FF1828-DD68-AAF5-E41A-CA76004CD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300" y="3797300"/>
            <a:ext cx="7413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3200">
                <a:solidFill>
                  <a:srgbClr val="F8388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1.8</a:t>
            </a:r>
            <a:endParaRPr lang="zh-TW" altLang="en-US" sz="3200">
              <a:solidFill>
                <a:srgbClr val="F8388A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9E33DF6-E440-9E73-0C23-0905C5EDE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5163" y="4297363"/>
            <a:ext cx="15367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3200">
                <a:solidFill>
                  <a:srgbClr val="F8388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   </a:t>
            </a:r>
            <a:r>
              <a:rPr lang="en-US" altLang="zh-TW" sz="3200">
                <a:solidFill>
                  <a:srgbClr val="F8388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0.4</a:t>
            </a:r>
            <a:endParaRPr lang="zh-TW" altLang="en-US" sz="3200">
              <a:solidFill>
                <a:srgbClr val="F8388A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8DE50E43-1B47-8D1E-1D7E-00026DC28A55}"/>
              </a:ext>
            </a:extLst>
          </p:cNvPr>
          <p:cNvCxnSpPr/>
          <p:nvPr/>
        </p:nvCxnSpPr>
        <p:spPr>
          <a:xfrm>
            <a:off x="1997075" y="4910138"/>
            <a:ext cx="1393825" cy="0"/>
          </a:xfrm>
          <a:prstGeom prst="line">
            <a:avLst/>
          </a:prstGeom>
          <a:ln w="28575">
            <a:solidFill>
              <a:srgbClr val="F838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B7B63629-C6B8-14C8-EF44-B55CB75ED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300" y="4933950"/>
            <a:ext cx="74136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3200">
                <a:solidFill>
                  <a:srgbClr val="F8388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2.2</a:t>
            </a:r>
            <a:endParaRPr lang="zh-TW" altLang="en-US" sz="3200">
              <a:solidFill>
                <a:srgbClr val="F8388A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2377B84-5E0E-8F01-E5A5-FFABA7052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263" y="2414588"/>
            <a:ext cx="26209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1.8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0.4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          )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25C657E-13B6-EF2C-F21A-0281BF79E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75" y="2439988"/>
            <a:ext cx="569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2.2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7E33F8-7FC2-820B-6A4D-08F3FF601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5413" y="3429000"/>
            <a:ext cx="5699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8388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400">
              <a:solidFill>
                <a:srgbClr val="F8388A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5" grpId="0"/>
      <p:bldP spid="36" grpId="0"/>
      <p:bldP spid="37" grpId="0"/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矩形 2">
            <a:extLst>
              <a:ext uri="{FF2B5EF4-FFF2-40B4-BE49-F238E27FC236}">
                <a16:creationId xmlns:a16="http://schemas.microsoft.com/office/drawing/2014/main" id="{A84C92C0-C84C-8ACA-BCE7-E937B874B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0"/>
            <a:ext cx="8586787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長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頸鹿是陸地上最高的動物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臺北市動物園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有</a:t>
            </a:r>
            <a:r>
              <a:rPr lang="en-US" altLang="zh-TW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2 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隻人氣</a:t>
            </a:r>
            <a:r>
              <a:rPr lang="zh-TW" altLang="en-US" sz="26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頸鹿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分別是</a:t>
            </a:r>
            <a:r>
              <a:rPr lang="zh-TW" altLang="en-US" sz="26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麥照</a:t>
            </a:r>
            <a:r>
              <a:rPr lang="zh-TW" altLang="en-US" sz="26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6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麒麟妹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pSp>
        <p:nvGrpSpPr>
          <p:cNvPr id="44035" name="群組 16">
            <a:extLst>
              <a:ext uri="{FF2B5EF4-FFF2-40B4-BE49-F238E27FC236}">
                <a16:creationId xmlns:a16="http://schemas.microsoft.com/office/drawing/2014/main" id="{E12749BC-D6F1-500F-4BA9-A073C41CCA78}"/>
              </a:ext>
            </a:extLst>
          </p:cNvPr>
          <p:cNvGrpSpPr>
            <a:grpSpLocks/>
          </p:cNvGrpSpPr>
          <p:nvPr/>
        </p:nvGrpSpPr>
        <p:grpSpPr bwMode="auto">
          <a:xfrm>
            <a:off x="6842125" y="9525"/>
            <a:ext cx="1520825" cy="482600"/>
            <a:chOff x="6722457" y="1658256"/>
            <a:chExt cx="1967833" cy="652081"/>
          </a:xfrm>
        </p:grpSpPr>
        <p:pic>
          <p:nvPicPr>
            <p:cNvPr id="44050" name="Picture 14">
              <a:extLst>
                <a:ext uri="{FF2B5EF4-FFF2-40B4-BE49-F238E27FC236}">
                  <a16:creationId xmlns:a16="http://schemas.microsoft.com/office/drawing/2014/main" id="{467682E5-9700-972E-BE05-C2FA9BD7E9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51" name="矩形 1">
              <a:extLst>
                <a:ext uri="{FF2B5EF4-FFF2-40B4-BE49-F238E27FC236}">
                  <a16:creationId xmlns:a16="http://schemas.microsoft.com/office/drawing/2014/main" id="{0E73237D-F445-E6CD-F1D7-FC47110C6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18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44036" name="矩形 2">
            <a:extLst>
              <a:ext uri="{FF2B5EF4-FFF2-40B4-BE49-F238E27FC236}">
                <a16:creationId xmlns:a16="http://schemas.microsoft.com/office/drawing/2014/main" id="{59BF61C4-50FF-D34B-9A66-AC5D30322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8" y="6373813"/>
            <a:ext cx="2397125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2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    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8DA6B8-69D0-E4CE-AAD8-D1CE37B23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538" y="6343650"/>
            <a:ext cx="11858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4.7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公尺</a:t>
            </a:r>
          </a:p>
        </p:txBody>
      </p:sp>
      <p:pic>
        <p:nvPicPr>
          <p:cNvPr id="44038" name="圖片 6">
            <a:extLst>
              <a:ext uri="{FF2B5EF4-FFF2-40B4-BE49-F238E27FC236}">
                <a16:creationId xmlns:a16="http://schemas.microsoft.com/office/drawing/2014/main" id="{6309C8AF-5D0E-0CAD-A5E8-1DE952D0B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" y="57150"/>
            <a:ext cx="45878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9" name="矩形 2">
            <a:extLst>
              <a:ext uri="{FF2B5EF4-FFF2-40B4-BE49-F238E27FC236}">
                <a16:creationId xmlns:a16="http://schemas.microsoft.com/office/drawing/2014/main" id="{20E5CF9D-2E2A-1A80-C7AA-53F3E89A5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238" y="1214438"/>
            <a:ext cx="80502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麒麟妹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個多月的身高是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2.7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公尺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如果再</a:t>
            </a: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長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高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公尺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會是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公尺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2F082E7-8838-0D67-3478-B92A3B2B3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75" y="2800350"/>
            <a:ext cx="7556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3200">
                <a:solidFill>
                  <a:srgbClr val="F8388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2.7</a:t>
            </a:r>
            <a:endParaRPr lang="zh-TW" altLang="en-US" sz="3200">
              <a:solidFill>
                <a:srgbClr val="F8388A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864E898-262B-007C-B788-BF2D8A676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3241675"/>
            <a:ext cx="15668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3200">
                <a:solidFill>
                  <a:srgbClr val="F8388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   </a:t>
            </a:r>
            <a:r>
              <a:rPr lang="en-US" altLang="zh-TW" sz="3200">
                <a:solidFill>
                  <a:srgbClr val="F8388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3200">
              <a:solidFill>
                <a:srgbClr val="F8388A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991B945-711B-CD22-089A-707C5B0B0F7D}"/>
              </a:ext>
            </a:extLst>
          </p:cNvPr>
          <p:cNvCxnSpPr/>
          <p:nvPr/>
        </p:nvCxnSpPr>
        <p:spPr>
          <a:xfrm>
            <a:off x="1312863" y="3816350"/>
            <a:ext cx="1423987" cy="0"/>
          </a:xfrm>
          <a:prstGeom prst="line">
            <a:avLst/>
          </a:prstGeom>
          <a:ln w="28575">
            <a:solidFill>
              <a:srgbClr val="F838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7444D608-3E25-31EA-AFEB-57B13009C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75" y="3806825"/>
            <a:ext cx="7556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3200">
                <a:solidFill>
                  <a:srgbClr val="F8388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4.7</a:t>
            </a:r>
            <a:endParaRPr lang="zh-TW" altLang="en-US" sz="3200">
              <a:solidFill>
                <a:srgbClr val="F8388A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B862032-DF7F-5C91-356A-1BA13058C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2193925"/>
            <a:ext cx="23891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2.7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          )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D06560C-8310-B897-E50F-02F599D10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1100" y="2198688"/>
            <a:ext cx="568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4.7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4046" name="圖片 4">
            <a:extLst>
              <a:ext uri="{FF2B5EF4-FFF2-40B4-BE49-F238E27FC236}">
                <a16:creationId xmlns:a16="http://schemas.microsoft.com/office/drawing/2014/main" id="{604F1D8C-D03C-D137-72A3-55E20C5580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1292225"/>
            <a:ext cx="3619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15BD97D-4400-464A-BB74-E37E50C2B7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00" y="4271963"/>
            <a:ext cx="111125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圓角矩形圖說文字 21">
            <a:extLst>
              <a:ext uri="{FF2B5EF4-FFF2-40B4-BE49-F238E27FC236}">
                <a16:creationId xmlns:a16="http://schemas.microsoft.com/office/drawing/2014/main" id="{DBB4C9AA-B2FA-0127-4686-ADF27A3D912D}"/>
              </a:ext>
            </a:extLst>
          </p:cNvPr>
          <p:cNvSpPr/>
          <p:nvPr/>
        </p:nvSpPr>
        <p:spPr bwMode="auto">
          <a:xfrm>
            <a:off x="2116138" y="4511675"/>
            <a:ext cx="5624512" cy="1028700"/>
          </a:xfrm>
          <a:prstGeom prst="wedgeRoundRectCallout">
            <a:avLst>
              <a:gd name="adj1" fmla="val 51873"/>
              <a:gd name="adj2" fmla="val -13558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想想看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2 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沒有小數點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defRPr/>
            </a:pP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用直式計算要</a:t>
            </a:r>
            <a:r>
              <a:rPr lang="zh-TW" altLang="en-US" sz="2400" dirty="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怎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麼對齊</a:t>
            </a:r>
            <a:r>
              <a:rPr lang="zh-TW" altLang="en-US" sz="2400" dirty="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呢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28884D9-650A-1440-44FE-BE7A28DA3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2925" y="5495925"/>
            <a:ext cx="32480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個一，要對齊個位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5" grpId="0"/>
      <p:bldP spid="36" grpId="0"/>
      <p:bldP spid="37" grpId="0"/>
      <p:bldP spid="22" grpId="0" animBg="1"/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矩形 43">
            <a:extLst>
              <a:ext uri="{FF2B5EF4-FFF2-40B4-BE49-F238E27FC236}">
                <a16:creationId xmlns:a16="http://schemas.microsoft.com/office/drawing/2014/main" id="{C082897E-616A-7674-0A60-00BB1AEE9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9024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桌上有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 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張數字卡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45059" name="圖片 29">
            <a:extLst>
              <a:ext uri="{FF2B5EF4-FFF2-40B4-BE49-F238E27FC236}">
                <a16:creationId xmlns:a16="http://schemas.microsoft.com/office/drawing/2014/main" id="{D3C9975B-E8D7-9834-E443-57B7CE331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25413"/>
            <a:ext cx="871378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0" name="圖片 3">
            <a:extLst>
              <a:ext uri="{FF2B5EF4-FFF2-40B4-BE49-F238E27FC236}">
                <a16:creationId xmlns:a16="http://schemas.microsoft.com/office/drawing/2014/main" id="{99E3C372-C860-957C-C885-E6282F707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857250"/>
            <a:ext cx="4462462" cy="21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1" name="矩形 43">
            <a:extLst>
              <a:ext uri="{FF2B5EF4-FFF2-40B4-BE49-F238E27FC236}">
                <a16:creationId xmlns:a16="http://schemas.microsoft.com/office/drawing/2014/main" id="{50D0924C-2B9D-A676-56AF-5006BCB97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3" y="3679825"/>
            <a:ext cx="52625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哪 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 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張合起來是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45062" name="圖片 4">
            <a:extLst>
              <a:ext uri="{FF2B5EF4-FFF2-40B4-BE49-F238E27FC236}">
                <a16:creationId xmlns:a16="http://schemas.microsoft.com/office/drawing/2014/main" id="{57751409-511B-B3FD-8C24-D70D139AFB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3767138"/>
            <a:ext cx="35877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3" name="圖片 5">
            <a:extLst>
              <a:ext uri="{FF2B5EF4-FFF2-40B4-BE49-F238E27FC236}">
                <a16:creationId xmlns:a16="http://schemas.microsoft.com/office/drawing/2014/main" id="{318DDA6D-B85E-B6F9-080E-4686A46C42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4965700"/>
            <a:ext cx="36036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4" name="矩形 43">
            <a:extLst>
              <a:ext uri="{FF2B5EF4-FFF2-40B4-BE49-F238E27FC236}">
                <a16:creationId xmlns:a16="http://schemas.microsoft.com/office/drawing/2014/main" id="{84CBE962-39F5-91A9-30B8-68FB1D4D0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3" y="4878388"/>
            <a:ext cx="52625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哪 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張合起來是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6196FBF-4E23-C42E-1C42-44EAD3FCC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" y="4262438"/>
            <a:ext cx="46466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(0.2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0.8)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(0.3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0.7)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(0.4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0.6)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F6B56D6-A765-6C87-83DE-E4EFD5C4A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3" y="5399088"/>
            <a:ext cx="44418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(0.3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0.8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0.9)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(0.5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0.6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0.9)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(0.4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0.7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0.9)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(0.5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0.7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0.8)</a:t>
            </a:r>
          </a:p>
        </p:txBody>
      </p:sp>
      <p:sp>
        <p:nvSpPr>
          <p:cNvPr id="45067" name="文字方塊 1">
            <a:extLst>
              <a:ext uri="{FF2B5EF4-FFF2-40B4-BE49-F238E27FC236}">
                <a16:creationId xmlns:a16="http://schemas.microsoft.com/office/drawing/2014/main" id="{B5ABEF84-43B3-A8E5-3EB2-98B5DF1EA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119188"/>
            <a:ext cx="471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桌上有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張數字卡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/>
      <p:bldP spid="45064" grpId="0"/>
      <p:bldP spid="17" grpId="0"/>
      <p:bldP spid="1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矩形 2">
            <a:extLst>
              <a:ext uri="{FF2B5EF4-FFF2-40B4-BE49-F238E27FC236}">
                <a16:creationId xmlns:a16="http://schemas.microsoft.com/office/drawing/2014/main" id="{5C85AD9F-70F5-CD86-2343-8E43ED2F8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0"/>
            <a:ext cx="85867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老師準備醋給學生做實驗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46083" name="群組 16">
            <a:extLst>
              <a:ext uri="{FF2B5EF4-FFF2-40B4-BE49-F238E27FC236}">
                <a16:creationId xmlns:a16="http://schemas.microsoft.com/office/drawing/2014/main" id="{250C8FD0-7EAD-A5C0-E997-24E7AA545A67}"/>
              </a:ext>
            </a:extLst>
          </p:cNvPr>
          <p:cNvGrpSpPr>
            <a:grpSpLocks/>
          </p:cNvGrpSpPr>
          <p:nvPr/>
        </p:nvGrpSpPr>
        <p:grpSpPr bwMode="auto">
          <a:xfrm>
            <a:off x="6330950" y="20638"/>
            <a:ext cx="1520825" cy="482600"/>
            <a:chOff x="6722457" y="1658256"/>
            <a:chExt cx="1967833" cy="652081"/>
          </a:xfrm>
        </p:grpSpPr>
        <p:pic>
          <p:nvPicPr>
            <p:cNvPr id="46100" name="Picture 14">
              <a:extLst>
                <a:ext uri="{FF2B5EF4-FFF2-40B4-BE49-F238E27FC236}">
                  <a16:creationId xmlns:a16="http://schemas.microsoft.com/office/drawing/2014/main" id="{BB9443FF-BFE7-3C57-675F-4B4481FBB8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101" name="矩形 1">
              <a:extLst>
                <a:ext uri="{FF2B5EF4-FFF2-40B4-BE49-F238E27FC236}">
                  <a16:creationId xmlns:a16="http://schemas.microsoft.com/office/drawing/2014/main" id="{57C95227-1F45-96E2-E3BA-3E76AD2C0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18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46084" name="矩形 2">
            <a:extLst>
              <a:ext uri="{FF2B5EF4-FFF2-40B4-BE49-F238E27FC236}">
                <a16:creationId xmlns:a16="http://schemas.microsoft.com/office/drawing/2014/main" id="{678EF209-B0FC-CF01-A3B5-7B55FE96D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8" y="6373813"/>
            <a:ext cx="2397125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2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    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BCBA006-DAC7-8183-B37D-157DCF04A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538" y="6343650"/>
            <a:ext cx="11858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0.2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公升</a:t>
            </a:r>
          </a:p>
        </p:txBody>
      </p:sp>
      <p:pic>
        <p:nvPicPr>
          <p:cNvPr id="46086" name="圖片 3">
            <a:extLst>
              <a:ext uri="{FF2B5EF4-FFF2-40B4-BE49-F238E27FC236}">
                <a16:creationId xmlns:a16="http://schemas.microsoft.com/office/drawing/2014/main" id="{2A2A82C6-87CF-64CF-4ABF-7A8B56925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587375"/>
            <a:ext cx="3651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7" name="矩形 2">
            <a:extLst>
              <a:ext uri="{FF2B5EF4-FFF2-40B4-BE49-F238E27FC236}">
                <a16:creationId xmlns:a16="http://schemas.microsoft.com/office/drawing/2014/main" id="{5C6BA919-56C3-7B22-9BC6-40346C9FB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13" y="509588"/>
            <a:ext cx="819308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第一組用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0.7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公升的醋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第二組用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0.5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公升的醋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第一組比第二組多用了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公升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C903790-3964-0E20-80AF-D6323FE1A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13" y="1985963"/>
            <a:ext cx="26209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0.7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0.5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          )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EDCD32F-0ED8-DBE7-612F-55A8D62D8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1925" y="2011363"/>
            <a:ext cx="569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0.2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6090" name="圖片 7">
            <a:extLst>
              <a:ext uri="{FF2B5EF4-FFF2-40B4-BE49-F238E27FC236}">
                <a16:creationId xmlns:a16="http://schemas.microsoft.com/office/drawing/2014/main" id="{45B11505-C471-4E2B-6780-3A55A3626B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31750"/>
            <a:ext cx="4540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91" name="矩形 2">
            <a:extLst>
              <a:ext uri="{FF2B5EF4-FFF2-40B4-BE49-F238E27FC236}">
                <a16:creationId xmlns:a16="http://schemas.microsoft.com/office/drawing/2014/main" id="{591AB988-0D7E-37BA-22D2-FD6D0C092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13" y="1393825"/>
            <a:ext cx="8193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用直式算算看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46092" name="圖片 2">
            <a:extLst>
              <a:ext uri="{FF2B5EF4-FFF2-40B4-BE49-F238E27FC236}">
                <a16:creationId xmlns:a16="http://schemas.microsoft.com/office/drawing/2014/main" id="{953A3DE3-B83F-8BD2-91C0-2E587A8DA7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828925"/>
            <a:ext cx="750888" cy="196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圓角矩形圖說文字 21">
            <a:extLst>
              <a:ext uri="{FF2B5EF4-FFF2-40B4-BE49-F238E27FC236}">
                <a16:creationId xmlns:a16="http://schemas.microsoft.com/office/drawing/2014/main" id="{CEAADE59-A787-5E14-E273-176BC9E442E5}"/>
              </a:ext>
            </a:extLst>
          </p:cNvPr>
          <p:cNvSpPr/>
          <p:nvPr/>
        </p:nvSpPr>
        <p:spPr bwMode="auto">
          <a:xfrm>
            <a:off x="3940175" y="2782888"/>
            <a:ext cx="3492500" cy="1635125"/>
          </a:xfrm>
          <a:prstGeom prst="wedgeRoundRectCallout">
            <a:avLst>
              <a:gd name="adj1" fmla="val 56767"/>
              <a:gd name="adj2" fmla="val -18587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0.7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0.5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多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50000"/>
              </a:lnSpc>
              <a:defRPr/>
            </a:pP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所以是</a:t>
            </a:r>
            <a:r>
              <a:rPr lang="en-US" altLang="zh-TW" sz="2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endParaRPr lang="zh-TW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4588F6F-EA6E-A532-415D-D0BED2B48437}"/>
              </a:ext>
            </a:extLst>
          </p:cNvPr>
          <p:cNvSpPr txBox="1"/>
          <p:nvPr/>
        </p:nvSpPr>
        <p:spPr>
          <a:xfrm>
            <a:off x="2293938" y="2824163"/>
            <a:ext cx="846137" cy="811212"/>
          </a:xfrm>
          <a:prstGeom prst="rect">
            <a:avLst/>
          </a:prstGeom>
          <a:noFill/>
        </p:spPr>
        <p:txBody>
          <a:bodyPr vert="eaVert">
            <a:spAutoFit/>
          </a:bodyPr>
          <a:lstStyle/>
          <a:p>
            <a:pPr>
              <a:lnSpc>
                <a:spcPts val="2700"/>
              </a:lnSpc>
              <a:defRPr/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十分位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2700"/>
              </a:lnSpc>
              <a:defRPr/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    位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3914BDE-0852-993F-74CD-A3A53A77A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0450" y="3509963"/>
            <a:ext cx="723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A4AF65E-E8A1-64B6-D49C-8D8E6E44F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3889375"/>
            <a:ext cx="1300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8CE42CDD-405F-38DB-B34B-D0EE10ECD656}"/>
              </a:ext>
            </a:extLst>
          </p:cNvPr>
          <p:cNvCxnSpPr/>
          <p:nvPr/>
        </p:nvCxnSpPr>
        <p:spPr>
          <a:xfrm>
            <a:off x="1863725" y="4297363"/>
            <a:ext cx="10890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">
            <a:extLst>
              <a:ext uri="{FF2B5EF4-FFF2-40B4-BE49-F238E27FC236}">
                <a16:creationId xmlns:a16="http://schemas.microsoft.com/office/drawing/2014/main" id="{FBB2281D-C772-D9C9-5B99-9C88A3BA7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0" y="4348163"/>
            <a:ext cx="919163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1B1DF4FB-8D3D-1855-9ADC-3E600C266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2988" y="4319588"/>
            <a:ext cx="719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/>
      <p:bldP spid="37" grpId="0"/>
      <p:bldP spid="22" grpId="0" animBg="1"/>
      <p:bldP spid="26" grpId="0"/>
      <p:bldP spid="27" grpId="0"/>
      <p:bldP spid="28" grpId="0"/>
      <p:bldP spid="4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矩形 2">
            <a:extLst>
              <a:ext uri="{FF2B5EF4-FFF2-40B4-BE49-F238E27FC236}">
                <a16:creationId xmlns:a16="http://schemas.microsoft.com/office/drawing/2014/main" id="{A5C37708-ACA1-19CD-5314-4039394C0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0"/>
            <a:ext cx="85867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老師準備醋給學生做實驗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47107" name="群組 16">
            <a:extLst>
              <a:ext uri="{FF2B5EF4-FFF2-40B4-BE49-F238E27FC236}">
                <a16:creationId xmlns:a16="http://schemas.microsoft.com/office/drawing/2014/main" id="{A71163FA-10DB-861A-AC34-7D71DC01BFA5}"/>
              </a:ext>
            </a:extLst>
          </p:cNvPr>
          <p:cNvGrpSpPr>
            <a:grpSpLocks/>
          </p:cNvGrpSpPr>
          <p:nvPr/>
        </p:nvGrpSpPr>
        <p:grpSpPr bwMode="auto">
          <a:xfrm>
            <a:off x="6330950" y="20638"/>
            <a:ext cx="1520825" cy="482600"/>
            <a:chOff x="6722457" y="1658256"/>
            <a:chExt cx="1967833" cy="652081"/>
          </a:xfrm>
        </p:grpSpPr>
        <p:pic>
          <p:nvPicPr>
            <p:cNvPr id="47120" name="Picture 14">
              <a:extLst>
                <a:ext uri="{FF2B5EF4-FFF2-40B4-BE49-F238E27FC236}">
                  <a16:creationId xmlns:a16="http://schemas.microsoft.com/office/drawing/2014/main" id="{FCC53A85-E8D2-7AB7-9862-FE8FF6BB7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21" name="矩形 1">
              <a:extLst>
                <a:ext uri="{FF2B5EF4-FFF2-40B4-BE49-F238E27FC236}">
                  <a16:creationId xmlns:a16="http://schemas.microsoft.com/office/drawing/2014/main" id="{CD473700-5E75-0FF7-992E-CCADC2E5F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18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47108" name="矩形 2">
            <a:extLst>
              <a:ext uri="{FF2B5EF4-FFF2-40B4-BE49-F238E27FC236}">
                <a16:creationId xmlns:a16="http://schemas.microsoft.com/office/drawing/2014/main" id="{4AB1F40F-CE37-23BF-5E9C-117B978E1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8" y="6373813"/>
            <a:ext cx="2397125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2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    </a:t>
            </a:r>
          </a:p>
        </p:txBody>
      </p:sp>
      <p:sp>
        <p:nvSpPr>
          <p:cNvPr id="47109" name="矩形 2">
            <a:extLst>
              <a:ext uri="{FF2B5EF4-FFF2-40B4-BE49-F238E27FC236}">
                <a16:creationId xmlns:a16="http://schemas.microsoft.com/office/drawing/2014/main" id="{C7D9BBCE-667D-30EF-4426-6AD100BEF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13" y="509588"/>
            <a:ext cx="8255000" cy="8318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2400" spc="-4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第三組原來有</a:t>
            </a:r>
            <a:r>
              <a:rPr lang="en-US" altLang="zh-TW" sz="2400" spc="-4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1 </a:t>
            </a:r>
            <a:r>
              <a:rPr lang="zh-TW" altLang="en-US" sz="2400" spc="-4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公升的醋</a:t>
            </a:r>
            <a:r>
              <a:rPr lang="zh-TW" altLang="en-US" sz="2400" spc="-40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，</a:t>
            </a:r>
            <a:r>
              <a:rPr lang="zh-TW" altLang="en-US" sz="2400" spc="-4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用了</a:t>
            </a:r>
            <a:r>
              <a:rPr lang="en-US" altLang="zh-TW" sz="2400" spc="-4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0.3 </a:t>
            </a:r>
            <a:r>
              <a:rPr lang="zh-TW" altLang="en-US" sz="2400" spc="-4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公升後</a:t>
            </a:r>
            <a:r>
              <a:rPr lang="zh-TW" altLang="en-US" sz="2400" spc="-40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，</a:t>
            </a:r>
            <a:r>
              <a:rPr lang="zh-TW" altLang="en-US" sz="240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還剩下多少公升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？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FE1E154-E292-D7F7-94FA-1A24F76E4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13" y="1985963"/>
            <a:ext cx="2390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0.3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          )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7111" name="圖片 7">
            <a:extLst>
              <a:ext uri="{FF2B5EF4-FFF2-40B4-BE49-F238E27FC236}">
                <a16:creationId xmlns:a16="http://schemas.microsoft.com/office/drawing/2014/main" id="{4DF94248-0BAB-C9B8-FEA0-ED3489F3B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31750"/>
            <a:ext cx="4540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2" name="矩形 2">
            <a:extLst>
              <a:ext uri="{FF2B5EF4-FFF2-40B4-BE49-F238E27FC236}">
                <a16:creationId xmlns:a16="http://schemas.microsoft.com/office/drawing/2014/main" id="{F7FE6ADD-83B1-C3E9-F35D-3EC32E465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13" y="1393825"/>
            <a:ext cx="8193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用直式算算看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2" name="圓角矩形圖說文字 21">
            <a:extLst>
              <a:ext uri="{FF2B5EF4-FFF2-40B4-BE49-F238E27FC236}">
                <a16:creationId xmlns:a16="http://schemas.microsoft.com/office/drawing/2014/main" id="{58871D38-25E2-3753-3D56-9B714179A66A}"/>
              </a:ext>
            </a:extLst>
          </p:cNvPr>
          <p:cNvSpPr/>
          <p:nvPr/>
        </p:nvSpPr>
        <p:spPr bwMode="auto">
          <a:xfrm>
            <a:off x="3389313" y="3141663"/>
            <a:ext cx="3832225" cy="1633537"/>
          </a:xfrm>
          <a:prstGeom prst="wedgeRoundRectCallout">
            <a:avLst>
              <a:gd name="adj1" fmla="val -59964"/>
              <a:gd name="adj2" fmla="val -14390"/>
              <a:gd name="adj3" fmla="val 16667"/>
            </a:avLst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200" dirty="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1.0 </a:t>
            </a:r>
            <a:r>
              <a:rPr lang="zh-TW" altLang="en-US" sz="2200" dirty="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樣大</a:t>
            </a:r>
            <a:r>
              <a:rPr lang="zh-TW" altLang="en-US" sz="2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50000"/>
              </a:lnSpc>
              <a:defRPr/>
            </a:pP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我們可以在十分位補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</a:t>
            </a:r>
            <a:r>
              <a:rPr lang="zh-TW" altLang="en-US" sz="2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方便計算</a:t>
            </a:r>
            <a:r>
              <a:rPr lang="zh-TW" altLang="en-US" sz="2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C6FF4C4-41ED-363A-4D58-11D01681BAE6}"/>
              </a:ext>
            </a:extLst>
          </p:cNvPr>
          <p:cNvSpPr txBox="1"/>
          <p:nvPr/>
        </p:nvSpPr>
        <p:spPr>
          <a:xfrm>
            <a:off x="1997075" y="2501900"/>
            <a:ext cx="738188" cy="811213"/>
          </a:xfrm>
          <a:prstGeom prst="rect">
            <a:avLst/>
          </a:prstGeom>
          <a:noFill/>
        </p:spPr>
        <p:txBody>
          <a:bodyPr vert="eaVert">
            <a:spAutoFit/>
          </a:bodyPr>
          <a:lstStyle/>
          <a:p>
            <a:pPr>
              <a:defRPr/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十分位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    位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9C817A1-BA2B-F140-1346-112BA84B3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3273425"/>
            <a:ext cx="579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242B38C-E900-8233-0592-180AF4662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4475" y="3652838"/>
            <a:ext cx="11985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0.3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39A96C3D-9D0E-80C1-F383-127EAB5FE909}"/>
              </a:ext>
            </a:extLst>
          </p:cNvPr>
          <p:cNvCxnSpPr/>
          <p:nvPr/>
        </p:nvCxnSpPr>
        <p:spPr>
          <a:xfrm>
            <a:off x="1544638" y="4060825"/>
            <a:ext cx="10890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118" name="圖片 4">
            <a:extLst>
              <a:ext uri="{FF2B5EF4-FFF2-40B4-BE49-F238E27FC236}">
                <a16:creationId xmlns:a16="http://schemas.microsoft.com/office/drawing/2014/main" id="{8763389E-D554-CEFF-FAFE-A8D89D2D7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590550"/>
            <a:ext cx="3619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8D5F54B8-A610-B46F-BE45-AA9EDC4156EC}"/>
              </a:ext>
            </a:extLst>
          </p:cNvPr>
          <p:cNvSpPr/>
          <p:nvPr/>
        </p:nvSpPr>
        <p:spPr>
          <a:xfrm>
            <a:off x="2216150" y="3273425"/>
            <a:ext cx="579438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.0</a:t>
            </a:r>
            <a:endParaRPr lang="zh-TW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2" grpId="0" animBg="1"/>
      <p:bldP spid="26" grpId="0"/>
      <p:bldP spid="27" grpId="0"/>
      <p:bldP spid="28" grpId="0"/>
      <p:bldP spid="3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矩形 2">
            <a:extLst>
              <a:ext uri="{FF2B5EF4-FFF2-40B4-BE49-F238E27FC236}">
                <a16:creationId xmlns:a16="http://schemas.microsoft.com/office/drawing/2014/main" id="{F105C9CF-E68A-3ECA-015E-45B61664A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8" y="6373813"/>
            <a:ext cx="2397125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2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    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F7B8A25-3DA1-F5C8-85C0-B72B85391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538" y="6343650"/>
            <a:ext cx="11858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0.7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公升</a:t>
            </a:r>
          </a:p>
        </p:txBody>
      </p:sp>
      <p:sp>
        <p:nvSpPr>
          <p:cNvPr id="48132" name="矩形 35">
            <a:extLst>
              <a:ext uri="{FF2B5EF4-FFF2-40B4-BE49-F238E27FC236}">
                <a16:creationId xmlns:a16="http://schemas.microsoft.com/office/drawing/2014/main" id="{DC11672E-B9BF-6896-3820-E311CDF96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13" y="1985963"/>
            <a:ext cx="2390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0.3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          )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EAF5E59-01E2-51CA-7FB2-05880CEF7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1100" y="1985963"/>
            <a:ext cx="568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0.7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8134" name="圖片 7">
            <a:extLst>
              <a:ext uri="{FF2B5EF4-FFF2-40B4-BE49-F238E27FC236}">
                <a16:creationId xmlns:a16="http://schemas.microsoft.com/office/drawing/2014/main" id="{5D83E0B6-213E-9BF6-66DB-DA3BA998B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31750"/>
            <a:ext cx="4540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5" name="矩形 2">
            <a:extLst>
              <a:ext uri="{FF2B5EF4-FFF2-40B4-BE49-F238E27FC236}">
                <a16:creationId xmlns:a16="http://schemas.microsoft.com/office/drawing/2014/main" id="{3A6327CC-9201-5C24-3939-29F625F64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13" y="1393825"/>
            <a:ext cx="8193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用直式算算看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2" name="圓角矩形圖說文字 21">
            <a:extLst>
              <a:ext uri="{FF2B5EF4-FFF2-40B4-BE49-F238E27FC236}">
                <a16:creationId xmlns:a16="http://schemas.microsoft.com/office/drawing/2014/main" id="{A194FAC9-C718-0884-15BD-F34C8FD517AE}"/>
              </a:ext>
            </a:extLst>
          </p:cNvPr>
          <p:cNvSpPr/>
          <p:nvPr/>
        </p:nvSpPr>
        <p:spPr bwMode="auto">
          <a:xfrm>
            <a:off x="3389313" y="3141663"/>
            <a:ext cx="3832225" cy="2306637"/>
          </a:xfrm>
          <a:prstGeom prst="wedgeRoundRectCallout">
            <a:avLst>
              <a:gd name="adj1" fmla="val -59964"/>
              <a:gd name="adj2" fmla="val -14390"/>
              <a:gd name="adj3" fmla="val 16667"/>
            </a:avLst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先算十分位</a:t>
            </a:r>
            <a:r>
              <a:rPr lang="zh-TW" altLang="en-US" sz="2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減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不夠減</a:t>
            </a:r>
            <a:r>
              <a:rPr lang="zh-TW" altLang="en-US" sz="2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50000"/>
              </a:lnSpc>
              <a:defRPr/>
            </a:pP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把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換成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</a:p>
          <a:p>
            <a:pPr>
              <a:lnSpc>
                <a:spcPct val="150000"/>
              </a:lnSpc>
              <a:defRPr/>
            </a:pP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再計算</a:t>
            </a:r>
            <a:r>
              <a:rPr lang="zh-TW" altLang="en-US" sz="22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31B3835-BE94-814D-95FB-7120B5239D23}"/>
              </a:ext>
            </a:extLst>
          </p:cNvPr>
          <p:cNvSpPr txBox="1"/>
          <p:nvPr/>
        </p:nvSpPr>
        <p:spPr>
          <a:xfrm>
            <a:off x="1997075" y="2501900"/>
            <a:ext cx="738188" cy="811213"/>
          </a:xfrm>
          <a:prstGeom prst="rect">
            <a:avLst/>
          </a:prstGeom>
          <a:noFill/>
        </p:spPr>
        <p:txBody>
          <a:bodyPr vert="eaVert">
            <a:spAutoFit/>
          </a:bodyPr>
          <a:lstStyle/>
          <a:p>
            <a:pPr>
              <a:defRPr/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十分位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    位</a:t>
            </a:r>
          </a:p>
        </p:txBody>
      </p:sp>
      <p:sp>
        <p:nvSpPr>
          <p:cNvPr id="48138" name="矩形 26">
            <a:extLst>
              <a:ext uri="{FF2B5EF4-FFF2-40B4-BE49-F238E27FC236}">
                <a16:creationId xmlns:a16="http://schemas.microsoft.com/office/drawing/2014/main" id="{D0FA667D-53F1-F6BA-FFFD-814B66D0B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3273425"/>
            <a:ext cx="579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8139" name="矩形 27">
            <a:extLst>
              <a:ext uri="{FF2B5EF4-FFF2-40B4-BE49-F238E27FC236}">
                <a16:creationId xmlns:a16="http://schemas.microsoft.com/office/drawing/2014/main" id="{8D79306B-0106-19C0-89A4-D00BEDD01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4475" y="3652838"/>
            <a:ext cx="11985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0.3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D76F7DAA-6654-C5E8-E3A6-C2A1EBB719A6}"/>
              </a:ext>
            </a:extLst>
          </p:cNvPr>
          <p:cNvCxnSpPr/>
          <p:nvPr/>
        </p:nvCxnSpPr>
        <p:spPr>
          <a:xfrm>
            <a:off x="1544638" y="4060825"/>
            <a:ext cx="10890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41" name="圖片 4">
            <a:extLst>
              <a:ext uri="{FF2B5EF4-FFF2-40B4-BE49-F238E27FC236}">
                <a16:creationId xmlns:a16="http://schemas.microsoft.com/office/drawing/2014/main" id="{20A89491-02AA-8CE8-3753-D8840F4B7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590550"/>
            <a:ext cx="3619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D330F581-6DE4-9176-F79D-44AC49320878}"/>
              </a:ext>
            </a:extLst>
          </p:cNvPr>
          <p:cNvSpPr/>
          <p:nvPr/>
        </p:nvSpPr>
        <p:spPr>
          <a:xfrm>
            <a:off x="2214563" y="3273425"/>
            <a:ext cx="579437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.0</a:t>
            </a:r>
            <a:endParaRPr lang="zh-TW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CEDAE5CE-E5D8-64EB-9A83-483070886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3" y="4111625"/>
            <a:ext cx="919162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0FF3AC20-A1FD-40F0-BA7C-284EE9703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175" y="4083050"/>
            <a:ext cx="579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0.7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3AA3D7DF-6EF2-21CB-657E-DCC71EFC5E7F}"/>
              </a:ext>
            </a:extLst>
          </p:cNvPr>
          <p:cNvCxnSpPr/>
          <p:nvPr/>
        </p:nvCxnSpPr>
        <p:spPr>
          <a:xfrm>
            <a:off x="2130425" y="3424238"/>
            <a:ext cx="192088" cy="19843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A7E6F922-5F82-4C92-36CE-EEFF15639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5838" y="3146425"/>
            <a:ext cx="3635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endParaRPr kumimoji="1" lang="zh-TW" altLang="en-US" sz="1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8147" name="矩形 2">
            <a:extLst>
              <a:ext uri="{FF2B5EF4-FFF2-40B4-BE49-F238E27FC236}">
                <a16:creationId xmlns:a16="http://schemas.microsoft.com/office/drawing/2014/main" id="{74C8125C-4EEF-8F7B-3441-DE5BAE8EF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0"/>
            <a:ext cx="85867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老師準備醋給學生做實驗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48148" name="群組 16">
            <a:extLst>
              <a:ext uri="{FF2B5EF4-FFF2-40B4-BE49-F238E27FC236}">
                <a16:creationId xmlns:a16="http://schemas.microsoft.com/office/drawing/2014/main" id="{A8C030FA-DB17-269E-D585-F9B8BA2741B3}"/>
              </a:ext>
            </a:extLst>
          </p:cNvPr>
          <p:cNvGrpSpPr>
            <a:grpSpLocks/>
          </p:cNvGrpSpPr>
          <p:nvPr/>
        </p:nvGrpSpPr>
        <p:grpSpPr bwMode="auto">
          <a:xfrm>
            <a:off x="6330950" y="20638"/>
            <a:ext cx="1520825" cy="482600"/>
            <a:chOff x="6722457" y="1658256"/>
            <a:chExt cx="1967833" cy="652081"/>
          </a:xfrm>
        </p:grpSpPr>
        <p:pic>
          <p:nvPicPr>
            <p:cNvPr id="48151" name="Picture 14">
              <a:extLst>
                <a:ext uri="{FF2B5EF4-FFF2-40B4-BE49-F238E27FC236}">
                  <a16:creationId xmlns:a16="http://schemas.microsoft.com/office/drawing/2014/main" id="{97E8813B-A1FC-97C2-0CE3-95C434572F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52" name="矩形 1">
              <a:extLst>
                <a:ext uri="{FF2B5EF4-FFF2-40B4-BE49-F238E27FC236}">
                  <a16:creationId xmlns:a16="http://schemas.microsoft.com/office/drawing/2014/main" id="{8CA095F6-957B-62B7-68F0-C3999C36E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18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矩形 2">
            <a:extLst>
              <a:ext uri="{FF2B5EF4-FFF2-40B4-BE49-F238E27FC236}">
                <a16:creationId xmlns:a16="http://schemas.microsoft.com/office/drawing/2014/main" id="{1DB9DB4D-10DF-C9B4-F1D1-8314866DA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13" y="509588"/>
            <a:ext cx="8255000" cy="8318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TW" altLang="en-US" sz="2400" spc="-4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第三組原來有</a:t>
            </a:r>
            <a:r>
              <a:rPr lang="en-US" altLang="zh-TW" sz="2400" spc="-4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1 </a:t>
            </a:r>
            <a:r>
              <a:rPr lang="zh-TW" altLang="en-US" sz="2400" spc="-4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公升的醋</a:t>
            </a:r>
            <a:r>
              <a:rPr lang="zh-TW" altLang="en-US" sz="2400" spc="-40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，</a:t>
            </a:r>
            <a:r>
              <a:rPr lang="zh-TW" altLang="en-US" sz="2400" spc="-4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用了</a:t>
            </a:r>
            <a:r>
              <a:rPr lang="en-US" altLang="zh-TW" sz="2400" spc="-4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0.3 </a:t>
            </a:r>
            <a:r>
              <a:rPr lang="zh-TW" altLang="en-US" sz="2400" spc="-4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公升後</a:t>
            </a:r>
            <a:r>
              <a:rPr lang="zh-TW" altLang="en-US" sz="2400" spc="-40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，</a:t>
            </a:r>
            <a:r>
              <a:rPr lang="zh-TW" altLang="en-US" sz="2400" dirty="0">
                <a:solidFill>
                  <a:srgbClr val="000000"/>
                </a:solidFill>
                <a:latin typeface="Times New Roman" pitchFamily="18" charset="0"/>
                <a:ea typeface="書法中楷（注音一）" pitchFamily="49" charset="-120"/>
                <a:cs typeface="Times New Roman" pitchFamily="18" charset="0"/>
              </a:rPr>
              <a:t>還剩下多少公升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  <a:cs typeface="Times New Roman" pitchFamily="18" charset="0"/>
              </a:rPr>
              <a:t>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390F0B-F6C3-1DC1-9EB7-0DF8182CC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3136900"/>
            <a:ext cx="2746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kumimoji="1" lang="zh-TW" altLang="en-US" sz="1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7" grpId="0"/>
      <p:bldP spid="22" grpId="0" animBg="1"/>
      <p:bldP spid="24" grpId="0"/>
      <p:bldP spid="34" grpId="0"/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矩形 2">
            <a:extLst>
              <a:ext uri="{FF2B5EF4-FFF2-40B4-BE49-F238E27FC236}">
                <a16:creationId xmlns:a16="http://schemas.microsoft.com/office/drawing/2014/main" id="{799722AF-05F4-E55B-F796-40889C5F7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0"/>
            <a:ext cx="85867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妙妙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做蛋糕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9155" name="矩形 2">
            <a:extLst>
              <a:ext uri="{FF2B5EF4-FFF2-40B4-BE49-F238E27FC236}">
                <a16:creationId xmlns:a16="http://schemas.microsoft.com/office/drawing/2014/main" id="{124ED959-3FF1-83B6-C20F-535DCDF8A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8" y="6373813"/>
            <a:ext cx="2397125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2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200" u="sng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              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771CB86-CEB7-6CB5-2AA8-B0A305573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538" y="6343650"/>
            <a:ext cx="11858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1.6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公斤</a:t>
            </a:r>
          </a:p>
        </p:txBody>
      </p:sp>
      <p:sp>
        <p:nvSpPr>
          <p:cNvPr id="49157" name="矩形 2">
            <a:extLst>
              <a:ext uri="{FF2B5EF4-FFF2-40B4-BE49-F238E27FC236}">
                <a16:creationId xmlns:a16="http://schemas.microsoft.com/office/drawing/2014/main" id="{441786DE-0517-A67F-50FD-7C5F708B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13" y="509588"/>
            <a:ext cx="53879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包砂糖有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2.3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公斤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用掉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0.7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公斤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還剩下多少公斤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49158" name="矩形 35">
            <a:extLst>
              <a:ext uri="{FF2B5EF4-FFF2-40B4-BE49-F238E27FC236}">
                <a16:creationId xmlns:a16="http://schemas.microsoft.com/office/drawing/2014/main" id="{CB0D43AD-6418-E21A-B751-8CB850EF3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563" y="1622425"/>
            <a:ext cx="2622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2.3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0.7</a:t>
            </a:r>
            <a:r>
              <a:rPr lang="zh-TW" altLang="en-US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4DF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          )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3660190-4B84-260D-B5D1-B8A5B7A0F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1631950"/>
            <a:ext cx="569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1.6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9160" name="圖片 8">
            <a:extLst>
              <a:ext uri="{FF2B5EF4-FFF2-40B4-BE49-F238E27FC236}">
                <a16:creationId xmlns:a16="http://schemas.microsoft.com/office/drawing/2014/main" id="{2B4C7C5C-BAEE-1462-393C-CB13A131A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14288"/>
            <a:ext cx="44608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61" name="圖片 3">
            <a:extLst>
              <a:ext uri="{FF2B5EF4-FFF2-40B4-BE49-F238E27FC236}">
                <a16:creationId xmlns:a16="http://schemas.microsoft.com/office/drawing/2014/main" id="{E318BDE1-E503-BE57-9B38-9BE8629A3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587375"/>
            <a:ext cx="3651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62" name="圖片 1">
            <a:extLst>
              <a:ext uri="{FF2B5EF4-FFF2-40B4-BE49-F238E27FC236}">
                <a16:creationId xmlns:a16="http://schemas.microsoft.com/office/drawing/2014/main" id="{C4DDFEAC-1B7E-D407-9EA0-0A68F2DFC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8575" y="520700"/>
            <a:ext cx="2768600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66B9348A-F781-652C-E98B-BF8FA7BDB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9075" y="2551113"/>
            <a:ext cx="5794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8388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2.3</a:t>
            </a:r>
            <a:endParaRPr lang="zh-TW" altLang="en-US" sz="2400">
              <a:solidFill>
                <a:srgbClr val="F8388A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39D4F70-F3E0-1FCD-73A3-48739091B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563" y="2930525"/>
            <a:ext cx="1200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8388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</a:t>
            </a:r>
            <a:r>
              <a:rPr lang="en-US" altLang="zh-TW" sz="2400">
                <a:solidFill>
                  <a:srgbClr val="F8388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0.7</a:t>
            </a:r>
            <a:endParaRPr lang="zh-TW" altLang="en-US" sz="2400">
              <a:solidFill>
                <a:srgbClr val="F8388A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93B18D04-80F7-F172-1416-98D13E245B19}"/>
              </a:ext>
            </a:extLst>
          </p:cNvPr>
          <p:cNvCxnSpPr/>
          <p:nvPr/>
        </p:nvCxnSpPr>
        <p:spPr>
          <a:xfrm>
            <a:off x="974725" y="3338513"/>
            <a:ext cx="1090613" cy="0"/>
          </a:xfrm>
          <a:prstGeom prst="line">
            <a:avLst/>
          </a:prstGeom>
          <a:ln w="28575">
            <a:solidFill>
              <a:srgbClr val="F838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97A61D3B-F219-6D72-025F-2CCD49A2A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9075" y="3327400"/>
            <a:ext cx="579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8388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1.6</a:t>
            </a:r>
            <a:endParaRPr lang="zh-TW" altLang="en-US" sz="2400">
              <a:solidFill>
                <a:srgbClr val="F8388A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FE4F3CC2-6FC5-0AB7-BCC6-57418BA0C5E5}"/>
              </a:ext>
            </a:extLst>
          </p:cNvPr>
          <p:cNvCxnSpPr/>
          <p:nvPr/>
        </p:nvCxnSpPr>
        <p:spPr>
          <a:xfrm>
            <a:off x="1576388" y="2667000"/>
            <a:ext cx="138112" cy="263525"/>
          </a:xfrm>
          <a:prstGeom prst="line">
            <a:avLst/>
          </a:prstGeom>
          <a:ln w="19050">
            <a:solidFill>
              <a:srgbClr val="F838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群組 3">
            <a:extLst>
              <a:ext uri="{FF2B5EF4-FFF2-40B4-BE49-F238E27FC236}">
                <a16:creationId xmlns:a16="http://schemas.microsoft.com/office/drawing/2014/main" id="{57F572D4-2003-A248-9093-428B837C2D74}"/>
              </a:ext>
            </a:extLst>
          </p:cNvPr>
          <p:cNvGrpSpPr>
            <a:grpSpLocks/>
          </p:cNvGrpSpPr>
          <p:nvPr/>
        </p:nvGrpSpPr>
        <p:grpSpPr bwMode="auto">
          <a:xfrm>
            <a:off x="1519238" y="2374900"/>
            <a:ext cx="542925" cy="276225"/>
            <a:chOff x="1518447" y="2374899"/>
            <a:chExt cx="543721" cy="276999"/>
          </a:xfrm>
        </p:grpSpPr>
        <p:sp>
          <p:nvSpPr>
            <p:cNvPr id="49169" name="矩形 16">
              <a:extLst>
                <a:ext uri="{FF2B5EF4-FFF2-40B4-BE49-F238E27FC236}">
                  <a16:creationId xmlns:a16="http://schemas.microsoft.com/office/drawing/2014/main" id="{34B14A0F-621F-3631-4925-6403A207C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8447" y="2374899"/>
              <a:ext cx="23653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200">
                  <a:solidFill>
                    <a:srgbClr val="F8388A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endParaRPr lang="zh-TW" altLang="en-US" sz="1200">
                <a:solidFill>
                  <a:srgbClr val="F8388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9170" name="矩形 17">
              <a:extLst>
                <a:ext uri="{FF2B5EF4-FFF2-40B4-BE49-F238E27FC236}">
                  <a16:creationId xmlns:a16="http://schemas.microsoft.com/office/drawing/2014/main" id="{A500CDDE-E27C-E7D1-EC72-E708E9170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215" y="2374899"/>
              <a:ext cx="36195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200">
                  <a:solidFill>
                    <a:srgbClr val="F8388A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10</a:t>
              </a:r>
              <a:endParaRPr lang="zh-TW" altLang="en-US" sz="1200">
                <a:solidFill>
                  <a:srgbClr val="F8388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7" grpId="0"/>
      <p:bldP spid="39" grpId="0"/>
      <p:bldP spid="40" grpId="0"/>
      <p:bldP spid="4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矩形 2">
            <a:extLst>
              <a:ext uri="{FF2B5EF4-FFF2-40B4-BE49-F238E27FC236}">
                <a16:creationId xmlns:a16="http://schemas.microsoft.com/office/drawing/2014/main" id="{D54450F7-77A0-0866-078B-F9DEF0119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0"/>
            <a:ext cx="85867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妙妙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做蛋糕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1E08731-F9C8-DCE4-684F-576ECA808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8" y="3910013"/>
            <a:ext cx="19542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18.4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公斤</a:t>
            </a:r>
          </a:p>
        </p:txBody>
      </p:sp>
      <p:sp>
        <p:nvSpPr>
          <p:cNvPr id="50180" name="矩形 2">
            <a:extLst>
              <a:ext uri="{FF2B5EF4-FFF2-40B4-BE49-F238E27FC236}">
                <a16:creationId xmlns:a16="http://schemas.microsoft.com/office/drawing/2014/main" id="{FD5C073F-1C42-E974-0CF2-256D9562A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13" y="509588"/>
            <a:ext cx="819308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袋麵粉有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20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公斤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用掉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1.6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公斤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還剩下多少公斤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EB43731-D661-FE41-48DE-04230A037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8" y="1735138"/>
            <a:ext cx="1492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1.6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</a:p>
        </p:txBody>
      </p:sp>
      <p:pic>
        <p:nvPicPr>
          <p:cNvPr id="50182" name="圖片 8">
            <a:extLst>
              <a:ext uri="{FF2B5EF4-FFF2-40B4-BE49-F238E27FC236}">
                <a16:creationId xmlns:a16="http://schemas.microsoft.com/office/drawing/2014/main" id="{15F9FA8A-4992-4327-C348-A5E6C1D8A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14288"/>
            <a:ext cx="44608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3" name="圖片 4">
            <a:extLst>
              <a:ext uri="{FF2B5EF4-FFF2-40B4-BE49-F238E27FC236}">
                <a16:creationId xmlns:a16="http://schemas.microsoft.com/office/drawing/2014/main" id="{37445168-881C-E502-BDB7-E9A0E6620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590550"/>
            <a:ext cx="3619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190E7A3-B4B2-FBC5-B907-04CD1C51D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400" y="1735138"/>
            <a:ext cx="7223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18.4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F2F9B0A-327C-2995-A95C-246A540AE3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8" y="1952625"/>
            <a:ext cx="2884487" cy="195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958637C2-AF79-F56F-DDCC-9DA9DCB69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3192463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豆豆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B93C61-1B46-BCD8-F154-543A89F66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192463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妮妮</a:t>
            </a:r>
          </a:p>
        </p:txBody>
      </p:sp>
      <p:sp>
        <p:nvSpPr>
          <p:cNvPr id="24" name="矩形 2">
            <a:extLst>
              <a:ext uri="{FF2B5EF4-FFF2-40B4-BE49-F238E27FC236}">
                <a16:creationId xmlns:a16="http://schemas.microsoft.com/office/drawing/2014/main" id="{A3639896-7CD8-A203-D70D-22E009629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4332288"/>
            <a:ext cx="8193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說說看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上面誰寫的直式正確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為</a:t>
            </a: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什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麼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505230F-EA46-028F-6E21-92E050E18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5172075"/>
            <a:ext cx="2955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妮妮沒有對齊小數點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6D404ED-CF53-AF88-7DBA-DA7890C9E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7588" y="4752975"/>
            <a:ext cx="800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豆豆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79CC205-CBF7-0EAD-820E-BBA3F7806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813" y="2519363"/>
            <a:ext cx="18002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2 0     </a:t>
            </a:r>
            <a:r>
              <a:rPr lang="en-US" altLang="zh-TW" sz="1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endParaRPr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  </a:t>
            </a:r>
            <a:r>
              <a:rPr lang="en-US" altLang="zh-TW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1 . 6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1 8 . 4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9C7AEFF-7C26-4C8F-1A29-792090B9B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3" y="222567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2891161B-C785-8164-9FA3-63820C4921C2}"/>
              </a:ext>
            </a:extLst>
          </p:cNvPr>
          <p:cNvCxnSpPr/>
          <p:nvPr/>
        </p:nvCxnSpPr>
        <p:spPr>
          <a:xfrm>
            <a:off x="7289800" y="2651125"/>
            <a:ext cx="190500" cy="215900"/>
          </a:xfrm>
          <a:prstGeom prst="line">
            <a:avLst/>
          </a:prstGeom>
          <a:ln w="190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A8F4A987-2246-ABE2-88DE-028D4517C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2363" y="222567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BD1002-7DE4-D560-4A1F-922721802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2220913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7" grpId="0"/>
      <p:bldP spid="19" grpId="0"/>
      <p:bldP spid="21" grpId="0"/>
      <p:bldP spid="22" grpId="0"/>
      <p:bldP spid="24" grpId="0"/>
      <p:bldP spid="28" grpId="0"/>
      <p:bldP spid="29" grpId="0"/>
      <p:bldP spid="23" grpId="0"/>
      <p:bldP spid="25" grpId="0"/>
      <p:bldP spid="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圖片 1">
            <a:extLst>
              <a:ext uri="{FF2B5EF4-FFF2-40B4-BE49-F238E27FC236}">
                <a16:creationId xmlns:a16="http://schemas.microsoft.com/office/drawing/2014/main" id="{D81F116C-5AA9-7B2D-97DF-C3311B999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矩形 43">
            <a:extLst>
              <a:ext uri="{FF2B5EF4-FFF2-40B4-BE49-F238E27FC236}">
                <a16:creationId xmlns:a16="http://schemas.microsoft.com/office/drawing/2014/main" id="{AE38ECC4-F972-FE53-421B-52328E86B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749300"/>
            <a:ext cx="2698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12.4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－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8.5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)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pic>
        <p:nvPicPr>
          <p:cNvPr id="51204" name="圖片 2">
            <a:extLst>
              <a:ext uri="{FF2B5EF4-FFF2-40B4-BE49-F238E27FC236}">
                <a16:creationId xmlns:a16="http://schemas.microsoft.com/office/drawing/2014/main" id="{364EB2B4-E706-3D09-503A-E6E408CE8A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800100"/>
            <a:ext cx="3619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5" name="圖片 3">
            <a:extLst>
              <a:ext uri="{FF2B5EF4-FFF2-40B4-BE49-F238E27FC236}">
                <a16:creationId xmlns:a16="http://schemas.microsoft.com/office/drawing/2014/main" id="{0B4A999B-A6BE-8972-7478-66F4159622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325" y="862013"/>
            <a:ext cx="36036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6" name="圖片 4">
            <a:extLst>
              <a:ext uri="{FF2B5EF4-FFF2-40B4-BE49-F238E27FC236}">
                <a16:creationId xmlns:a16="http://schemas.microsoft.com/office/drawing/2014/main" id="{3BEA2472-944C-E722-4BC3-D24134C027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3762375"/>
            <a:ext cx="36036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矩形 43">
            <a:extLst>
              <a:ext uri="{FF2B5EF4-FFF2-40B4-BE49-F238E27FC236}">
                <a16:creationId xmlns:a16="http://schemas.microsoft.com/office/drawing/2014/main" id="{E78621FA-0190-E62B-4EBC-F4E0C7011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8" y="811213"/>
            <a:ext cx="23129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－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0.5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)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51208" name="矩形 43">
            <a:extLst>
              <a:ext uri="{FF2B5EF4-FFF2-40B4-BE49-F238E27FC236}">
                <a16:creationId xmlns:a16="http://schemas.microsoft.com/office/drawing/2014/main" id="{554B628E-9A38-D45B-1406-C8EBBE9FF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3711575"/>
            <a:ext cx="24669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－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2.4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)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3B0E07-E56F-54C2-1E96-F857AA992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788" y="749300"/>
            <a:ext cx="5699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3.9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AE5724-47C0-B3D3-8F59-04796BF44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100" y="811213"/>
            <a:ext cx="6461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4.5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4AC77A-A009-D36D-1E76-8276C53C0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5" y="3711575"/>
            <a:ext cx="5699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9.6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1970C55-D8AC-804C-F056-3603B25ED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2039938"/>
            <a:ext cx="18002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1 2 . 4</a:t>
            </a:r>
            <a:r>
              <a:rPr lang="en-US" altLang="zh-TW" sz="1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endParaRPr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  </a:t>
            </a:r>
            <a:r>
              <a:rPr lang="en-US" altLang="zh-TW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8 . 5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352854D-5223-9471-1374-3818B0C2E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1479550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B386B312-EEEA-7E67-10C6-BF0FF4532E0C}"/>
              </a:ext>
            </a:extLst>
          </p:cNvPr>
          <p:cNvCxnSpPr/>
          <p:nvPr/>
        </p:nvCxnSpPr>
        <p:spPr>
          <a:xfrm>
            <a:off x="1485900" y="2171700"/>
            <a:ext cx="190500" cy="217488"/>
          </a:xfrm>
          <a:prstGeom prst="line">
            <a:avLst/>
          </a:prstGeom>
          <a:ln w="190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C01F5802-B5A7-92DD-A50E-A20F297F9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725" y="147955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1955301-2DFA-39C2-7865-A6D366E04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813" y="1771650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DA866875-532D-8252-D181-28EBD407D548}"/>
              </a:ext>
            </a:extLst>
          </p:cNvPr>
          <p:cNvCxnSpPr/>
          <p:nvPr/>
        </p:nvCxnSpPr>
        <p:spPr>
          <a:xfrm>
            <a:off x="1722438" y="2182813"/>
            <a:ext cx="192087" cy="215900"/>
          </a:xfrm>
          <a:prstGeom prst="line">
            <a:avLst/>
          </a:prstGeom>
          <a:ln w="190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47AABA5D-032B-F772-D237-8DBF0AE81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4850" y="177165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CAB536B-6D4E-7284-F01D-A85FE3C87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2039938"/>
            <a:ext cx="18002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  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</a:t>
            </a:r>
            <a:r>
              <a:rPr lang="en-US" altLang="zh-TW" sz="1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endParaRPr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  </a:t>
            </a:r>
            <a:r>
              <a:rPr lang="en-US" altLang="zh-TW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0 . 5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4 . 5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B38C1CD-9392-90A4-0D68-EBD8B89BD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8" y="1771650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FA527EE0-76A4-FC76-96E9-7151AC205E97}"/>
              </a:ext>
            </a:extLst>
          </p:cNvPr>
          <p:cNvCxnSpPr/>
          <p:nvPr/>
        </p:nvCxnSpPr>
        <p:spPr>
          <a:xfrm>
            <a:off x="6367463" y="2182813"/>
            <a:ext cx="192087" cy="215900"/>
          </a:xfrm>
          <a:prstGeom prst="line">
            <a:avLst/>
          </a:prstGeom>
          <a:ln w="190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5DF6D280-6D2D-8175-8AD0-EAD0CCB99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75" y="177165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649105D-5E49-D8CC-F7B5-8CAEB3BE0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5194300"/>
            <a:ext cx="18002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1 2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</a:t>
            </a:r>
            <a:r>
              <a:rPr lang="en-US" altLang="zh-TW" sz="1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endParaRPr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  </a:t>
            </a:r>
            <a:r>
              <a:rPr lang="en-US" altLang="zh-TW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2 . 4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9204798-75DA-7227-7818-4BED1591E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4633913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65C50295-59EC-D989-9175-A543ED862C51}"/>
              </a:ext>
            </a:extLst>
          </p:cNvPr>
          <p:cNvCxnSpPr/>
          <p:nvPr/>
        </p:nvCxnSpPr>
        <p:spPr>
          <a:xfrm>
            <a:off x="1485900" y="5326063"/>
            <a:ext cx="190500" cy="217487"/>
          </a:xfrm>
          <a:prstGeom prst="line">
            <a:avLst/>
          </a:prstGeom>
          <a:ln w="190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5B3B56D5-5A44-0CD6-8B77-83E23DC8D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725" y="4633913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DFB5E5E-F38D-98A1-5825-8BC7C030A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813" y="4926013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20B9F26D-EF86-945A-145A-A80698BD139A}"/>
              </a:ext>
            </a:extLst>
          </p:cNvPr>
          <p:cNvCxnSpPr/>
          <p:nvPr/>
        </p:nvCxnSpPr>
        <p:spPr>
          <a:xfrm>
            <a:off x="1722438" y="5337175"/>
            <a:ext cx="192087" cy="215900"/>
          </a:xfrm>
          <a:prstGeom prst="line">
            <a:avLst/>
          </a:prstGeom>
          <a:ln w="190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54333C41-BFF0-10A1-FBEE-1A8D26F4F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4850" y="4926013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4709C1-F7CA-103E-86C0-43FD7C3E6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8825" y="2778125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A3AF990-CBA2-129C-1C5E-9341A247D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350" y="2778125"/>
            <a:ext cx="569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3 . 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0B8AAB6-5BA4-A8A2-08AC-2E72EB25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8825" y="594995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3D4399A-4DBF-01E7-07BC-25E3C669B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350" y="5949950"/>
            <a:ext cx="569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9 . 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3" grpId="0"/>
      <p:bldP spid="32" grpId="0"/>
      <p:bldP spid="34" grpId="0"/>
      <p:bldP spid="35" grpId="0"/>
      <p:bldP spid="37" grpId="0"/>
      <p:bldP spid="43" grpId="0"/>
      <p:bldP spid="45" grpId="0"/>
      <p:bldP spid="47" grpId="0"/>
      <p:bldP spid="49" grpId="0"/>
      <p:bldP spid="50" grpId="0"/>
      <p:bldP spid="52" grpId="0"/>
      <p:bldP spid="30" grpId="0"/>
      <p:bldP spid="38" grpId="0"/>
      <p:bldP spid="40" grpId="0"/>
      <p:bldP spid="4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標題 1">
            <a:extLst>
              <a:ext uri="{FF2B5EF4-FFF2-40B4-BE49-F238E27FC236}">
                <a16:creationId xmlns:a16="http://schemas.microsoft.com/office/drawing/2014/main" id="{664AD530-53BE-1ADA-1FDD-FF909E4DD619}"/>
              </a:ext>
            </a:extLst>
          </p:cNvPr>
          <p:cNvSpPr txBox="1">
            <a:spLocks/>
          </p:cNvSpPr>
          <p:nvPr/>
        </p:nvSpPr>
        <p:spPr bwMode="auto">
          <a:xfrm>
            <a:off x="742950" y="3656013"/>
            <a:ext cx="7886700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第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5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單元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小數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活動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5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 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1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毫米＝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0.1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公分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圖片 1">
            <a:extLst>
              <a:ext uri="{FF2B5EF4-FFF2-40B4-BE49-F238E27FC236}">
                <a16:creationId xmlns:a16="http://schemas.microsoft.com/office/drawing/2014/main" id="{BCA9BA0A-33AC-EFFD-D8AF-B909BEF99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038"/>
            <a:ext cx="45085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1" name="矩形 2">
            <a:extLst>
              <a:ext uri="{FF2B5EF4-FFF2-40B4-BE49-F238E27FC236}">
                <a16:creationId xmlns:a16="http://schemas.microsoft.com/office/drawing/2014/main" id="{F493B1AD-BBA4-E88D-BE59-0CA193071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0"/>
            <a:ext cx="87709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毫米是</a:t>
            </a:r>
            <a:r>
              <a:rPr lang="zh-TW" altLang="en-US" sz="26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用分數</a:t>
            </a:r>
            <a:r>
              <a:rPr lang="zh-TW" altLang="en-US" sz="26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小數說說看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877B3DB-B7FC-4A13-1ACA-29C886C01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5900738"/>
            <a:ext cx="11858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0.2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8A7238D-9F68-471E-9006-E35E6067E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2192338"/>
            <a:ext cx="1225551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圓角矩形圖說文字 32">
            <a:extLst>
              <a:ext uri="{FF2B5EF4-FFF2-40B4-BE49-F238E27FC236}">
                <a16:creationId xmlns:a16="http://schemas.microsoft.com/office/drawing/2014/main" id="{A19706A5-F8FB-9707-D899-55DB20255F99}"/>
              </a:ext>
            </a:extLst>
          </p:cNvPr>
          <p:cNvSpPr/>
          <p:nvPr/>
        </p:nvSpPr>
        <p:spPr>
          <a:xfrm>
            <a:off x="430213" y="517525"/>
            <a:ext cx="4070350" cy="1527175"/>
          </a:xfrm>
          <a:prstGeom prst="wedgeRoundRectCallout">
            <a:avLst>
              <a:gd name="adj1" fmla="val -32778"/>
              <a:gd name="adj2" fmla="val 69025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把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公分平分成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等</a:t>
            </a:r>
            <a:r>
              <a:rPr lang="zh-TW" altLang="en-US" sz="2000" dirty="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b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等</a:t>
            </a:r>
            <a:r>
              <a:rPr lang="zh-TW" altLang="en-US" sz="2000" dirty="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分</a:t>
            </a: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是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毫米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b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所以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毫米是     公分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ADDB995-907D-199E-5ADF-509411F27E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600" y="661988"/>
            <a:ext cx="2057400" cy="165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9C05454-8792-898F-BFE1-55EF4E14A7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7363" y="1422400"/>
            <a:ext cx="893762" cy="122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圓角矩形圖說文字 35">
            <a:extLst>
              <a:ext uri="{FF2B5EF4-FFF2-40B4-BE49-F238E27FC236}">
                <a16:creationId xmlns:a16="http://schemas.microsoft.com/office/drawing/2014/main" id="{42DEB900-021E-9E95-8B8A-7BE0798AD177}"/>
              </a:ext>
            </a:extLst>
          </p:cNvPr>
          <p:cNvSpPr/>
          <p:nvPr/>
        </p:nvSpPr>
        <p:spPr>
          <a:xfrm>
            <a:off x="6650038" y="711200"/>
            <a:ext cx="1866900" cy="536575"/>
          </a:xfrm>
          <a:prstGeom prst="wedgeRoundRectCallout">
            <a:avLst>
              <a:gd name="adj1" fmla="val 36298"/>
              <a:gd name="adj2" fmla="val 75159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37" name="物件 15">
            <a:extLst>
              <a:ext uri="{FF2B5EF4-FFF2-40B4-BE49-F238E27FC236}">
                <a16:creationId xmlns:a16="http://schemas.microsoft.com/office/drawing/2014/main" id="{D79A6E93-36EB-0617-5145-8FED7BD656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9538" y="1509713"/>
          <a:ext cx="2809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112" imgH="393529" progId="Equation.DSMT4">
                  <p:embed/>
                </p:oleObj>
              </mc:Choice>
              <mc:Fallback>
                <p:oleObj name="Equation" r:id="rId6" imgW="203112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538" y="1509713"/>
                        <a:ext cx="28098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" name="圖片 38">
            <a:extLst>
              <a:ext uri="{FF2B5EF4-FFF2-40B4-BE49-F238E27FC236}">
                <a16:creationId xmlns:a16="http://schemas.microsoft.com/office/drawing/2014/main" id="{2635E747-B610-28B8-12B6-CB4D429F44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3975100"/>
            <a:ext cx="7505700" cy="113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矩形 2">
            <a:extLst>
              <a:ext uri="{FF2B5EF4-FFF2-40B4-BE49-F238E27FC236}">
                <a16:creationId xmlns:a16="http://schemas.microsoft.com/office/drawing/2014/main" id="{A5181642-02F0-8220-E4F5-65903B90B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4252913"/>
            <a:ext cx="54816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毫米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      公分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endParaRPr lang="zh-TW" altLang="en-US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4" name="物件 15">
            <a:extLst>
              <a:ext uri="{FF2B5EF4-FFF2-40B4-BE49-F238E27FC236}">
                <a16:creationId xmlns:a16="http://schemas.microsoft.com/office/drawing/2014/main" id="{68297C4D-42F2-F603-A491-9D303E7915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0625" y="4060825"/>
          <a:ext cx="45561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3112" imgH="393529" progId="Equation.DSMT4">
                  <p:embed/>
                </p:oleObj>
              </mc:Choice>
              <mc:Fallback>
                <p:oleObj name="Equation" r:id="rId9" imgW="203112" imgH="393529" progId="Equation.DSMT4">
                  <p:embed/>
                  <p:pic>
                    <p:nvPicPr>
                      <p:cNvPr id="0" name="物件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25" y="4060825"/>
                        <a:ext cx="455613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矩形 2">
            <a:extLst>
              <a:ext uri="{FF2B5EF4-FFF2-40B4-BE49-F238E27FC236}">
                <a16:creationId xmlns:a16="http://schemas.microsoft.com/office/drawing/2014/main" id="{C944B797-28F0-019C-4E94-54D4B3E71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5430838"/>
            <a:ext cx="651986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 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毫米是</a:t>
            </a:r>
            <a:r>
              <a:rPr lang="zh-TW" altLang="en-US" sz="26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r>
              <a:rPr lang="zh-TW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r>
              <a:rPr lang="en-US" altLang="zh-TW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3 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毫米</a:t>
            </a:r>
            <a:r>
              <a:rPr lang="zh-TW" altLang="en-US" sz="26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呢</a:t>
            </a:r>
            <a:r>
              <a:rPr lang="zh-TW" altLang="en-US" sz="26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  <a:r>
              <a:rPr lang="en-US" altLang="zh-TW" sz="2600">
                <a:latin typeface="標楷體" panose="03000509000000000000" pitchFamily="65" charset="-120"/>
                <a:ea typeface="標楷體" panose="03000509000000000000" pitchFamily="65" charset="-120"/>
              </a:rPr>
              <a:t>……</a:t>
            </a:r>
            <a:endParaRPr lang="zh-TW" altLang="en-US" sz="2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1DD4512-2C78-4647-28BD-A886D739C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4363" y="5900738"/>
            <a:ext cx="1184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0.3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33" grpId="0" animBg="1"/>
      <p:bldP spid="36" grpId="0" animBg="1"/>
      <p:bldP spid="43" grpId="0"/>
      <p:bldP spid="45" grpId="0"/>
      <p:bldP spid="4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圖片 2">
            <a:extLst>
              <a:ext uri="{FF2B5EF4-FFF2-40B4-BE49-F238E27FC236}">
                <a16:creationId xmlns:a16="http://schemas.microsoft.com/office/drawing/2014/main" id="{45D75FB4-BBBF-92B3-F92E-AA49AB861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8" y="1635125"/>
            <a:ext cx="4124325" cy="165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5" name="矩形 2">
            <a:extLst>
              <a:ext uri="{FF2B5EF4-FFF2-40B4-BE49-F238E27FC236}">
                <a16:creationId xmlns:a16="http://schemas.microsoft.com/office/drawing/2014/main" id="{24709EEE-E8AF-F577-0AD4-6F27DDA76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42863"/>
            <a:ext cx="80851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下圖的藍色繩子</a:t>
            </a:r>
            <a:r>
              <a:rPr lang="zh-TW" altLang="en-US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長幾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r>
              <a:rPr lang="zh-TW" altLang="en-US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毫米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54276" name="圖片 2">
            <a:extLst>
              <a:ext uri="{FF2B5EF4-FFF2-40B4-BE49-F238E27FC236}">
                <a16:creationId xmlns:a16="http://schemas.microsoft.com/office/drawing/2014/main" id="{29B306CA-15BE-4884-A785-0E8445E37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98425"/>
            <a:ext cx="45720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5" name="矩形 2">
            <a:extLst>
              <a:ext uri="{FF2B5EF4-FFF2-40B4-BE49-F238E27FC236}">
                <a16:creationId xmlns:a16="http://schemas.microsoft.com/office/drawing/2014/main" id="{52B08333-725A-5F03-43B7-B59015EEE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1060450"/>
            <a:ext cx="72628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也可以說是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用小數說說看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1F56AFA-7CA2-DFDA-5A07-F086FDAF3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519238"/>
            <a:ext cx="1262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4. 3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</a:t>
            </a:r>
          </a:p>
        </p:txBody>
      </p:sp>
      <p:sp>
        <p:nvSpPr>
          <p:cNvPr id="29" name="圓角矩形圖說文字 28">
            <a:extLst>
              <a:ext uri="{FF2B5EF4-FFF2-40B4-BE49-F238E27FC236}">
                <a16:creationId xmlns:a16="http://schemas.microsoft.com/office/drawing/2014/main" id="{9320122C-CE1D-BF11-F622-B863CB2C1AAF}"/>
              </a:ext>
            </a:extLst>
          </p:cNvPr>
          <p:cNvSpPr/>
          <p:nvPr/>
        </p:nvSpPr>
        <p:spPr bwMode="auto">
          <a:xfrm>
            <a:off x="1365250" y="3867150"/>
            <a:ext cx="4832350" cy="1116013"/>
          </a:xfrm>
          <a:prstGeom prst="wedgeRoundRectCallout">
            <a:avLst>
              <a:gd name="adj1" fmla="val 56767"/>
              <a:gd name="adj2" fmla="val -18587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繩子</a:t>
            </a:r>
            <a:r>
              <a:rPr lang="zh-TW" altLang="en-US" sz="2200" dirty="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長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毫米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毫米是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0.3 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所以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endParaRPr lang="zh-TW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2F10CC4-5918-68BA-A90C-B97A4F9B0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7600" y="517525"/>
            <a:ext cx="2506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毫米</a:t>
            </a:r>
          </a:p>
        </p:txBody>
      </p:sp>
      <p:pic>
        <p:nvPicPr>
          <p:cNvPr id="54281" name="圖片 3">
            <a:extLst>
              <a:ext uri="{FF2B5EF4-FFF2-40B4-BE49-F238E27FC236}">
                <a16:creationId xmlns:a16="http://schemas.microsoft.com/office/drawing/2014/main" id="{AD9D05AD-B0C3-0DCD-3333-064AEA1513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75" y="3770313"/>
            <a:ext cx="1568450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5" grpId="0"/>
      <p:bldP spid="26" grpId="0"/>
      <p:bldP spid="29" grpId="0" animBg="1"/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矩形 2">
            <a:extLst>
              <a:ext uri="{FF2B5EF4-FFF2-40B4-BE49-F238E27FC236}">
                <a16:creationId xmlns:a16="http://schemas.microsoft.com/office/drawing/2014/main" id="{B748B3C0-2692-C2C4-83A4-30AA6BA0E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42863"/>
            <a:ext cx="7724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用尺畫出</a:t>
            </a:r>
            <a:r>
              <a:rPr lang="zh-TW" altLang="en-US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條</a:t>
            </a:r>
            <a:r>
              <a:rPr lang="zh-TW" altLang="en-US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長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6.8 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公分的直線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9" name="圓角矩形圖說文字 28">
            <a:extLst>
              <a:ext uri="{FF2B5EF4-FFF2-40B4-BE49-F238E27FC236}">
                <a16:creationId xmlns:a16="http://schemas.microsoft.com/office/drawing/2014/main" id="{7A79230D-10A6-0B11-1AD0-31BBADD26CA6}"/>
              </a:ext>
            </a:extLst>
          </p:cNvPr>
          <p:cNvSpPr/>
          <p:nvPr/>
        </p:nvSpPr>
        <p:spPr bwMode="auto">
          <a:xfrm>
            <a:off x="2743200" y="2917825"/>
            <a:ext cx="4222750" cy="1189038"/>
          </a:xfrm>
          <a:prstGeom prst="wedgeRoundRectCallout">
            <a:avLst>
              <a:gd name="adj1" fmla="val 56767"/>
              <a:gd name="adj2" fmla="val -18587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這條直線也可以說是</a:t>
            </a:r>
          </a:p>
          <a:p>
            <a:pPr>
              <a:lnSpc>
                <a:spcPct val="150000"/>
              </a:lnSpc>
              <a:defRPr/>
            </a:pPr>
            <a:r>
              <a:rPr lang="zh-TW" altLang="en-US" sz="2200" dirty="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r>
              <a:rPr lang="zh-TW" altLang="en-US" sz="2200" dirty="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毫米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9F4C940-90F6-8343-A990-2A7757FB3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9288" y="4151313"/>
            <a:ext cx="25066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毫米</a:t>
            </a:r>
          </a:p>
        </p:txBody>
      </p:sp>
      <p:pic>
        <p:nvPicPr>
          <p:cNvPr id="55301" name="圖片 6">
            <a:extLst>
              <a:ext uri="{FF2B5EF4-FFF2-40B4-BE49-F238E27FC236}">
                <a16:creationId xmlns:a16="http://schemas.microsoft.com/office/drawing/2014/main" id="{311BB0D5-E100-71CE-ED27-A3C4FAC72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" y="57150"/>
            <a:ext cx="45878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A1796FB-886E-D1B2-E698-893444137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9038" y="2746375"/>
            <a:ext cx="1306512" cy="163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A3C9B90-23AB-5BB7-B325-DB2E8EDC5A98}"/>
              </a:ext>
            </a:extLst>
          </p:cNvPr>
          <p:cNvCxnSpPr/>
          <p:nvPr/>
        </p:nvCxnSpPr>
        <p:spPr>
          <a:xfrm flipV="1">
            <a:off x="1190625" y="1930400"/>
            <a:ext cx="2447925" cy="0"/>
          </a:xfrm>
          <a:prstGeom prst="line">
            <a:avLst/>
          </a:prstGeom>
          <a:ln w="38100">
            <a:solidFill>
              <a:srgbClr val="FF3B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矩形 4">
            <a:extLst>
              <a:ext uri="{FF2B5EF4-FFF2-40B4-BE49-F238E27FC236}">
                <a16:creationId xmlns:a16="http://schemas.microsoft.com/office/drawing/2014/main" id="{35EC5D12-A052-90FE-A762-1634A5871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406525"/>
            <a:ext cx="4991100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) 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) 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毫米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 ) 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</a:p>
        </p:txBody>
      </p:sp>
      <p:pic>
        <p:nvPicPr>
          <p:cNvPr id="56323" name="圖片 1">
            <a:extLst>
              <a:ext uri="{FF2B5EF4-FFF2-40B4-BE49-F238E27FC236}">
                <a16:creationId xmlns:a16="http://schemas.microsoft.com/office/drawing/2014/main" id="{93C99A9A-D44D-27EA-A2B6-342798AC2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4" name="圖片 2">
            <a:extLst>
              <a:ext uri="{FF2B5EF4-FFF2-40B4-BE49-F238E27FC236}">
                <a16:creationId xmlns:a16="http://schemas.microsoft.com/office/drawing/2014/main" id="{09606661-2232-0578-5075-B939C928D6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1414463"/>
            <a:ext cx="3619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5" name="圖片 3">
            <a:extLst>
              <a:ext uri="{FF2B5EF4-FFF2-40B4-BE49-F238E27FC236}">
                <a16:creationId xmlns:a16="http://schemas.microsoft.com/office/drawing/2014/main" id="{D8934246-6BEA-12B0-77BE-7DDD9E9983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3998913"/>
            <a:ext cx="36036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2616F9B-FE81-8306-B0C5-AB12F7A09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9725" y="1482725"/>
            <a:ext cx="38893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32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6327" name="矩形 1">
            <a:extLst>
              <a:ext uri="{FF2B5EF4-FFF2-40B4-BE49-F238E27FC236}">
                <a16:creationId xmlns:a16="http://schemas.microsoft.com/office/drawing/2014/main" id="{30A79086-BC16-60EC-29E5-E7B59B1FC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696913"/>
            <a:ext cx="4133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量量看</a:t>
            </a:r>
            <a:r>
              <a:rPr lang="zh-TW" altLang="en-US">
                <a:latin typeface="DFBiaoKaiShuStd-W5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有多</a:t>
            </a:r>
            <a:r>
              <a:rPr lang="zh-TW" altLang="en-US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長</a:t>
            </a:r>
            <a:r>
              <a:rPr lang="zh-TW" altLang="en-US">
                <a:latin typeface="DFBiaoKaiShuStd-W5"/>
              </a:rPr>
              <a:t>？</a:t>
            </a:r>
            <a:endParaRPr lang="zh-TW" altLang="en-US"/>
          </a:p>
        </p:txBody>
      </p:sp>
      <p:pic>
        <p:nvPicPr>
          <p:cNvPr id="56328" name="圖片 2">
            <a:extLst>
              <a:ext uri="{FF2B5EF4-FFF2-40B4-BE49-F238E27FC236}">
                <a16:creationId xmlns:a16="http://schemas.microsoft.com/office/drawing/2014/main" id="{6728D9BE-3696-B3D5-4D05-AFAB625045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8" y="1470025"/>
            <a:ext cx="2208212" cy="111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9" name="圖片 3">
            <a:extLst>
              <a:ext uri="{FF2B5EF4-FFF2-40B4-BE49-F238E27FC236}">
                <a16:creationId xmlns:a16="http://schemas.microsoft.com/office/drawing/2014/main" id="{F615B69A-9479-F8AF-D0F0-263815D41C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8" y="3998913"/>
            <a:ext cx="3386137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DEA54944-35B9-C294-6267-130ED83393CB}"/>
              </a:ext>
            </a:extLst>
          </p:cNvPr>
          <p:cNvCxnSpPr/>
          <p:nvPr/>
        </p:nvCxnSpPr>
        <p:spPr>
          <a:xfrm>
            <a:off x="298450" y="3692525"/>
            <a:ext cx="8197850" cy="0"/>
          </a:xfrm>
          <a:prstGeom prst="line">
            <a:avLst/>
          </a:prstGeom>
          <a:ln w="57150">
            <a:solidFill>
              <a:srgbClr val="A4B1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01B4A1F1-EF13-5752-51ED-E4E37C552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9213" y="1482725"/>
            <a:ext cx="38893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32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5AC2E3E-EF2F-AA01-57B5-7B79F025D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488" y="2130425"/>
            <a:ext cx="6969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32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D804DD-CE55-A057-9C3C-ADB9FDC1A0DC}"/>
              </a:ext>
            </a:extLst>
          </p:cNvPr>
          <p:cNvSpPr/>
          <p:nvPr/>
        </p:nvSpPr>
        <p:spPr>
          <a:xfrm>
            <a:off x="6540500" y="2271713"/>
            <a:ext cx="1549400" cy="369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用小數表示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6334" name="矩形 41">
            <a:extLst>
              <a:ext uri="{FF2B5EF4-FFF2-40B4-BE49-F238E27FC236}">
                <a16:creationId xmlns:a16="http://schemas.microsoft.com/office/drawing/2014/main" id="{81A9BB8A-15C0-9D04-10AE-15204589A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3883025"/>
            <a:ext cx="4991100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) 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) 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毫米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  ) 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6F06F48-DA6B-E799-D1E8-8E7A86C2D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225" y="3959225"/>
            <a:ext cx="38893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32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7A808EE-4C27-4119-1561-5FFB28DC6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959225"/>
            <a:ext cx="38893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32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5181416-532D-2F3E-DF55-1898A6C0F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9988" y="4606925"/>
            <a:ext cx="6969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32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4.4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3CBBDB3-F5DF-373B-3FAA-A9D09C689C50}"/>
              </a:ext>
            </a:extLst>
          </p:cNvPr>
          <p:cNvSpPr/>
          <p:nvPr/>
        </p:nvSpPr>
        <p:spPr>
          <a:xfrm>
            <a:off x="7112000" y="4748213"/>
            <a:ext cx="1549400" cy="369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用小數表示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0" grpId="0"/>
      <p:bldP spid="41" grpId="0"/>
      <p:bldP spid="53" grpId="0"/>
      <p:bldP spid="54" grpId="0"/>
      <p:bldP spid="5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圖片 2">
            <a:extLst>
              <a:ext uri="{FF2B5EF4-FFF2-40B4-BE49-F238E27FC236}">
                <a16:creationId xmlns:a16="http://schemas.microsoft.com/office/drawing/2014/main" id="{9CED6CBC-31AC-E99A-40F5-601DF00B1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523875"/>
            <a:ext cx="8945562" cy="634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7" name="圖片 7">
            <a:extLst>
              <a:ext uri="{FF2B5EF4-FFF2-40B4-BE49-F238E27FC236}">
                <a16:creationId xmlns:a16="http://schemas.microsoft.com/office/drawing/2014/main" id="{6CC0468B-2EFE-419F-AECE-04540891B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31750"/>
            <a:ext cx="4540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8" name="矩形 2">
            <a:extLst>
              <a:ext uri="{FF2B5EF4-FFF2-40B4-BE49-F238E27FC236}">
                <a16:creationId xmlns:a16="http://schemas.microsoft.com/office/drawing/2014/main" id="{44250C39-994E-7791-0707-E7003CEFE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0"/>
            <a:ext cx="85867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幫</a:t>
            </a:r>
            <a:r>
              <a:rPr lang="zh-TW" altLang="en-US" sz="26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柏宇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完成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「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綠豆成長記錄表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」。</a:t>
            </a:r>
          </a:p>
        </p:txBody>
      </p:sp>
      <p:pic>
        <p:nvPicPr>
          <p:cNvPr id="57349" name="圖片 1">
            <a:extLst>
              <a:ext uri="{FF2B5EF4-FFF2-40B4-BE49-F238E27FC236}">
                <a16:creationId xmlns:a16="http://schemas.microsoft.com/office/drawing/2014/main" id="{366D2FB1-F886-A403-C92D-5D02ED3A5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8" y="4237038"/>
            <a:ext cx="1901825" cy="250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0" name="矩形 2">
            <a:extLst>
              <a:ext uri="{FF2B5EF4-FFF2-40B4-BE49-F238E27FC236}">
                <a16:creationId xmlns:a16="http://schemas.microsoft.com/office/drawing/2014/main" id="{5FE7EC25-03C5-D622-7032-C980D5D3B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025" y="3232150"/>
            <a:ext cx="2259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solidFill>
                  <a:schemeClr val="bg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種</a:t>
            </a:r>
            <a:r>
              <a:rPr lang="zh-TW" altLang="en-US" sz="2000">
                <a:solidFill>
                  <a:schemeClr val="bg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植日期</a:t>
            </a:r>
            <a:endParaRPr lang="zh-TW" altLang="en-US" sz="180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7351" name="矩形 2">
            <a:extLst>
              <a:ext uri="{FF2B5EF4-FFF2-40B4-BE49-F238E27FC236}">
                <a16:creationId xmlns:a16="http://schemas.microsoft.com/office/drawing/2014/main" id="{1DDE23B4-8422-392B-2230-B85A44E6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763" y="3741738"/>
            <a:ext cx="2257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生長紀錄</a:t>
            </a:r>
            <a:endParaRPr lang="zh-TW" altLang="en-US" sz="20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7352" name="矩形 2">
            <a:extLst>
              <a:ext uri="{FF2B5EF4-FFF2-40B4-BE49-F238E27FC236}">
                <a16:creationId xmlns:a16="http://schemas.microsoft.com/office/drawing/2014/main" id="{9EC6C592-569B-F37A-D73A-D40EDEBEC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325" y="3232150"/>
            <a:ext cx="2257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solidFill>
                  <a:schemeClr val="bg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記錄者</a:t>
            </a:r>
            <a:endParaRPr lang="zh-TW" altLang="en-US" sz="180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7353" name="矩形 2">
            <a:extLst>
              <a:ext uri="{FF2B5EF4-FFF2-40B4-BE49-F238E27FC236}">
                <a16:creationId xmlns:a16="http://schemas.microsoft.com/office/drawing/2014/main" id="{992FD15E-E885-ADAA-6DC0-9A29722B8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3163" y="3741738"/>
            <a:ext cx="2257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觀察紀錄</a:t>
            </a:r>
            <a:endParaRPr lang="zh-TW" altLang="en-US" sz="20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7354" name="矩形 2">
            <a:extLst>
              <a:ext uri="{FF2B5EF4-FFF2-40B4-BE49-F238E27FC236}">
                <a16:creationId xmlns:a16="http://schemas.microsoft.com/office/drawing/2014/main" id="{40E5C977-1600-4C44-8298-9E4210EC6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0063" y="5287963"/>
            <a:ext cx="4343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高度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400" u="sng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         </a:t>
            </a:r>
            <a:r>
              <a:rPr lang="zh-TW" altLang="en-US" sz="24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endParaRPr lang="zh-TW" altLang="en-US" sz="20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42DCBB2F-6CA6-7C76-7FD9-ACF24184C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9388" y="5229225"/>
            <a:ext cx="2506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0.9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圖片 5">
            <a:extLst>
              <a:ext uri="{FF2B5EF4-FFF2-40B4-BE49-F238E27FC236}">
                <a16:creationId xmlns:a16="http://schemas.microsoft.com/office/drawing/2014/main" id="{3805D054-D201-7F1E-CD54-56EFB3852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1306513"/>
            <a:ext cx="8912225" cy="26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1" name="圖片 7">
            <a:extLst>
              <a:ext uri="{FF2B5EF4-FFF2-40B4-BE49-F238E27FC236}">
                <a16:creationId xmlns:a16="http://schemas.microsoft.com/office/drawing/2014/main" id="{FF080F45-0BB5-84F7-CDD9-4CE6034C7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31750"/>
            <a:ext cx="4540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2" name="矩形 2">
            <a:extLst>
              <a:ext uri="{FF2B5EF4-FFF2-40B4-BE49-F238E27FC236}">
                <a16:creationId xmlns:a16="http://schemas.microsoft.com/office/drawing/2014/main" id="{452B8E76-9E0C-D2E8-29FF-C123732D6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0"/>
            <a:ext cx="85867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幫</a:t>
            </a:r>
            <a:r>
              <a:rPr lang="zh-TW" altLang="en-US" sz="26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柏宇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完成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「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綠豆成長記錄表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」。</a:t>
            </a:r>
          </a:p>
        </p:txBody>
      </p:sp>
      <p:pic>
        <p:nvPicPr>
          <p:cNvPr id="58373" name="圖片 3">
            <a:extLst>
              <a:ext uri="{FF2B5EF4-FFF2-40B4-BE49-F238E27FC236}">
                <a16:creationId xmlns:a16="http://schemas.microsoft.com/office/drawing/2014/main" id="{B9C7B1B8-0BBC-ACAA-5758-7F86B216A7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738" y="1497013"/>
            <a:ext cx="168275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4" name="矩形 2">
            <a:extLst>
              <a:ext uri="{FF2B5EF4-FFF2-40B4-BE49-F238E27FC236}">
                <a16:creationId xmlns:a16="http://schemas.microsoft.com/office/drawing/2014/main" id="{9C59F0B3-706B-7931-5E55-21AE26BB8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700" y="1416050"/>
            <a:ext cx="4344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高度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400" u="sng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         </a:t>
            </a:r>
            <a:r>
              <a:rPr lang="zh-TW" altLang="en-US" sz="24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endParaRPr lang="zh-TW" altLang="en-US" sz="20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D88A801-1BDF-EB25-2C66-E10BC02EB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4613" y="1357313"/>
            <a:ext cx="25066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1.3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8376" name="矩形 2">
            <a:extLst>
              <a:ext uri="{FF2B5EF4-FFF2-40B4-BE49-F238E27FC236}">
                <a16:creationId xmlns:a16="http://schemas.microsoft.com/office/drawing/2014/main" id="{46D9BD2B-D064-886B-B3B9-C4AE3AE97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5763" y="1901825"/>
            <a:ext cx="484346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比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日長高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b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2400" u="sng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      </a:t>
            </a:r>
            <a:r>
              <a:rPr lang="zh-TW" altLang="en-US" sz="24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endParaRPr lang="zh-TW" altLang="en-US" sz="20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234BBE8-3902-3EBE-FC06-3E4027871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0" y="2235200"/>
            <a:ext cx="782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0.4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FFB5646-2ABD-5F28-DCB5-AEE141509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725738"/>
            <a:ext cx="18002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1 .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en-US" altLang="zh-TW" sz="1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endParaRPr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  </a:t>
            </a:r>
            <a:r>
              <a:rPr lang="en-US" altLang="zh-TW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0 . 9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0 . 4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361B01-3F03-E6BB-0014-ED0B0A5A7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0" y="245745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4F1E6BE5-C73A-26BE-BB45-7C7AE98457AA}"/>
              </a:ext>
            </a:extLst>
          </p:cNvPr>
          <p:cNvCxnSpPr/>
          <p:nvPr/>
        </p:nvCxnSpPr>
        <p:spPr>
          <a:xfrm>
            <a:off x="7478713" y="2868613"/>
            <a:ext cx="190500" cy="215900"/>
          </a:xfrm>
          <a:prstGeom prst="line">
            <a:avLst/>
          </a:prstGeom>
          <a:ln w="190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18C681E0-FE9E-6D95-A67F-6F7EE1020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9538" y="245745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0" grpId="0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圖片 7">
            <a:extLst>
              <a:ext uri="{FF2B5EF4-FFF2-40B4-BE49-F238E27FC236}">
                <a16:creationId xmlns:a16="http://schemas.microsoft.com/office/drawing/2014/main" id="{9ECF875C-DF4C-97A1-8004-F1BDC9D0B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31750"/>
            <a:ext cx="4540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矩形 2">
            <a:extLst>
              <a:ext uri="{FF2B5EF4-FFF2-40B4-BE49-F238E27FC236}">
                <a16:creationId xmlns:a16="http://schemas.microsoft.com/office/drawing/2014/main" id="{D29ABB77-AE5C-F09B-2FB1-345DF31E1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0"/>
            <a:ext cx="85867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幫</a:t>
            </a:r>
            <a:r>
              <a:rPr lang="zh-TW" altLang="en-US" sz="26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柏宇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完成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「</a:t>
            </a:r>
            <a:r>
              <a:rPr lang="zh-TW" altLang="en-US" sz="26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綠豆成長記錄表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」。</a:t>
            </a:r>
          </a:p>
        </p:txBody>
      </p:sp>
      <p:pic>
        <p:nvPicPr>
          <p:cNvPr id="59396" name="圖片 1">
            <a:extLst>
              <a:ext uri="{FF2B5EF4-FFF2-40B4-BE49-F238E27FC236}">
                <a16:creationId xmlns:a16="http://schemas.microsoft.com/office/drawing/2014/main" id="{71ABC222-7485-6D3E-2A53-80340556E3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" y="1374775"/>
            <a:ext cx="8947150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7" name="圖片 4">
            <a:extLst>
              <a:ext uri="{FF2B5EF4-FFF2-40B4-BE49-F238E27FC236}">
                <a16:creationId xmlns:a16="http://schemas.microsoft.com/office/drawing/2014/main" id="{BDED8F27-419C-E38B-4BDE-D044D47444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788" y="1416050"/>
            <a:ext cx="179705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矩形 2">
            <a:extLst>
              <a:ext uri="{FF2B5EF4-FFF2-40B4-BE49-F238E27FC236}">
                <a16:creationId xmlns:a16="http://schemas.microsoft.com/office/drawing/2014/main" id="{6683655D-B4F0-5C33-2D4E-97536907F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700" y="1416050"/>
            <a:ext cx="4344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高度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400" u="sng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         </a:t>
            </a:r>
            <a:r>
              <a:rPr lang="zh-TW" altLang="en-US" sz="24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endParaRPr lang="zh-TW" altLang="en-US" sz="20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66F1A01-DBA3-4A40-2AD5-0ECA2D25E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4613" y="1357313"/>
            <a:ext cx="25066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2.3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9400" name="矩形 2">
            <a:extLst>
              <a:ext uri="{FF2B5EF4-FFF2-40B4-BE49-F238E27FC236}">
                <a16:creationId xmlns:a16="http://schemas.microsoft.com/office/drawing/2014/main" id="{476C29D5-17EA-8F2A-1286-0BE988026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5763" y="1901825"/>
            <a:ext cx="484346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比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7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日長高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b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2400" u="sng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      </a:t>
            </a:r>
            <a:r>
              <a:rPr lang="zh-TW" altLang="en-US" sz="24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endParaRPr lang="zh-TW" altLang="en-US" sz="20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F9E6165-076A-91F9-53E7-D367BF904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0" y="2235200"/>
            <a:ext cx="782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3BF740-EC96-0BF7-F296-FE6CD9164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725738"/>
            <a:ext cx="18002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2 .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en-US" altLang="zh-TW" sz="1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endParaRPr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  </a:t>
            </a:r>
            <a:r>
              <a:rPr lang="en-US" altLang="zh-TW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1 . 3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1 . 0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F59EEC6-798D-A104-0AA2-3E8838A92E59}"/>
              </a:ext>
            </a:extLst>
          </p:cNvPr>
          <p:cNvCxnSpPr/>
          <p:nvPr/>
        </p:nvCxnSpPr>
        <p:spPr>
          <a:xfrm>
            <a:off x="7870825" y="3579813"/>
            <a:ext cx="190500" cy="215900"/>
          </a:xfrm>
          <a:prstGeom prst="line">
            <a:avLst/>
          </a:prstGeom>
          <a:ln w="190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77681E-52F1-9880-DB83-71AA580E6D1E}"/>
              </a:ext>
            </a:extLst>
          </p:cNvPr>
          <p:cNvSpPr txBox="1">
            <a:spLocks/>
          </p:cNvSpPr>
          <p:nvPr/>
        </p:nvSpPr>
        <p:spPr bwMode="auto">
          <a:xfrm>
            <a:off x="628650" y="2670175"/>
            <a:ext cx="7886700" cy="11160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defRPr/>
            </a:pPr>
            <a:r>
              <a:rPr lang="zh-TW" altLang="en-US" sz="6600" b="1" dirty="0">
                <a:ln w="57150">
                  <a:noFill/>
                </a:ln>
                <a:latin typeface="微軟正黑體" pitchFamily="34" charset="-120"/>
                <a:ea typeface="微軟正黑體" pitchFamily="34" charset="-120"/>
              </a:rPr>
              <a:t>練習百分百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圖片 2">
            <a:extLst>
              <a:ext uri="{FF2B5EF4-FFF2-40B4-BE49-F238E27FC236}">
                <a16:creationId xmlns:a16="http://schemas.microsoft.com/office/drawing/2014/main" id="{5BCBDD22-0831-2EBC-CCA5-0EA168A40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8" y="1366838"/>
            <a:ext cx="45720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3" name="矩形 2">
            <a:extLst>
              <a:ext uri="{FF2B5EF4-FFF2-40B4-BE49-F238E27FC236}">
                <a16:creationId xmlns:a16="http://schemas.microsoft.com/office/drawing/2014/main" id="{D8011929-0A5F-5CC0-C7C6-DEC788F3D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1300163"/>
            <a:ext cx="81930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填填看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1444" name="圖片 2">
            <a:extLst>
              <a:ext uri="{FF2B5EF4-FFF2-40B4-BE49-F238E27FC236}">
                <a16:creationId xmlns:a16="http://schemas.microsoft.com/office/drawing/2014/main" id="{2F8A39DD-B2AC-D48E-4FDC-A64CAD795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3" y="1884363"/>
            <a:ext cx="3524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5" name="圖片 3">
            <a:extLst>
              <a:ext uri="{FF2B5EF4-FFF2-40B4-BE49-F238E27FC236}">
                <a16:creationId xmlns:a16="http://schemas.microsoft.com/office/drawing/2014/main" id="{0367FCFB-3B76-1106-9AFD-9F60E172CF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2462213"/>
            <a:ext cx="3492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6" name="圖片 2">
            <a:extLst>
              <a:ext uri="{FF2B5EF4-FFF2-40B4-BE49-F238E27FC236}">
                <a16:creationId xmlns:a16="http://schemas.microsoft.com/office/drawing/2014/main" id="{4042036B-49C5-8FEC-8D03-674BF5E7BE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" y="3041650"/>
            <a:ext cx="3556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1" name="矩形 2">
            <a:extLst>
              <a:ext uri="{FF2B5EF4-FFF2-40B4-BE49-F238E27FC236}">
                <a16:creationId xmlns:a16="http://schemas.microsoft.com/office/drawing/2014/main" id="{E1967D7A-60FB-A9A4-813F-AD56AB222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850" y="1676400"/>
            <a:ext cx="8193088" cy="4810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ts val="46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 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 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 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合起來是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46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47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合起來是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)</a:t>
            </a:r>
            <a:r>
              <a:rPr lang="zh-TW" altLang="en-US" dirty="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46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0.1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合起來是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。</a:t>
            </a:r>
          </a:p>
          <a:p>
            <a:pPr>
              <a:lnSpc>
                <a:spcPts val="46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0.7 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)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毫米</a:t>
            </a:r>
          </a:p>
          <a:p>
            <a:pPr>
              <a:lnSpc>
                <a:spcPts val="46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3.4 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)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)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毫米</a:t>
            </a:r>
          </a:p>
          <a:p>
            <a:pPr>
              <a:lnSpc>
                <a:spcPts val="46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用小數填填看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49263">
              <a:lnSpc>
                <a:spcPts val="46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毫米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(         )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endParaRPr lang="en-US" altLang="zh-TW" dirty="0">
              <a:solidFill>
                <a:srgbClr val="000000"/>
              </a:solidFill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  <a:p>
            <a:pPr marL="449263">
              <a:lnSpc>
                <a:spcPts val="46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毫米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(         )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D170A5D-93EB-CBAD-1F95-D82A5D16D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713" y="1841500"/>
            <a:ext cx="5699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6.3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BDC463-DF06-2008-2C87-C1432ECAE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2387600"/>
            <a:ext cx="568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4.7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FC9E796-C3E5-CFA6-FFDB-0E7F370BA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7150" y="2984500"/>
            <a:ext cx="569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9.2</a:t>
            </a:r>
          </a:p>
        </p:txBody>
      </p:sp>
      <p:pic>
        <p:nvPicPr>
          <p:cNvPr id="61451" name="圖片 12">
            <a:extLst>
              <a:ext uri="{FF2B5EF4-FFF2-40B4-BE49-F238E27FC236}">
                <a16:creationId xmlns:a16="http://schemas.microsoft.com/office/drawing/2014/main" id="{A91FB1A1-674A-5935-A7E4-036C1183A3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3619500"/>
            <a:ext cx="3603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52" name="圖片 13">
            <a:extLst>
              <a:ext uri="{FF2B5EF4-FFF2-40B4-BE49-F238E27FC236}">
                <a16:creationId xmlns:a16="http://schemas.microsoft.com/office/drawing/2014/main" id="{C1827E24-ADC6-FD68-3C5E-8C3DE25F38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4197350"/>
            <a:ext cx="35877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53" name="圖片 14">
            <a:extLst>
              <a:ext uri="{FF2B5EF4-FFF2-40B4-BE49-F238E27FC236}">
                <a16:creationId xmlns:a16="http://schemas.microsoft.com/office/drawing/2014/main" id="{963534EF-8824-B329-A945-79EC2C387B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" y="4775200"/>
            <a:ext cx="357188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1270154-E711-12DC-659C-58D09D965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513" y="3536950"/>
            <a:ext cx="3381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F24BBB-4DB4-AEF4-4989-7167AAB72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513" y="4168775"/>
            <a:ext cx="338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9DF534-B674-D21A-7F27-A9DF6FE79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413" y="4168775"/>
            <a:ext cx="338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</a:p>
        </p:txBody>
      </p:sp>
      <p:pic>
        <p:nvPicPr>
          <p:cNvPr id="61457" name="圖片 18">
            <a:extLst>
              <a:ext uri="{FF2B5EF4-FFF2-40B4-BE49-F238E27FC236}">
                <a16:creationId xmlns:a16="http://schemas.microsoft.com/office/drawing/2014/main" id="{2EC030F6-DF9E-868A-51B1-B72972209F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5326063"/>
            <a:ext cx="35877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58" name="圖片 19">
            <a:extLst>
              <a:ext uri="{FF2B5EF4-FFF2-40B4-BE49-F238E27FC236}">
                <a16:creationId xmlns:a16="http://schemas.microsoft.com/office/drawing/2014/main" id="{869A06E3-CCAA-5760-8BCC-D5513350038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5907088"/>
            <a:ext cx="36036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21F5A4A5-DCBA-D462-A17E-F8BBC0BC5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5316538"/>
            <a:ext cx="5699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1.6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EF3C0A3-2D39-2AFE-8A1F-F2962EFEB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488" y="5910263"/>
            <a:ext cx="568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16" grpId="0"/>
      <p:bldP spid="17" grpId="0"/>
      <p:bldP spid="18" grpId="0"/>
      <p:bldP spid="21" grpId="0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矩形 2">
            <a:extLst>
              <a:ext uri="{FF2B5EF4-FFF2-40B4-BE49-F238E27FC236}">
                <a16:creationId xmlns:a16="http://schemas.microsoft.com/office/drawing/2014/main" id="{47C8D8D3-7239-D0C8-BCF9-EC7E734DE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1528763"/>
            <a:ext cx="8193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在         裡填入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＞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或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＜。</a:t>
            </a:r>
          </a:p>
        </p:txBody>
      </p:sp>
      <p:pic>
        <p:nvPicPr>
          <p:cNvPr id="62467" name="圖片 2">
            <a:extLst>
              <a:ext uri="{FF2B5EF4-FFF2-40B4-BE49-F238E27FC236}">
                <a16:creationId xmlns:a16="http://schemas.microsoft.com/office/drawing/2014/main" id="{DED3B570-7A8A-3299-F7ED-7047C30CA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2520950"/>
            <a:ext cx="4191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8" name="圖片 3">
            <a:extLst>
              <a:ext uri="{FF2B5EF4-FFF2-40B4-BE49-F238E27FC236}">
                <a16:creationId xmlns:a16="http://schemas.microsoft.com/office/drawing/2014/main" id="{B403866D-7FD1-4F1F-257F-647AD79A7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3660775"/>
            <a:ext cx="38100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9" name="圖片 2">
            <a:extLst>
              <a:ext uri="{FF2B5EF4-FFF2-40B4-BE49-F238E27FC236}">
                <a16:creationId xmlns:a16="http://schemas.microsoft.com/office/drawing/2014/main" id="{461BD731-C7F6-59C4-1522-BB8E22D3B6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4805363"/>
            <a:ext cx="322263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0" name="圖片 1">
            <a:extLst>
              <a:ext uri="{FF2B5EF4-FFF2-40B4-BE49-F238E27FC236}">
                <a16:creationId xmlns:a16="http://schemas.microsoft.com/office/drawing/2014/main" id="{53E9A66A-09B9-97D2-B7DB-3B2D1302DB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6550"/>
            <a:ext cx="4635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1" name="Picture 3">
            <a:extLst>
              <a:ext uri="{FF2B5EF4-FFF2-40B4-BE49-F238E27FC236}">
                <a16:creationId xmlns:a16="http://schemas.microsoft.com/office/drawing/2014/main" id="{60B1125A-9067-07E3-8F70-FE9A022BE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50" y="1431925"/>
            <a:ext cx="744538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圓角矩形 1">
            <a:extLst>
              <a:ext uri="{FF2B5EF4-FFF2-40B4-BE49-F238E27FC236}">
                <a16:creationId xmlns:a16="http://schemas.microsoft.com/office/drawing/2014/main" id="{263FF8FE-8FF6-2AF5-5C34-00DAD0639874}"/>
              </a:ext>
            </a:extLst>
          </p:cNvPr>
          <p:cNvSpPr/>
          <p:nvPr/>
        </p:nvSpPr>
        <p:spPr>
          <a:xfrm>
            <a:off x="1073150" y="2287588"/>
            <a:ext cx="2998788" cy="852487"/>
          </a:xfrm>
          <a:prstGeom prst="roundRect">
            <a:avLst>
              <a:gd name="adj" fmla="val 50000"/>
            </a:avLst>
          </a:prstGeom>
          <a:solidFill>
            <a:srgbClr val="CBE8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0.9          0.7</a:t>
            </a:r>
            <a:endParaRPr lang="zh-TW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473" name="Picture 3">
            <a:extLst>
              <a:ext uri="{FF2B5EF4-FFF2-40B4-BE49-F238E27FC236}">
                <a16:creationId xmlns:a16="http://schemas.microsoft.com/office/drawing/2014/main" id="{F101F11B-B08C-B8C5-D020-FEB9614A0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2359025"/>
            <a:ext cx="742950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圓角矩形 27">
            <a:extLst>
              <a:ext uri="{FF2B5EF4-FFF2-40B4-BE49-F238E27FC236}">
                <a16:creationId xmlns:a16="http://schemas.microsoft.com/office/drawing/2014/main" id="{9FA8E01E-3615-8F34-3889-8B8254F15E82}"/>
              </a:ext>
            </a:extLst>
          </p:cNvPr>
          <p:cNvSpPr/>
          <p:nvPr/>
        </p:nvSpPr>
        <p:spPr>
          <a:xfrm>
            <a:off x="1073150" y="3419475"/>
            <a:ext cx="2998788" cy="852488"/>
          </a:xfrm>
          <a:prstGeom prst="roundRect">
            <a:avLst>
              <a:gd name="adj" fmla="val 50000"/>
            </a:avLst>
          </a:prstGeom>
          <a:solidFill>
            <a:srgbClr val="CBE8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5.2          5.1</a:t>
            </a:r>
            <a:endParaRPr lang="zh-TW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475" name="Picture 3">
            <a:extLst>
              <a:ext uri="{FF2B5EF4-FFF2-40B4-BE49-F238E27FC236}">
                <a16:creationId xmlns:a16="http://schemas.microsoft.com/office/drawing/2014/main" id="{ECCE28B5-FF8C-F860-419F-A43C1DB36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3490913"/>
            <a:ext cx="74295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圓角矩形 29">
            <a:extLst>
              <a:ext uri="{FF2B5EF4-FFF2-40B4-BE49-F238E27FC236}">
                <a16:creationId xmlns:a16="http://schemas.microsoft.com/office/drawing/2014/main" id="{A42BC8B9-8393-B8FB-3F53-EB25DDA64CC7}"/>
              </a:ext>
            </a:extLst>
          </p:cNvPr>
          <p:cNvSpPr/>
          <p:nvPr/>
        </p:nvSpPr>
        <p:spPr>
          <a:xfrm>
            <a:off x="1073150" y="4549775"/>
            <a:ext cx="2998788" cy="852488"/>
          </a:xfrm>
          <a:prstGeom prst="roundRect">
            <a:avLst>
              <a:gd name="adj" fmla="val 50000"/>
            </a:avLst>
          </a:prstGeom>
          <a:solidFill>
            <a:srgbClr val="CBE8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3.6          6.3</a:t>
            </a:r>
            <a:endParaRPr lang="zh-TW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477" name="Picture 3">
            <a:extLst>
              <a:ext uri="{FF2B5EF4-FFF2-40B4-BE49-F238E27FC236}">
                <a16:creationId xmlns:a16="http://schemas.microsoft.com/office/drawing/2014/main" id="{1F920FA8-D065-A0D8-8FE1-C4BB0922A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4622800"/>
            <a:ext cx="74295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43DBC4B5-28E5-1E0D-86E9-B67839EAA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925" y="2479675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＞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258C22A-B805-A8A0-1475-8E72261F7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925" y="36322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＞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888081F-0EBE-7DE0-4E9F-9AC4DB9E4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925" y="47450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＜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矩形 2">
            <a:extLst>
              <a:ext uri="{FF2B5EF4-FFF2-40B4-BE49-F238E27FC236}">
                <a16:creationId xmlns:a16="http://schemas.microsoft.com/office/drawing/2014/main" id="{4F3E5682-D075-5DB8-BC52-511E1AA29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1528763"/>
            <a:ext cx="8193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畫出指定的數</a:t>
            </a:r>
            <a:r>
              <a:rPr lang="zh-TW" altLang="en-US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3491" name="圖片 2">
            <a:extLst>
              <a:ext uri="{FF2B5EF4-FFF2-40B4-BE49-F238E27FC236}">
                <a16:creationId xmlns:a16="http://schemas.microsoft.com/office/drawing/2014/main" id="{1975B6DA-2F84-E4A0-3872-A45ED8911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4217988"/>
            <a:ext cx="4175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2" name="圖片 1">
            <a:extLst>
              <a:ext uri="{FF2B5EF4-FFF2-40B4-BE49-F238E27FC236}">
                <a16:creationId xmlns:a16="http://schemas.microsoft.com/office/drawing/2014/main" id="{FA5B8AFF-117C-D4B0-86D2-50ED1A113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2738"/>
            <a:ext cx="45878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圖片 2">
            <a:extLst>
              <a:ext uri="{FF2B5EF4-FFF2-40B4-BE49-F238E27FC236}">
                <a16:creationId xmlns:a16="http://schemas.microsoft.com/office/drawing/2014/main" id="{A7B62C4D-ED98-660E-A115-F112EAFDAB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538" y="2170113"/>
            <a:ext cx="2173287" cy="14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4" name="矩形 2">
            <a:extLst>
              <a:ext uri="{FF2B5EF4-FFF2-40B4-BE49-F238E27FC236}">
                <a16:creationId xmlns:a16="http://schemas.microsoft.com/office/drawing/2014/main" id="{1E7208F3-8C97-F100-FF5E-D08E905EF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1978025"/>
            <a:ext cx="860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0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  <a:endParaRPr lang="zh-TW" altLang="en-US" sz="20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3495" name="矩形 4">
            <a:extLst>
              <a:ext uri="{FF2B5EF4-FFF2-40B4-BE49-F238E27FC236}">
                <a16:creationId xmlns:a16="http://schemas.microsoft.com/office/drawing/2014/main" id="{B40B457B-29CE-8D6D-53CD-02C86CC31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2900" y="1979613"/>
            <a:ext cx="18780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例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：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1.3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</a:p>
        </p:txBody>
      </p:sp>
      <p:pic>
        <p:nvPicPr>
          <p:cNvPr id="63496" name="圖片 5">
            <a:extLst>
              <a:ext uri="{FF2B5EF4-FFF2-40B4-BE49-F238E27FC236}">
                <a16:creationId xmlns:a16="http://schemas.microsoft.com/office/drawing/2014/main" id="{799B9DD3-C9F9-569D-7947-6FB775A16B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900" y="2395538"/>
            <a:ext cx="4484688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7" name="圖片 6">
            <a:extLst>
              <a:ext uri="{FF2B5EF4-FFF2-40B4-BE49-F238E27FC236}">
                <a16:creationId xmlns:a16="http://schemas.microsoft.com/office/drawing/2014/main" id="{BDBD399C-10E3-30DB-DB63-FBB669DA97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4718050"/>
            <a:ext cx="2122487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8" name="矩形 23">
            <a:extLst>
              <a:ext uri="{FF2B5EF4-FFF2-40B4-BE49-F238E27FC236}">
                <a16:creationId xmlns:a16="http://schemas.microsoft.com/office/drawing/2014/main" id="{EDD6C5A9-D9E9-1174-6E9C-B717FDD6E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4183063"/>
            <a:ext cx="11064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0.6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6A3B0C-BF8A-5946-B42D-FC96C038487A}"/>
              </a:ext>
            </a:extLst>
          </p:cNvPr>
          <p:cNvSpPr/>
          <p:nvPr/>
        </p:nvSpPr>
        <p:spPr>
          <a:xfrm>
            <a:off x="1173163" y="4732338"/>
            <a:ext cx="1243012" cy="1141412"/>
          </a:xfrm>
          <a:prstGeom prst="rect">
            <a:avLst/>
          </a:prstGeom>
          <a:solidFill>
            <a:srgbClr val="F8388A">
              <a:alpha val="50196"/>
            </a:srgbClr>
          </a:solidFill>
          <a:ln>
            <a:solidFill>
              <a:srgbClr val="F838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矩形 2">
            <a:extLst>
              <a:ext uri="{FF2B5EF4-FFF2-40B4-BE49-F238E27FC236}">
                <a16:creationId xmlns:a16="http://schemas.microsoft.com/office/drawing/2014/main" id="{5F412E4D-F4A9-B211-8695-916102998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1528763"/>
            <a:ext cx="8193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畫出指定的數</a:t>
            </a:r>
            <a:r>
              <a:rPr lang="zh-TW" altLang="en-US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4515" name="圖片 1">
            <a:extLst>
              <a:ext uri="{FF2B5EF4-FFF2-40B4-BE49-F238E27FC236}">
                <a16:creationId xmlns:a16="http://schemas.microsoft.com/office/drawing/2014/main" id="{95F6F5E1-E161-D896-35EF-056A1049F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2738"/>
            <a:ext cx="45878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圖片 2">
            <a:extLst>
              <a:ext uri="{FF2B5EF4-FFF2-40B4-BE49-F238E27FC236}">
                <a16:creationId xmlns:a16="http://schemas.microsoft.com/office/drawing/2014/main" id="{0DF6EC0F-C83B-FEEE-55D6-4F0B047AF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538" y="2170113"/>
            <a:ext cx="2173287" cy="14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7" name="矩形 2">
            <a:extLst>
              <a:ext uri="{FF2B5EF4-FFF2-40B4-BE49-F238E27FC236}">
                <a16:creationId xmlns:a16="http://schemas.microsoft.com/office/drawing/2014/main" id="{171A850E-ADC8-003B-1AE8-A03C73DF6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1978025"/>
            <a:ext cx="860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0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  <a:endParaRPr lang="zh-TW" altLang="en-US" sz="20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4518" name="矩形 4">
            <a:extLst>
              <a:ext uri="{FF2B5EF4-FFF2-40B4-BE49-F238E27FC236}">
                <a16:creationId xmlns:a16="http://schemas.microsoft.com/office/drawing/2014/main" id="{A7E11FEA-AB6D-2F3A-82E3-9EE09D50E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2900" y="1979613"/>
            <a:ext cx="18780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例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：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1.3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</a:p>
        </p:txBody>
      </p:sp>
      <p:pic>
        <p:nvPicPr>
          <p:cNvPr id="64519" name="圖片 5">
            <a:extLst>
              <a:ext uri="{FF2B5EF4-FFF2-40B4-BE49-F238E27FC236}">
                <a16:creationId xmlns:a16="http://schemas.microsoft.com/office/drawing/2014/main" id="{124F519A-15E9-C5DA-B616-334F907B28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900" y="2395538"/>
            <a:ext cx="4484688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20" name="圖片 6">
            <a:extLst>
              <a:ext uri="{FF2B5EF4-FFF2-40B4-BE49-F238E27FC236}">
                <a16:creationId xmlns:a16="http://schemas.microsoft.com/office/drawing/2014/main" id="{C4212FA3-8F14-1F0B-3A81-93239BD1CF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4718050"/>
            <a:ext cx="2122487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21" name="矩形 23">
            <a:extLst>
              <a:ext uri="{FF2B5EF4-FFF2-40B4-BE49-F238E27FC236}">
                <a16:creationId xmlns:a16="http://schemas.microsoft.com/office/drawing/2014/main" id="{2F7F0C82-A15E-453A-FDB1-C1F667F6B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4183063"/>
            <a:ext cx="11064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2.4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張</a:t>
            </a:r>
          </a:p>
        </p:txBody>
      </p:sp>
      <p:pic>
        <p:nvPicPr>
          <p:cNvPr id="64522" name="圖片 3">
            <a:extLst>
              <a:ext uri="{FF2B5EF4-FFF2-40B4-BE49-F238E27FC236}">
                <a16:creationId xmlns:a16="http://schemas.microsoft.com/office/drawing/2014/main" id="{62B4C08B-A139-7DE3-3B95-D4918C9108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4249738"/>
            <a:ext cx="382587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23" name="圖片 11">
            <a:extLst>
              <a:ext uri="{FF2B5EF4-FFF2-40B4-BE49-F238E27FC236}">
                <a16:creationId xmlns:a16="http://schemas.microsoft.com/office/drawing/2014/main" id="{CF5E097D-7F6D-30AE-8927-27FD4EFE15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963" y="4718050"/>
            <a:ext cx="2124075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24" name="圖片 12">
            <a:extLst>
              <a:ext uri="{FF2B5EF4-FFF2-40B4-BE49-F238E27FC236}">
                <a16:creationId xmlns:a16="http://schemas.microsoft.com/office/drawing/2014/main" id="{FF3B816C-BA0A-5213-89FF-3DFEEECDAD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575" y="4718050"/>
            <a:ext cx="2122488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9A5BFFD-CC6A-726E-80CD-3043B338D5DB}"/>
              </a:ext>
            </a:extLst>
          </p:cNvPr>
          <p:cNvSpPr/>
          <p:nvPr/>
        </p:nvSpPr>
        <p:spPr>
          <a:xfrm>
            <a:off x="1181100" y="4746625"/>
            <a:ext cx="2068513" cy="1119188"/>
          </a:xfrm>
          <a:prstGeom prst="rect">
            <a:avLst/>
          </a:prstGeom>
          <a:solidFill>
            <a:srgbClr val="F8388A">
              <a:alpha val="50196"/>
            </a:srgbClr>
          </a:solidFill>
          <a:ln>
            <a:solidFill>
              <a:srgbClr val="F838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5155C15-4489-4689-73FC-42643EBC5AB4}"/>
              </a:ext>
            </a:extLst>
          </p:cNvPr>
          <p:cNvSpPr/>
          <p:nvPr/>
        </p:nvSpPr>
        <p:spPr>
          <a:xfrm>
            <a:off x="3652838" y="4733925"/>
            <a:ext cx="2087562" cy="1136650"/>
          </a:xfrm>
          <a:prstGeom prst="rect">
            <a:avLst/>
          </a:prstGeom>
          <a:solidFill>
            <a:srgbClr val="F8388A">
              <a:alpha val="50196"/>
            </a:srgbClr>
          </a:solidFill>
          <a:ln>
            <a:solidFill>
              <a:srgbClr val="F838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dirty="0"/>
              <a:t>  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4EC8E3-B976-3110-98A7-5B5880598D39}"/>
              </a:ext>
            </a:extLst>
          </p:cNvPr>
          <p:cNvSpPr/>
          <p:nvPr/>
        </p:nvSpPr>
        <p:spPr>
          <a:xfrm>
            <a:off x="6154738" y="4746625"/>
            <a:ext cx="817562" cy="1119188"/>
          </a:xfrm>
          <a:prstGeom prst="rect">
            <a:avLst/>
          </a:prstGeom>
          <a:solidFill>
            <a:srgbClr val="F8388A">
              <a:alpha val="50196"/>
            </a:srgbClr>
          </a:solidFill>
          <a:ln>
            <a:solidFill>
              <a:srgbClr val="F838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矩形 2">
            <a:extLst>
              <a:ext uri="{FF2B5EF4-FFF2-40B4-BE49-F238E27FC236}">
                <a16:creationId xmlns:a16="http://schemas.microsoft.com/office/drawing/2014/main" id="{FCBF856B-2CE5-0E05-B695-E25ACB904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1528763"/>
            <a:ext cx="8193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用直式算算看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5539" name="圖片 3">
            <a:extLst>
              <a:ext uri="{FF2B5EF4-FFF2-40B4-BE49-F238E27FC236}">
                <a16:creationId xmlns:a16="http://schemas.microsoft.com/office/drawing/2014/main" id="{816F65A2-3E34-2082-E577-17CCB75D4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613" y="2133600"/>
            <a:ext cx="382587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0" name="圖片 2">
            <a:extLst>
              <a:ext uri="{FF2B5EF4-FFF2-40B4-BE49-F238E27FC236}">
                <a16:creationId xmlns:a16="http://schemas.microsoft.com/office/drawing/2014/main" id="{3B89093A-D660-818D-6C18-ED14AE160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2098675"/>
            <a:ext cx="4191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1" name="矩形 18">
            <a:extLst>
              <a:ext uri="{FF2B5EF4-FFF2-40B4-BE49-F238E27FC236}">
                <a16:creationId xmlns:a16="http://schemas.microsoft.com/office/drawing/2014/main" id="{11BD669C-8617-6D67-5A9A-2D76A53EF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100" y="2065338"/>
            <a:ext cx="26717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1.6</a:t>
            </a:r>
            <a:r>
              <a:rPr lang="zh-TW" altLang="en-US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2.7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) 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58285A6-7C25-5331-DADF-059083768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7488" y="2098675"/>
            <a:ext cx="5699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4.3</a:t>
            </a:r>
          </a:p>
        </p:txBody>
      </p:sp>
      <p:pic>
        <p:nvPicPr>
          <p:cNvPr id="65543" name="圖片 7">
            <a:extLst>
              <a:ext uri="{FF2B5EF4-FFF2-40B4-BE49-F238E27FC236}">
                <a16:creationId xmlns:a16="http://schemas.microsoft.com/office/drawing/2014/main" id="{EAF40569-9F90-3CC4-BB9C-53EBA8C305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1603375"/>
            <a:ext cx="44767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4" name="矩形 23">
            <a:extLst>
              <a:ext uri="{FF2B5EF4-FFF2-40B4-BE49-F238E27FC236}">
                <a16:creationId xmlns:a16="http://schemas.microsoft.com/office/drawing/2014/main" id="{5851FBAB-7767-D291-723F-515D8BAFA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63" y="4337050"/>
            <a:ext cx="282575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15.1</a:t>
            </a:r>
            <a:r>
              <a:rPr lang="zh-TW" altLang="en-US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－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8.6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) 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65545" name="矩形 18">
            <a:extLst>
              <a:ext uri="{FF2B5EF4-FFF2-40B4-BE49-F238E27FC236}">
                <a16:creationId xmlns:a16="http://schemas.microsoft.com/office/drawing/2014/main" id="{3B2965CA-1510-8E0A-D654-FC8EA3F5D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925" y="2101850"/>
            <a:ext cx="2519363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－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1.6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         ) </a:t>
            </a: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TW" altLang="en-US" sz="2400">
              <a:solidFill>
                <a:srgbClr val="000000"/>
              </a:solidFill>
              <a:latin typeface="Times New Roman" panose="02020603050405020304" pitchFamily="18" charset="0"/>
              <a:ea typeface="書法中楷（注音一）" panose="02010609010101010101" pitchFamily="49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43A008-1EF9-BFFC-438F-88660358A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2133600"/>
            <a:ext cx="568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1.4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4C10F4F-BC61-D5F0-9E4A-8CFCCBEB9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325" y="4411663"/>
            <a:ext cx="569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6.5</a:t>
            </a:r>
          </a:p>
        </p:txBody>
      </p:sp>
      <p:pic>
        <p:nvPicPr>
          <p:cNvPr id="65548" name="圖片 2">
            <a:extLst>
              <a:ext uri="{FF2B5EF4-FFF2-40B4-BE49-F238E27FC236}">
                <a16:creationId xmlns:a16="http://schemas.microsoft.com/office/drawing/2014/main" id="{D033AB98-A314-D692-456F-44071B1430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4427538"/>
            <a:ext cx="3397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36E3E49E-42E0-E551-35C2-DDBFF67C5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650" y="3025775"/>
            <a:ext cx="18002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  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</a:t>
            </a:r>
            <a:r>
              <a:rPr lang="en-US" altLang="zh-TW" sz="1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endParaRPr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  </a:t>
            </a:r>
            <a:r>
              <a:rPr lang="en-US" altLang="zh-TW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1 . 6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1 . 4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C075426-06E3-7F4E-0AA8-8C9221012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2550" y="2757488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66B02E91-D2A5-AAE7-D16A-BC99C201BB9F}"/>
              </a:ext>
            </a:extLst>
          </p:cNvPr>
          <p:cNvCxnSpPr/>
          <p:nvPr/>
        </p:nvCxnSpPr>
        <p:spPr>
          <a:xfrm>
            <a:off x="6481763" y="3168650"/>
            <a:ext cx="190500" cy="215900"/>
          </a:xfrm>
          <a:prstGeom prst="line">
            <a:avLst/>
          </a:prstGeom>
          <a:ln w="190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00C07CE7-F194-5613-CA1E-57B97B469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2757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A55F7B4-75E1-33DF-727C-5EFCC82BD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25" y="2973388"/>
            <a:ext cx="18002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1 .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en-US" altLang="zh-TW" sz="1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endParaRPr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     </a:t>
            </a:r>
            <a:r>
              <a:rPr lang="en-US" altLang="zh-TW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2 . 7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55D8510-C5BD-FAF6-592E-D6C1DC94D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" y="5340350"/>
            <a:ext cx="18002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1 5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sz="1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endParaRPr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  </a:t>
            </a:r>
            <a:r>
              <a:rPr lang="en-US" altLang="zh-TW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8 . 6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8B93E18-7E08-39BB-28E8-80DCC889E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0" y="4779963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FEF0F51B-0B65-53C0-A3DF-C34D3B27CF10}"/>
              </a:ext>
            </a:extLst>
          </p:cNvPr>
          <p:cNvCxnSpPr/>
          <p:nvPr/>
        </p:nvCxnSpPr>
        <p:spPr>
          <a:xfrm>
            <a:off x="1703388" y="5472113"/>
            <a:ext cx="190500" cy="215900"/>
          </a:xfrm>
          <a:prstGeom prst="line">
            <a:avLst/>
          </a:prstGeom>
          <a:ln w="190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78E10C07-90AF-4122-F77C-B0DE8900F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779963"/>
            <a:ext cx="4143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70E83A0-6ACB-D52B-AFDB-B8559AA2A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300" y="5072063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AAA3AD7B-A977-09D4-E247-62B28A7DB033}"/>
              </a:ext>
            </a:extLst>
          </p:cNvPr>
          <p:cNvCxnSpPr/>
          <p:nvPr/>
        </p:nvCxnSpPr>
        <p:spPr>
          <a:xfrm>
            <a:off x="1939925" y="5481638"/>
            <a:ext cx="192088" cy="217487"/>
          </a:xfrm>
          <a:prstGeom prst="line">
            <a:avLst/>
          </a:prstGeom>
          <a:ln w="190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CCF9B1FB-8857-4D1F-5676-C2A0A925D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5072063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7AB8871-C9F5-68CE-5EB2-CE188FDE3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6575" y="2714625"/>
            <a:ext cx="2746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21292D7-CB39-0C82-89C6-8AB0B48A4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0075" y="60785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6 .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9566C28-0259-99E1-CA72-BAE8DD98E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2663" y="607853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228F109-3F78-E2FC-BD5D-3CF27BC1B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9113" y="370681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4 .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656F6CB-5147-0543-C407-B1D7112A4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3706813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35" grpId="0"/>
      <p:bldP spid="42" grpId="0"/>
      <p:bldP spid="44" grpId="0"/>
      <p:bldP spid="47" grpId="0"/>
      <p:bldP spid="49" grpId="0"/>
      <p:bldP spid="50" grpId="0"/>
      <p:bldP spid="52" grpId="0"/>
      <p:bldP spid="28" grpId="0"/>
      <p:bldP spid="29" grpId="0"/>
      <p:bldP spid="30" grpId="0"/>
      <p:bldP spid="31" grpId="0"/>
      <p:bldP spid="3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矩形 2">
            <a:extLst>
              <a:ext uri="{FF2B5EF4-FFF2-40B4-BE49-F238E27FC236}">
                <a16:creationId xmlns:a16="http://schemas.microsoft.com/office/drawing/2014/main" id="{5EE904C6-B7D0-2740-F685-1DC39DD29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1528763"/>
            <a:ext cx="8193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先記錄問題</a:t>
            </a:r>
            <a:r>
              <a:rPr lang="zh-TW" altLang="en-US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再用直式算算看</a:t>
            </a:r>
            <a:r>
              <a:rPr lang="zh-TW" altLang="en-US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6563" name="矩形 18">
            <a:extLst>
              <a:ext uri="{FF2B5EF4-FFF2-40B4-BE49-F238E27FC236}">
                <a16:creationId xmlns:a16="http://schemas.microsoft.com/office/drawing/2014/main" id="{6DBDFDE5-D282-7E11-39F6-400D8C08E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2062163"/>
            <a:ext cx="8212137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子</a:t>
            </a:r>
            <a:r>
              <a:rPr lang="zh-TW" altLang="en-US" sz="24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晴</a:t>
            </a: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和</a:t>
            </a:r>
            <a:r>
              <a:rPr lang="zh-TW" altLang="en-US" sz="24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芯語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用彩帶裝飾卡片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u="sng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子</a:t>
            </a:r>
            <a:r>
              <a:rPr lang="zh-TW" altLang="en-US" sz="24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晴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用了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5.8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u="sng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芯語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用了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49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毫米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兩人共用了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公分的彩帶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66564" name="圖片 14">
            <a:extLst>
              <a:ext uri="{FF2B5EF4-FFF2-40B4-BE49-F238E27FC236}">
                <a16:creationId xmlns:a16="http://schemas.microsoft.com/office/drawing/2014/main" id="{B57F1F10-2A66-45DB-FE48-668F0A48C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8" y="1566863"/>
            <a:ext cx="46355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5" name="圖片 2">
            <a:extLst>
              <a:ext uri="{FF2B5EF4-FFF2-40B4-BE49-F238E27FC236}">
                <a16:creationId xmlns:a16="http://schemas.microsoft.com/office/drawing/2014/main" id="{1BB48749-1A35-99D1-E6A4-D24593B54D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2098675"/>
            <a:ext cx="4191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60BB2298-6079-314B-6FBB-AB8BB7137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338" y="3348038"/>
            <a:ext cx="24923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49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毫米＝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4.9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5.8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公分＋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4.9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71FE18F-1D24-6DF8-EF60-E6DF82248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7013" y="5621338"/>
            <a:ext cx="19542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10.7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F431ACA-2048-B64E-6971-C03BBF931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75" y="4883150"/>
            <a:ext cx="18002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5 .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en-US" altLang="zh-TW" sz="1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endParaRPr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      </a:t>
            </a:r>
            <a:r>
              <a:rPr lang="en-US" altLang="zh-TW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4 . 9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7E8432-261E-3F50-17FD-4EB70B4EB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675" y="4614863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321C7D-5DA9-7499-7562-350287C0C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9638" y="5673725"/>
            <a:ext cx="338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80D714-48ED-5D34-6343-174DF56A5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9563" y="5673725"/>
            <a:ext cx="800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0 . 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4E688D-4F5F-AF4D-0CF9-7E14EC714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3730625"/>
            <a:ext cx="172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 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10.7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14" grpId="0"/>
      <p:bldP spid="2" grpId="0"/>
      <p:bldP spid="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矩形 2">
            <a:extLst>
              <a:ext uri="{FF2B5EF4-FFF2-40B4-BE49-F238E27FC236}">
                <a16:creationId xmlns:a16="http://schemas.microsoft.com/office/drawing/2014/main" id="{63C16E29-0BA1-6D87-A193-CBEF266A3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1528763"/>
            <a:ext cx="8193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先記錄問題</a:t>
            </a:r>
            <a:r>
              <a:rPr lang="zh-TW" altLang="en-US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再用直式算算看</a:t>
            </a:r>
            <a:r>
              <a:rPr lang="zh-TW" altLang="en-US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7587" name="矩形 18">
            <a:extLst>
              <a:ext uri="{FF2B5EF4-FFF2-40B4-BE49-F238E27FC236}">
                <a16:creationId xmlns:a16="http://schemas.microsoft.com/office/drawing/2014/main" id="{350F82F6-3C98-CA1C-C6A6-BA9E1ADCC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013" y="2062163"/>
            <a:ext cx="8266112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媽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媽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買了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袋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公斤的麵粉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自己留了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3.6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公斤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剩下的分給阿姨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阿姨分到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公斤的麵粉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3BC3E59-96FB-6317-BE77-A5C956F62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3359150"/>
            <a:ext cx="5699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1.4</a:t>
            </a:r>
          </a:p>
        </p:txBody>
      </p:sp>
      <p:pic>
        <p:nvPicPr>
          <p:cNvPr id="67589" name="圖片 14">
            <a:extLst>
              <a:ext uri="{FF2B5EF4-FFF2-40B4-BE49-F238E27FC236}">
                <a16:creationId xmlns:a16="http://schemas.microsoft.com/office/drawing/2014/main" id="{DAF80EC9-DB81-0087-770E-B4746B86C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8" y="1566863"/>
            <a:ext cx="46355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E2B5B712-25FB-6C81-18C0-CAD237FC2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338" y="3348038"/>
            <a:ext cx="13382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3.6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3C04AB9-5B9C-78C5-0C86-679A4828D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7013" y="56213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1.4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公斤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7592" name="圖片 3">
            <a:extLst>
              <a:ext uri="{FF2B5EF4-FFF2-40B4-BE49-F238E27FC236}">
                <a16:creationId xmlns:a16="http://schemas.microsoft.com/office/drawing/2014/main" id="{894B0415-DC4B-DB46-0217-6CA22A8A03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2089150"/>
            <a:ext cx="382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291EE976-7AD5-0F4D-9F58-54E652421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338" y="4549775"/>
            <a:ext cx="18002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  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</a:t>
            </a:r>
            <a:r>
              <a:rPr lang="en-US" altLang="zh-TW" sz="1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endParaRPr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  </a:t>
            </a:r>
            <a:r>
              <a:rPr lang="en-US" altLang="zh-TW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3 . 6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1 . 4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1621EE9-6302-A16B-0D0F-3261F5F5C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7238" y="4281488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FC314B6F-81BE-37A6-D5B2-D9396603303A}"/>
              </a:ext>
            </a:extLst>
          </p:cNvPr>
          <p:cNvCxnSpPr/>
          <p:nvPr/>
        </p:nvCxnSpPr>
        <p:spPr>
          <a:xfrm>
            <a:off x="2074863" y="4692650"/>
            <a:ext cx="192087" cy="215900"/>
          </a:xfrm>
          <a:prstGeom prst="line">
            <a:avLst/>
          </a:prstGeom>
          <a:ln w="190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350274BF-5006-32BF-1DC2-B1C8B9B0F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4281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37" grpId="0"/>
      <p:bldP spid="14" grpId="0"/>
      <p:bldP spid="1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矩形 2">
            <a:extLst>
              <a:ext uri="{FF2B5EF4-FFF2-40B4-BE49-F238E27FC236}">
                <a16:creationId xmlns:a16="http://schemas.microsoft.com/office/drawing/2014/main" id="{15CF3856-95AC-1CE5-4ACB-AEE9FBF30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1528763"/>
            <a:ext cx="8193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先記錄問題</a:t>
            </a:r>
            <a:r>
              <a:rPr lang="zh-TW" altLang="en-US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再用直式算算看</a:t>
            </a:r>
            <a:r>
              <a:rPr lang="zh-TW" altLang="en-US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8611" name="矩形 18">
            <a:extLst>
              <a:ext uri="{FF2B5EF4-FFF2-40B4-BE49-F238E27FC236}">
                <a16:creationId xmlns:a16="http://schemas.microsoft.com/office/drawing/2014/main" id="{1FD81AC4-B34D-0DFB-B396-2734D9D47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2062163"/>
            <a:ext cx="82121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冰箱裡有</a:t>
            </a: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瓶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2.2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公升的礦泉水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哥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哥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今天喝了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1.3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公升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弟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弟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喝了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0.6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公升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9FEEE97-16B9-9757-4DDE-447FA32B8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3910013"/>
            <a:ext cx="568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1.9</a:t>
            </a:r>
          </a:p>
        </p:txBody>
      </p:sp>
      <p:pic>
        <p:nvPicPr>
          <p:cNvPr id="68613" name="圖片 14">
            <a:extLst>
              <a:ext uri="{FF2B5EF4-FFF2-40B4-BE49-F238E27FC236}">
                <a16:creationId xmlns:a16="http://schemas.microsoft.com/office/drawing/2014/main" id="{337A3A1A-9975-CA1D-6F2C-BC6071662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8" y="1566863"/>
            <a:ext cx="46355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CA8F3C2E-692C-C145-9F0C-94299A272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3900488"/>
            <a:ext cx="1570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1.3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0.6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4A9BC97-142F-680E-78FF-7CB98E8FA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7013" y="56213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1.9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公升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8616" name="圖片 2">
            <a:extLst>
              <a:ext uri="{FF2B5EF4-FFF2-40B4-BE49-F238E27FC236}">
                <a16:creationId xmlns:a16="http://schemas.microsoft.com/office/drawing/2014/main" id="{3EFC7920-D71A-7A7B-BA65-E9CFBBA63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2132013"/>
            <a:ext cx="338138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7" name="圖片 1">
            <a:extLst>
              <a:ext uri="{FF2B5EF4-FFF2-40B4-BE49-F238E27FC236}">
                <a16:creationId xmlns:a16="http://schemas.microsoft.com/office/drawing/2014/main" id="{DCECAC43-A373-BF72-DF2E-62C5567D20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8" y="2947988"/>
            <a:ext cx="3619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8" name="矩形 15">
            <a:extLst>
              <a:ext uri="{FF2B5EF4-FFF2-40B4-BE49-F238E27FC236}">
                <a16:creationId xmlns:a16="http://schemas.microsoft.com/office/drawing/2014/main" id="{7BC67B75-3D17-BE9A-47A2-7B1B86AF5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775" y="2894013"/>
            <a:ext cx="6680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兩個人共喝了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公升的礦泉水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6029E2-84A3-8949-2715-BCB628305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5" y="4651375"/>
            <a:ext cx="1800225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1 .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en-US" altLang="zh-TW" sz="1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endParaRPr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＋     </a:t>
            </a:r>
            <a:r>
              <a:rPr lang="en-US" altLang="zh-TW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0 . 6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1 . 9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3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矩形 2">
            <a:extLst>
              <a:ext uri="{FF2B5EF4-FFF2-40B4-BE49-F238E27FC236}">
                <a16:creationId xmlns:a16="http://schemas.microsoft.com/office/drawing/2014/main" id="{C72F5B9A-7B59-B3CD-A1D6-41D5EBC2E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1528763"/>
            <a:ext cx="8193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先記錄問題</a:t>
            </a:r>
            <a:r>
              <a:rPr lang="zh-TW" altLang="en-US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再用直式算算看</a:t>
            </a:r>
            <a:r>
              <a:rPr lang="zh-TW" altLang="en-US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9635" name="矩形 18">
            <a:extLst>
              <a:ext uri="{FF2B5EF4-FFF2-40B4-BE49-F238E27FC236}">
                <a16:creationId xmlns:a16="http://schemas.microsoft.com/office/drawing/2014/main" id="{FC4DEB46-258E-2AE2-A186-84FE5BACE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2062163"/>
            <a:ext cx="82121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冰箱裡有</a:t>
            </a:r>
            <a:r>
              <a:rPr lang="zh-TW" altLang="en-US" sz="2400">
                <a:solidFill>
                  <a:srgbClr val="000000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瓶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2.2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公升的礦泉水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哥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哥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今天喝了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1.3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公升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弟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弟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喝了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0.6 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公升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5A77DDC-AA29-AD2B-E13A-4922E4AAC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3910013"/>
            <a:ext cx="568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0.3</a:t>
            </a:r>
          </a:p>
        </p:txBody>
      </p:sp>
      <p:pic>
        <p:nvPicPr>
          <p:cNvPr id="69637" name="圖片 14">
            <a:extLst>
              <a:ext uri="{FF2B5EF4-FFF2-40B4-BE49-F238E27FC236}">
                <a16:creationId xmlns:a16="http://schemas.microsoft.com/office/drawing/2014/main" id="{37084BFB-9175-8629-1607-2F21120F2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8" y="1566863"/>
            <a:ext cx="46355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F667A8F5-BB0B-0A42-59E8-7C863671B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3900488"/>
            <a:ext cx="1570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2.2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1.9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0322D11-E2E8-9926-357D-89655D8E9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7013" y="56213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答：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0.3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公升</a:t>
            </a:r>
            <a:endParaRPr kumimoji="1"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9640" name="圖片 2">
            <a:extLst>
              <a:ext uri="{FF2B5EF4-FFF2-40B4-BE49-F238E27FC236}">
                <a16:creationId xmlns:a16="http://schemas.microsoft.com/office/drawing/2014/main" id="{2C944B16-152F-DB6D-D5CF-6DD863942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2132013"/>
            <a:ext cx="338138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1" name="圖片 2">
            <a:extLst>
              <a:ext uri="{FF2B5EF4-FFF2-40B4-BE49-F238E27FC236}">
                <a16:creationId xmlns:a16="http://schemas.microsoft.com/office/drawing/2014/main" id="{02E01668-8A20-6B26-29D0-8839D57EE7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8" y="2949575"/>
            <a:ext cx="35877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42" name="矩形 15">
            <a:extLst>
              <a:ext uri="{FF2B5EF4-FFF2-40B4-BE49-F238E27FC236}">
                <a16:creationId xmlns:a16="http://schemas.microsoft.com/office/drawing/2014/main" id="{6CDBB2A1-428F-004D-6207-F65FDBE5F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2894013"/>
            <a:ext cx="6530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冰箱裡還剩下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公升的礦泉水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0C8AA3-4A0E-6423-9657-DE67E513F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763" y="4899025"/>
            <a:ext cx="18002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2 .</a:t>
            </a:r>
            <a:r>
              <a:rPr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1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endParaRPr lang="en-US" altLang="zh-TW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      </a:t>
            </a:r>
            <a:r>
              <a:rPr lang="en-US" altLang="zh-TW" sz="2400" u="sng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1 . 9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0 . 3</a:t>
            </a:r>
            <a:endParaRPr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259529-C344-E869-816E-428B4CCFE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7075" y="4630738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2B10887A-3AF4-D343-8748-6381DF93FBC5}"/>
              </a:ext>
            </a:extLst>
          </p:cNvPr>
          <p:cNvCxnSpPr/>
          <p:nvPr/>
        </p:nvCxnSpPr>
        <p:spPr>
          <a:xfrm>
            <a:off x="2039938" y="5051425"/>
            <a:ext cx="192087" cy="215900"/>
          </a:xfrm>
          <a:prstGeom prst="line">
            <a:avLst/>
          </a:prstGeom>
          <a:ln w="190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A45247F8-B12E-4C26-0216-9DAC9C312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4630738"/>
            <a:ext cx="414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37" grpId="0"/>
      <p:bldP spid="16" grpId="0"/>
      <p:bldP spid="18" grpId="0"/>
    </p:bldLst>
  </p:timing>
</p:sld>
</file>

<file path=ppt/theme/theme1.xml><?xml version="1.0" encoding="utf-8"?>
<a:theme xmlns:a="http://schemas.openxmlformats.org/drawingml/2006/main" name="數學教學PPT共同頁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數學教學PPT共同頁</Template>
  <TotalTime>9154</TotalTime>
  <Words>3317</Words>
  <Application>Microsoft Office PowerPoint</Application>
  <PresentationFormat>如螢幕大小 (4:3)</PresentationFormat>
  <Paragraphs>675</Paragraphs>
  <Slides>63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63</vt:i4>
      </vt:variant>
    </vt:vector>
  </HeadingPairs>
  <TitlesOfParts>
    <vt:vector size="79" baseType="lpstr">
      <vt:lpstr>Calibri</vt:lpstr>
      <vt:lpstr>新細明體</vt:lpstr>
      <vt:lpstr>Arial</vt:lpstr>
      <vt:lpstr>Calibri Light</vt:lpstr>
      <vt:lpstr>微軟正黑體</vt:lpstr>
      <vt:lpstr>書法中楷（注音一）</vt:lpstr>
      <vt:lpstr>Times New Roman</vt:lpstr>
      <vt:lpstr>書法中楷（破音二）</vt:lpstr>
      <vt:lpstr>標楷體</vt:lpstr>
      <vt:lpstr>細明體</vt:lpstr>
      <vt:lpstr>書法中楷（破音三）</vt:lpstr>
      <vt:lpstr>Wingdings 2</vt:lpstr>
      <vt:lpstr>DFBiaoKaiShuStd-W5</vt:lpstr>
      <vt:lpstr>數學教學PPT共同頁</vt:lpstr>
      <vt:lpstr>Microsoft 方程式編輯器 3.0</vt:lpstr>
      <vt:lpstr>MathType 5.0 Equation</vt:lpstr>
      <vt:lpstr>PowerPoint 簡報</vt:lpstr>
      <vt:lpstr>PowerPoint 簡報</vt:lpstr>
      <vt:lpstr>重點回顧內容</vt:lpstr>
      <vt:lpstr>PowerPoint 簡報</vt:lpstr>
      <vt:lpstr>練一練</vt:lpstr>
      <vt:lpstr>練一練</vt:lpstr>
      <vt:lpstr>練一練</vt:lpstr>
      <vt:lpstr>練一練</vt:lpstr>
      <vt:lpstr>練一練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Willy Logan</dc:creator>
  <cp:lastModifiedBy>USER</cp:lastModifiedBy>
  <cp:revision>860</cp:revision>
  <dcterms:modified xsi:type="dcterms:W3CDTF">2026-06-08T08:30:38Z</dcterms:modified>
</cp:coreProperties>
</file>
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0"/>
  </p:handoutMasterIdLst>
  <p:sldIdLst>
    <p:sldId id="282" r:id="rId2"/>
    <p:sldId id="313" r:id="rId3"/>
    <p:sldId id="305" r:id="rId4"/>
    <p:sldId id="287" r:id="rId5"/>
    <p:sldId id="315" r:id="rId6"/>
    <p:sldId id="316" r:id="rId7"/>
    <p:sldId id="317" r:id="rId8"/>
    <p:sldId id="318" r:id="rId9"/>
    <p:sldId id="319" r:id="rId10"/>
    <p:sldId id="320" r:id="rId11"/>
    <p:sldId id="306" r:id="rId12"/>
    <p:sldId id="321" r:id="rId13"/>
    <p:sldId id="322" r:id="rId14"/>
    <p:sldId id="333" r:id="rId15"/>
    <p:sldId id="323" r:id="rId16"/>
    <p:sldId id="336" r:id="rId17"/>
    <p:sldId id="334" r:id="rId18"/>
    <p:sldId id="335" r:id="rId19"/>
    <p:sldId id="324" r:id="rId20"/>
    <p:sldId id="314" r:id="rId21"/>
    <p:sldId id="326" r:id="rId22"/>
    <p:sldId id="327" r:id="rId23"/>
    <p:sldId id="307" r:id="rId24"/>
    <p:sldId id="308" r:id="rId25"/>
    <p:sldId id="329" r:id="rId26"/>
    <p:sldId id="330" r:id="rId27"/>
    <p:sldId id="331" r:id="rId28"/>
    <p:sldId id="332" r:id="rId29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EC1F2"/>
    <a:srgbClr val="F8388A"/>
    <a:srgbClr val="0000FF"/>
    <a:srgbClr val="FF0000"/>
    <a:srgbClr val="FF0066"/>
    <a:srgbClr val="CC00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316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1506" y="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235BC82-F5CF-A8A0-FD12-B70FA6BBF9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029B08F-7E30-85CF-2C2C-D67AE490C7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8BF7D8-4888-4A7C-8519-0D1E575C3AB3}" type="datetimeFigureOut">
              <a:rPr lang="zh-TW" altLang="en-US"/>
              <a:pPr>
                <a:defRPr/>
              </a:pPr>
              <a:t>2026/6/8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C95EA5-DBCD-6FBC-3356-80C74648B3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9139BB3-A677-717F-2508-29E8F41237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592C721-7CFD-4EF8-8CC5-D54E3D2A595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2">
            <a:extLst>
              <a:ext uri="{FF2B5EF4-FFF2-40B4-BE49-F238E27FC236}">
                <a16:creationId xmlns:a16="http://schemas.microsoft.com/office/drawing/2014/main" id="{B90E8894-E60E-C1C1-18B4-70EE4B6D826C}"/>
              </a:ext>
            </a:extLst>
          </p:cNvPr>
          <p:cNvSpPr/>
          <p:nvPr userDrawn="1"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6B937BE-642F-50ED-5275-830FE257302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4083050"/>
            <a:ext cx="7886700" cy="981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5500" b="1" dirty="0">
                <a:latin typeface="微軟正黑體" pitchFamily="34" charset="-120"/>
                <a:ea typeface="微軟正黑體" pitchFamily="34" charset="-120"/>
              </a:rPr>
              <a:t>教學</a:t>
            </a:r>
            <a:r>
              <a:rPr lang="en-US" altLang="zh-TW" sz="5500" b="1" dirty="0">
                <a:latin typeface="微軟正黑體" pitchFamily="34" charset="-120"/>
                <a:ea typeface="微軟正黑體" pitchFamily="34" charset="-120"/>
              </a:rPr>
              <a:t>PPT</a:t>
            </a:r>
            <a:endParaRPr lang="zh-TW" altLang="en-US" sz="55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995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30896287-904C-D5A1-3D5C-3FB894BD4798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C163F026-AE85-4E96-E7CD-7F568ABE15E1}"/>
              </a:ext>
            </a:extLst>
          </p:cNvPr>
          <p:cNvCxnSpPr/>
          <p:nvPr userDrawn="1"/>
        </p:nvCxnSpPr>
        <p:spPr>
          <a:xfrm>
            <a:off x="2008188" y="3773488"/>
            <a:ext cx="7135812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29606A20-914D-5666-45EA-9A2D447A5473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604F811B-EAC9-2BBD-0B34-A5C204B25883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192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66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4AEC2E5D-BC70-A1BD-F112-BB78403D36F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charset="0"/>
              <a:sym typeface="Arial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6FED7F2A-78D4-6026-A16A-900D59089AA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195263"/>
            <a:ext cx="4618038" cy="98107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55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練習百分百</a:t>
            </a:r>
            <a:endParaRPr lang="zh-TW" altLang="en-US" sz="55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162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04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>
            <a:extLst>
              <a:ext uri="{FF2B5EF4-FFF2-40B4-BE49-F238E27FC236}">
                <a16:creationId xmlns:a16="http://schemas.microsoft.com/office/drawing/2014/main" id="{D38BE4F1-1B0D-DC80-EA5F-8715107A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新細明體" pitchFamily="18" charset="-120"/>
              </a:defRPr>
            </a:lvl1pPr>
          </a:lstStyle>
          <a:p>
            <a:pPr>
              <a:defRPr/>
            </a:pPr>
            <a:fld id="{7883E866-01F0-4AD0-BE36-D6BC41861763}" type="datetimeFigureOut">
              <a:rPr lang="zh-TW" altLang="en-US"/>
              <a:pPr>
                <a:defRPr/>
              </a:pPr>
              <a:t>2026/6/8</a:t>
            </a:fld>
            <a:endParaRPr lang="zh-TW" altLang="en-US"/>
          </a:p>
        </p:txBody>
      </p:sp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EB7927DB-8686-620F-1358-4E4212FA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2D667051-5635-2E4C-2DE8-7BEF780FE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fld id="{CEDD7561-D2AB-409A-BF4A-197FC16F9A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5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32A81-5119-3F7A-65FF-70121B3E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C3207-CCE2-568B-EC77-E1B3EA5E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7212C-EF24-78EB-F4E1-3BA11C84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fld id="{E9AC6B0B-BCAA-4C4F-8448-306288B15D0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093977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>
            <a:extLst>
              <a:ext uri="{FF2B5EF4-FFF2-40B4-BE49-F238E27FC236}">
                <a16:creationId xmlns:a16="http://schemas.microsoft.com/office/drawing/2014/main" id="{E3033564-C89B-4017-F851-FC24FAA274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85" r:id="rId4"/>
    <p:sldLayoutId id="2147484089" r:id="rId5"/>
    <p:sldLayoutId id="2147484090" r:id="rId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新細明體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0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5" Type="http://schemas.openxmlformats.org/officeDocument/2006/relationships/image" Target="../media/image44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82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5.png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id="{CAB0D913-67C8-3C68-0D16-A4498A3FB0EE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10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圖片 1">
            <a:extLst>
              <a:ext uri="{FF2B5EF4-FFF2-40B4-BE49-F238E27FC236}">
                <a16:creationId xmlns:a16="http://schemas.microsoft.com/office/drawing/2014/main" id="{A08D823D-9ADD-BA5C-4EC8-65A59335E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6973888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矩形 2">
            <a:extLst>
              <a:ext uri="{FF2B5EF4-FFF2-40B4-BE49-F238E27FC236}">
                <a16:creationId xmlns:a16="http://schemas.microsoft.com/office/drawing/2014/main" id="{D7E40195-4D47-E7FF-2BDD-043343CCF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168275"/>
            <a:ext cx="8778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3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</a:t>
            </a:r>
          </a:p>
        </p:txBody>
      </p:sp>
      <p:pic>
        <p:nvPicPr>
          <p:cNvPr id="9220" name="圖片 4">
            <a:extLst>
              <a:ext uri="{FF2B5EF4-FFF2-40B4-BE49-F238E27FC236}">
                <a16:creationId xmlns:a16="http://schemas.microsoft.com/office/drawing/2014/main" id="{F065F99A-EE7A-1895-CE32-75F7E653F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168275"/>
            <a:ext cx="482600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矩形 19">
            <a:extLst>
              <a:ext uri="{FF2B5EF4-FFF2-40B4-BE49-F238E27FC236}">
                <a16:creationId xmlns:a16="http://schemas.microsoft.com/office/drawing/2014/main" id="{EBB9B52A-CDA7-658C-D9E4-6473E16E6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982663"/>
            <a:ext cx="608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四人小隊來到</a:t>
            </a:r>
            <a:r>
              <a:rPr lang="zh-TW" altLang="en-US" sz="16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墾丁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16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南灣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的沙灘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6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妮妮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突然被</a:t>
            </a:r>
          </a:p>
          <a:p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個陌生的奶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奶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抓住手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發生了</a:t>
            </a:r>
            <a:r>
              <a:rPr lang="zh-TW" altLang="en-US" sz="16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麼事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CC2287-335D-AA22-45C8-C7813FA2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0" y="2600325"/>
            <a:ext cx="22304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1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晴晴</a:t>
            </a:r>
            <a:r>
              <a:rPr lang="zh-TW" altLang="en-US" sz="11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1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原來你在這裡</a:t>
            </a:r>
            <a:r>
              <a:rPr lang="zh-TW" altLang="en-US" sz="11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r>
              <a:rPr lang="zh-TW" altLang="en-US" sz="11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我找你找了好久</a:t>
            </a:r>
            <a:r>
              <a:rPr lang="zh-TW" altLang="en-US" sz="11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CF1699-2899-A7D8-2F72-148DC3CC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3775075"/>
            <a:ext cx="218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奶</a:t>
            </a:r>
            <a:r>
              <a:rPr lang="zh-TW" altLang="en-US" sz="12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奶</a:t>
            </a:r>
            <a:r>
              <a:rPr lang="zh-TW" altLang="en-US" sz="12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您臉上有兩個</a:t>
            </a:r>
          </a:p>
          <a:p>
            <a:r>
              <a:rPr lang="zh-TW" altLang="en-US" sz="1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圓形的曬痕</a:t>
            </a:r>
            <a:r>
              <a:rPr lang="zh-TW" altLang="en-US" sz="12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是不是</a:t>
            </a:r>
          </a:p>
          <a:p>
            <a:r>
              <a:rPr lang="zh-TW" altLang="en-US" sz="1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眼鏡不見了</a:t>
            </a:r>
            <a:r>
              <a:rPr lang="zh-TW" altLang="en-US" sz="12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BFEE4EE-B4DB-0809-C0C4-F3044F5B8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88" y="-9525"/>
            <a:ext cx="539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38EA19A1-91CD-20B0-97ED-F14F91D9A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888" y="498475"/>
            <a:ext cx="21701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個是奶</a:t>
            </a:r>
            <a:r>
              <a:rPr lang="zh-TW" altLang="en-US" sz="16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奶</a:t>
            </a:r>
            <a:r>
              <a:rPr lang="zh-TW" altLang="en-US" sz="16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遺失的眼鏡</a:t>
            </a:r>
            <a:r>
              <a:rPr lang="zh-TW" altLang="en-US" sz="16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6C3E1E-9EBD-AD56-B7AB-134D568E2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123950"/>
            <a:ext cx="2184400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49704CA-583D-FFD3-C4BF-497CF75A58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646363"/>
            <a:ext cx="21431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7E616D4-D54F-BC0C-6604-2756E040E2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3" y="4116388"/>
            <a:ext cx="2135187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006B660E-233D-3D7C-3E95-94294928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263" y="708025"/>
            <a:ext cx="312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TW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2">
            <a:extLst>
              <a:ext uri="{FF2B5EF4-FFF2-40B4-BE49-F238E27FC236}">
                <a16:creationId xmlns:a16="http://schemas.microsoft.com/office/drawing/2014/main" id="{5A77BCD7-3418-1261-6748-63500C574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9588"/>
            <a:ext cx="914400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</a:t>
            </a:r>
          </a:p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活動１  認識圓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圖片 1">
            <a:extLst>
              <a:ext uri="{FF2B5EF4-FFF2-40B4-BE49-F238E27FC236}">
                <a16:creationId xmlns:a16="http://schemas.microsoft.com/office/drawing/2014/main" id="{857A15D3-8A39-004F-9EC9-162CE9C44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矩形 8">
            <a:extLst>
              <a:ext uri="{FF2B5EF4-FFF2-40B4-BE49-F238E27FC236}">
                <a16:creationId xmlns:a16="http://schemas.microsoft.com/office/drawing/2014/main" id="{E9F5131B-81D7-D4A8-0D0D-E052FE56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62880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生活上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圓有許多的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應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下圖中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哪裡有圓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11268" name="圖片 1">
            <a:extLst>
              <a:ext uri="{FF2B5EF4-FFF2-40B4-BE49-F238E27FC236}">
                <a16:creationId xmlns:a16="http://schemas.microsoft.com/office/drawing/2014/main" id="{22343CBA-7CA4-8FFC-CB1F-B9C62124E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63663"/>
            <a:ext cx="7381875" cy="408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15CD827-6610-58F7-A53A-2931BF652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570538"/>
            <a:ext cx="8623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生活中哪裡還有圓的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應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6C8767-DA15-F130-D99A-91BAC3304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839788"/>
            <a:ext cx="8629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號誌牌、紅綠燈、輪胎、窗戶、招牌、甜甜圈</a:t>
            </a:r>
            <a:r>
              <a:rPr kumimoji="1" lang="en-US" altLang="zh-TW" sz="28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kumimoji="1" lang="zh-TW" altLang="en-US" sz="2800">
              <a:solidFill>
                <a:srgbClr val="FF33CC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84DC6E-8AC4-A5C8-B8E2-6B804F4AB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6094413"/>
            <a:ext cx="41354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筆筒、呼拉圈、碗盤</a:t>
            </a:r>
            <a:r>
              <a:rPr kumimoji="1" lang="en-US" altLang="zh-TW" sz="28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kumimoji="1" lang="zh-TW" altLang="en-US" sz="2800">
              <a:solidFill>
                <a:srgbClr val="FF33CC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8">
            <a:extLst>
              <a:ext uri="{FF2B5EF4-FFF2-40B4-BE49-F238E27FC236}">
                <a16:creationId xmlns:a16="http://schemas.microsoft.com/office/drawing/2014/main" id="{C5115E30-81B9-DF16-3CBC-A8E5BD919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9161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選手們練習射箭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枝箭射得最準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12291" name="圖片 2">
            <a:extLst>
              <a:ext uri="{FF2B5EF4-FFF2-40B4-BE49-F238E27FC236}">
                <a16:creationId xmlns:a16="http://schemas.microsoft.com/office/drawing/2014/main" id="{C4B6D8DB-F255-28D0-696F-00975D976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圖片 3">
            <a:extLst>
              <a:ext uri="{FF2B5EF4-FFF2-40B4-BE49-F238E27FC236}">
                <a16:creationId xmlns:a16="http://schemas.microsoft.com/office/drawing/2014/main" id="{C7713C88-6640-9148-6B89-24AAE3AFF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270000"/>
            <a:ext cx="22066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圖片 4">
            <a:extLst>
              <a:ext uri="{FF2B5EF4-FFF2-40B4-BE49-F238E27FC236}">
                <a16:creationId xmlns:a16="http://schemas.microsoft.com/office/drawing/2014/main" id="{E78FDA6D-11CF-A26F-C4C4-5E04272C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75" y="1317625"/>
            <a:ext cx="20224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圖片 5">
            <a:extLst>
              <a:ext uri="{FF2B5EF4-FFF2-40B4-BE49-F238E27FC236}">
                <a16:creationId xmlns:a16="http://schemas.microsoft.com/office/drawing/2014/main" id="{8936EA1E-C6A0-229D-A4E7-D08D402D5B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850" y="1270000"/>
            <a:ext cx="207327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圖片 3">
            <a:extLst>
              <a:ext uri="{FF2B5EF4-FFF2-40B4-BE49-F238E27FC236}">
                <a16:creationId xmlns:a16="http://schemas.microsoft.com/office/drawing/2014/main" id="{48C9892D-4AB7-7449-6645-CF24570F9C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76288"/>
            <a:ext cx="3651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圖片 4">
            <a:extLst>
              <a:ext uri="{FF2B5EF4-FFF2-40B4-BE49-F238E27FC236}">
                <a16:creationId xmlns:a16="http://schemas.microsoft.com/office/drawing/2014/main" id="{DFAD9F41-3D96-5EBB-B5B4-CAEA75710E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77628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圖片 5">
            <a:extLst>
              <a:ext uri="{FF2B5EF4-FFF2-40B4-BE49-F238E27FC236}">
                <a16:creationId xmlns:a16="http://schemas.microsoft.com/office/drawing/2014/main" id="{FD078E5D-F818-148A-9BDF-FBD4F7C6B6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900" y="776288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9ACFC5B-AA1C-627F-C60D-132373C86A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013" y="4619625"/>
            <a:ext cx="1233487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5EFD8A4D-FE89-51AB-AD28-9FE40905EFE6}"/>
              </a:ext>
            </a:extLst>
          </p:cNvPr>
          <p:cNvSpPr/>
          <p:nvPr/>
        </p:nvSpPr>
        <p:spPr bwMode="auto">
          <a:xfrm>
            <a:off x="1209675" y="4924425"/>
            <a:ext cx="6145213" cy="1004888"/>
          </a:xfrm>
          <a:prstGeom prst="wedgeRoundRectCallout">
            <a:avLst>
              <a:gd name="adj1" fmla="val 54011"/>
              <a:gd name="adj2" fmla="val -2498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越靠近圓的中心就越準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556D51-6524-B6A4-C660-E2A94799F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5213" y="390525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TW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kumimoji="1" lang="zh-TW" altLang="en-US" sz="2800">
              <a:solidFill>
                <a:srgbClr val="FF33CC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38">
            <a:extLst>
              <a:ext uri="{FF2B5EF4-FFF2-40B4-BE49-F238E27FC236}">
                <a16:creationId xmlns:a16="http://schemas.microsoft.com/office/drawing/2014/main" id="{045CC2BE-0AD5-2F98-028A-9FC1049EA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175" y="744538"/>
            <a:ext cx="108585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矩形 8">
            <a:extLst>
              <a:ext uri="{FF2B5EF4-FFF2-40B4-BE49-F238E27FC236}">
                <a16:creationId xmlns:a16="http://schemas.microsoft.com/office/drawing/2014/main" id="{CDB5E5C5-DBE4-C36A-DA63-A86552316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57499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麼找出</a:t>
            </a:r>
            <a:r>
              <a:rPr lang="zh-TW" altLang="en-US" sz="2800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endParaRPr lang="en-US" altLang="zh-TW" sz="28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拿出附件的圓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做做看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B889BDFA-D7C2-F3B5-A918-AD976FDA75CD}"/>
              </a:ext>
            </a:extLst>
          </p:cNvPr>
          <p:cNvSpPr/>
          <p:nvPr/>
        </p:nvSpPr>
        <p:spPr bwMode="auto">
          <a:xfrm>
            <a:off x="4781550" y="898525"/>
            <a:ext cx="3019425" cy="1004888"/>
          </a:xfrm>
          <a:prstGeom prst="wedgeRoundRectCallout">
            <a:avLst>
              <a:gd name="adj1" fmla="val 54011"/>
              <a:gd name="adj2" fmla="val -24988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圓的中心就是圓心</a:t>
            </a:r>
            <a:r>
              <a:rPr lang="zh-TW" altLang="en-US" sz="28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呵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</a:p>
        </p:txBody>
      </p:sp>
      <p:pic>
        <p:nvPicPr>
          <p:cNvPr id="13317" name="圖片 6">
            <a:extLst>
              <a:ext uri="{FF2B5EF4-FFF2-40B4-BE49-F238E27FC236}">
                <a16:creationId xmlns:a16="http://schemas.microsoft.com/office/drawing/2014/main" id="{9F214A5A-F940-BA75-2948-6DBEF8CF3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5"/>
            <a:ext cx="4587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8" name="群組 16">
            <a:extLst>
              <a:ext uri="{FF2B5EF4-FFF2-40B4-BE49-F238E27FC236}">
                <a16:creationId xmlns:a16="http://schemas.microsoft.com/office/drawing/2014/main" id="{E55F64A3-2C15-9431-70A9-E32E2847F9C7}"/>
              </a:ext>
            </a:extLst>
          </p:cNvPr>
          <p:cNvGrpSpPr>
            <a:grpSpLocks/>
          </p:cNvGrpSpPr>
          <p:nvPr/>
        </p:nvGrpSpPr>
        <p:grpSpPr bwMode="auto">
          <a:xfrm>
            <a:off x="4619625" y="0"/>
            <a:ext cx="1520825" cy="482600"/>
            <a:chOff x="6722457" y="1658256"/>
            <a:chExt cx="1967833" cy="652081"/>
          </a:xfrm>
        </p:grpSpPr>
        <p:pic>
          <p:nvPicPr>
            <p:cNvPr id="13335" name="Picture 14">
              <a:extLst>
                <a:ext uri="{FF2B5EF4-FFF2-40B4-BE49-F238E27FC236}">
                  <a16:creationId xmlns:a16="http://schemas.microsoft.com/office/drawing/2014/main" id="{10233E8D-6B45-F32A-3036-DDF256567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6" name="矩形 1">
              <a:extLst>
                <a:ext uri="{FF2B5EF4-FFF2-40B4-BE49-F238E27FC236}">
                  <a16:creationId xmlns:a16="http://schemas.microsoft.com/office/drawing/2014/main" id="{66F99469-463C-8330-B4E8-CEE7B6DE6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19</a:t>
              </a:r>
              <a:endParaRPr kumimoji="1"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2F1FC904-E5D8-9669-9A7C-3768AFEC54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2487613"/>
            <a:ext cx="20574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4232A1F-38D1-8B22-FBF8-66DA40E1F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2487613"/>
            <a:ext cx="2025650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F97D6A2-4517-3E18-3AF8-1493CB2874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487613"/>
            <a:ext cx="2066925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B4442E9-B960-677B-B5DA-F7AC3B9AE3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2487613"/>
            <a:ext cx="20320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向右箭號 11">
            <a:extLst>
              <a:ext uri="{FF2B5EF4-FFF2-40B4-BE49-F238E27FC236}">
                <a16:creationId xmlns:a16="http://schemas.microsoft.com/office/drawing/2014/main" id="{1A6F285F-C361-474D-BECD-3AC281A67191}"/>
              </a:ext>
            </a:extLst>
          </p:cNvPr>
          <p:cNvSpPr/>
          <p:nvPr/>
        </p:nvSpPr>
        <p:spPr>
          <a:xfrm>
            <a:off x="2246313" y="3295650"/>
            <a:ext cx="258762" cy="21907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70D79E32-2013-3DE8-C6B9-1DADF84E3A31}"/>
              </a:ext>
            </a:extLst>
          </p:cNvPr>
          <p:cNvSpPr/>
          <p:nvPr/>
        </p:nvSpPr>
        <p:spPr>
          <a:xfrm>
            <a:off x="4530725" y="3275013"/>
            <a:ext cx="257175" cy="21907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向右箭號 23">
            <a:extLst>
              <a:ext uri="{FF2B5EF4-FFF2-40B4-BE49-F238E27FC236}">
                <a16:creationId xmlns:a16="http://schemas.microsoft.com/office/drawing/2014/main" id="{5E6125A0-54D4-E78B-742E-556837B52015}"/>
              </a:ext>
            </a:extLst>
          </p:cNvPr>
          <p:cNvSpPr/>
          <p:nvPr/>
        </p:nvSpPr>
        <p:spPr>
          <a:xfrm>
            <a:off x="6858000" y="3254375"/>
            <a:ext cx="258763" cy="21907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CA9332-BAD9-6605-286E-F58F236BB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2012950"/>
            <a:ext cx="203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對摺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CFB0EB-D565-1201-BD25-E8E2314C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19827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打開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A6768F-C522-E289-51C2-FE6AA897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2008188"/>
            <a:ext cx="1570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再對摺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013AAD-9291-5111-DA1C-726E3EFAA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1982788"/>
            <a:ext cx="1568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再打開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B08D6A-F909-8230-12FE-A73CDE7CB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4389438"/>
            <a:ext cx="62896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再多對摺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次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檢查摺痕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8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你發現了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356AB87A-170F-41BD-5A4B-ED7B76C32F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5343525"/>
            <a:ext cx="124936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F37B5A5D-B0CA-35AF-A0F2-00E7858CAD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5307013"/>
            <a:ext cx="1136650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圓角矩形圖說文字 31">
            <a:extLst>
              <a:ext uri="{FF2B5EF4-FFF2-40B4-BE49-F238E27FC236}">
                <a16:creationId xmlns:a16="http://schemas.microsoft.com/office/drawing/2014/main" id="{839E0BF2-64C6-89CA-69BA-1D108EDFEF52}"/>
              </a:ext>
            </a:extLst>
          </p:cNvPr>
          <p:cNvSpPr/>
          <p:nvPr/>
        </p:nvSpPr>
        <p:spPr bwMode="auto">
          <a:xfrm>
            <a:off x="1498600" y="5354638"/>
            <a:ext cx="3406775" cy="1454150"/>
          </a:xfrm>
          <a:prstGeom prst="wedgeRoundRectCallout">
            <a:avLst>
              <a:gd name="adj1" fmla="val -56885"/>
              <a:gd name="adj2" fmla="val -8191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每</a:t>
            </a:r>
            <a:r>
              <a:rPr lang="zh-TW" altLang="en-US" sz="28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條摺痕都把圓平分成兩個半圓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3" name="圓角矩形圖說文字 32">
            <a:extLst>
              <a:ext uri="{FF2B5EF4-FFF2-40B4-BE49-F238E27FC236}">
                <a16:creationId xmlns:a16="http://schemas.microsoft.com/office/drawing/2014/main" id="{ADAE40FC-F241-2709-FAC7-9030BAB31468}"/>
              </a:ext>
            </a:extLst>
          </p:cNvPr>
          <p:cNvSpPr/>
          <p:nvPr/>
        </p:nvSpPr>
        <p:spPr bwMode="auto">
          <a:xfrm>
            <a:off x="5048250" y="5349875"/>
            <a:ext cx="2752725" cy="1452563"/>
          </a:xfrm>
          <a:prstGeom prst="wedgeRoundRectCallout">
            <a:avLst>
              <a:gd name="adj1" fmla="val 53574"/>
              <a:gd name="adj2" fmla="val -8191"/>
              <a:gd name="adj3" fmla="val 16667"/>
            </a:avLst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這些摺痕都相交在同</a:t>
            </a:r>
            <a:r>
              <a:rPr lang="zh-TW" altLang="en-US" sz="28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圖片 34">
            <a:extLst>
              <a:ext uri="{FF2B5EF4-FFF2-40B4-BE49-F238E27FC236}">
                <a16:creationId xmlns:a16="http://schemas.microsoft.com/office/drawing/2014/main" id="{0B13DA03-833F-80E7-CED6-97A23EF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84275"/>
            <a:ext cx="904875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DDEC7364-F046-5213-62DB-33DD8C0FC4E8}"/>
              </a:ext>
            </a:extLst>
          </p:cNvPr>
          <p:cNvSpPr/>
          <p:nvPr/>
        </p:nvSpPr>
        <p:spPr>
          <a:xfrm>
            <a:off x="298450" y="1373188"/>
            <a:ext cx="2160588" cy="2159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3817AA10-12D2-7375-2D61-8CB309286B91}"/>
              </a:ext>
            </a:extLst>
          </p:cNvPr>
          <p:cNvSpPr/>
          <p:nvPr/>
        </p:nvSpPr>
        <p:spPr>
          <a:xfrm>
            <a:off x="1343025" y="2416175"/>
            <a:ext cx="71438" cy="73025"/>
          </a:xfrm>
          <a:prstGeom prst="ellipse">
            <a:avLst/>
          </a:prstGeom>
          <a:solidFill>
            <a:srgbClr val="FF0066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DA699C-1F3D-B6B6-6466-6811F887F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543175"/>
            <a:ext cx="876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</a:t>
            </a:r>
            <a:endParaRPr lang="zh-TW" altLang="en-US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4D9E43-3105-0F2D-06BD-9E9340FCE6E5}"/>
              </a:ext>
            </a:extLst>
          </p:cNvPr>
          <p:cNvSpPr/>
          <p:nvPr/>
        </p:nvSpPr>
        <p:spPr>
          <a:xfrm>
            <a:off x="2570163" y="1423988"/>
            <a:ext cx="6443662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摺痕相交的地方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叫做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圓心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(2)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圓的周界叫做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圓周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449263" indent="-449263">
              <a:lnSpc>
                <a:spcPct val="150000"/>
              </a:lnSpc>
              <a:defRPr/>
            </a:pP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(3) 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通過圓心且兩端在圓周上的直線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都是這個圓的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直徑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C4A9140-9939-6403-7515-A6EA3E454AFB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614363" y="1689100"/>
            <a:ext cx="1528762" cy="15271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矩形 12">
            <a:extLst>
              <a:ext uri="{FF2B5EF4-FFF2-40B4-BE49-F238E27FC236}">
                <a16:creationId xmlns:a16="http://schemas.microsoft.com/office/drawing/2014/main" id="{1CB3A21B-86FD-3AFC-35C4-4F10F498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198813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CDFF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直徑</a:t>
            </a:r>
            <a:endParaRPr lang="zh-TW" altLang="en-US">
              <a:latin typeface="書法中楷（破音二）" panose="02010609010101010101" pitchFamily="49" charset="-120"/>
              <a:ea typeface="書法中楷（破音二）" panose="02010609010101010101" pitchFamily="49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171A3A-89D3-E1CF-6F06-8F961B79B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516063"/>
            <a:ext cx="877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00FF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BEB071A-FFAD-5198-F38D-44CD08E1EBC0}"/>
              </a:ext>
            </a:extLst>
          </p:cNvPr>
          <p:cNvCxnSpPr>
            <a:stCxn id="4" idx="2"/>
            <a:endCxn id="4" idx="6"/>
          </p:cNvCxnSpPr>
          <p:nvPr/>
        </p:nvCxnSpPr>
        <p:spPr>
          <a:xfrm>
            <a:off x="298450" y="2452688"/>
            <a:ext cx="216058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20C9BB4A-4FE9-13AB-9E31-BA519B57A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775" y="2047875"/>
            <a:ext cx="87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B05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23BF32-FA31-8F24-BAF9-F8347C9FC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3424238"/>
            <a:ext cx="8763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圓周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118C2B-84C6-2853-70DB-FA53262A21CF}"/>
              </a:ext>
            </a:extLst>
          </p:cNvPr>
          <p:cNvCxnSpPr/>
          <p:nvPr/>
        </p:nvCxnSpPr>
        <p:spPr>
          <a:xfrm flipH="1" flipV="1">
            <a:off x="1943100" y="3371850"/>
            <a:ext cx="165100" cy="160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5" grpId="0"/>
      <p:bldP spid="14" grpId="0"/>
      <p:bldP spid="40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8">
            <a:extLst>
              <a:ext uri="{FF2B5EF4-FFF2-40B4-BE49-F238E27FC236}">
                <a16:creationId xmlns:a16="http://schemas.microsoft.com/office/drawing/2014/main" id="{686F1231-5952-CFA5-B51E-4B936DC0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77755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用尺量量看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32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32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條線最</a:t>
            </a:r>
            <a:r>
              <a:rPr lang="zh-TW" altLang="en-US" sz="32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5363" name="矩形 28">
            <a:extLst>
              <a:ext uri="{FF2B5EF4-FFF2-40B4-BE49-F238E27FC236}">
                <a16:creationId xmlns:a16="http://schemas.microsoft.com/office/drawing/2014/main" id="{9B70E475-BDF8-A71B-7876-CB5664B9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608013"/>
            <a:ext cx="5391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你發現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15364" name="圖片 7">
            <a:extLst>
              <a:ext uri="{FF2B5EF4-FFF2-40B4-BE49-F238E27FC236}">
                <a16:creationId xmlns:a16="http://schemas.microsoft.com/office/drawing/2014/main" id="{49127F2F-3D86-C37D-6FD4-8F8A9C43F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6038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圖片 3">
            <a:extLst>
              <a:ext uri="{FF2B5EF4-FFF2-40B4-BE49-F238E27FC236}">
                <a16:creationId xmlns:a16="http://schemas.microsoft.com/office/drawing/2014/main" id="{09702F66-37B4-3C81-24C7-725A984C7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538413"/>
            <a:ext cx="36068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圖片 4">
            <a:extLst>
              <a:ext uri="{FF2B5EF4-FFF2-40B4-BE49-F238E27FC236}">
                <a16:creationId xmlns:a16="http://schemas.microsoft.com/office/drawing/2014/main" id="{6EF876DB-D5A0-092F-C068-D850FE85AB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88" y="2538413"/>
            <a:ext cx="3630612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EB19F516-D295-DC1F-770A-708B54B5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595313"/>
            <a:ext cx="3057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通過圓心的線最長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4FFBF29-1A52-1A98-570D-AEFD99D64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5753100"/>
            <a:ext cx="1262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ㄇ</a:t>
            </a:r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最長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79E9063-0307-64B1-02C5-758D9A37B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5815013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乙最長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8">
            <a:extLst>
              <a:ext uri="{FF2B5EF4-FFF2-40B4-BE49-F238E27FC236}">
                <a16:creationId xmlns:a16="http://schemas.microsoft.com/office/drawing/2014/main" id="{0A257E88-1227-9644-A52B-78E25CF11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6437313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從圓心畫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條直線到圓周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量量看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度剛好是直徑的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E2C26B1-D3FD-4270-2FE4-E0792A14B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363" y="842963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7F4910-328F-B561-68BF-A331765D9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47164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一樣長</a:t>
            </a:r>
          </a:p>
        </p:txBody>
      </p:sp>
      <p:pic>
        <p:nvPicPr>
          <p:cNvPr id="16389" name="圖片 8">
            <a:extLst>
              <a:ext uri="{FF2B5EF4-FFF2-40B4-BE49-F238E27FC236}">
                <a16:creationId xmlns:a16="http://schemas.microsoft.com/office/drawing/2014/main" id="{6B89F03C-B143-F859-BB65-F90C325D1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"/>
            <a:ext cx="4460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圖片 1">
            <a:extLst>
              <a:ext uri="{FF2B5EF4-FFF2-40B4-BE49-F238E27FC236}">
                <a16:creationId xmlns:a16="http://schemas.microsoft.com/office/drawing/2014/main" id="{A2860637-D660-CBE0-4924-F0174AD83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8" y="3175"/>
            <a:ext cx="2316162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1" name="群組 16">
            <a:extLst>
              <a:ext uri="{FF2B5EF4-FFF2-40B4-BE49-F238E27FC236}">
                <a16:creationId xmlns:a16="http://schemas.microsoft.com/office/drawing/2014/main" id="{82AFBBA9-7AFB-7093-BC1D-C9D77E1EC023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1366838"/>
            <a:ext cx="1520825" cy="482600"/>
            <a:chOff x="6722457" y="1658256"/>
            <a:chExt cx="1967833" cy="652081"/>
          </a:xfrm>
        </p:grpSpPr>
        <p:pic>
          <p:nvPicPr>
            <p:cNvPr id="16400" name="Picture 14">
              <a:extLst>
                <a:ext uri="{FF2B5EF4-FFF2-40B4-BE49-F238E27FC236}">
                  <a16:creationId xmlns:a16="http://schemas.microsoft.com/office/drawing/2014/main" id="{1AB4A4D0-36AF-58A7-01F8-57F3BA397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01" name="矩形 1">
              <a:extLst>
                <a:ext uri="{FF2B5EF4-FFF2-40B4-BE49-F238E27FC236}">
                  <a16:creationId xmlns:a16="http://schemas.microsoft.com/office/drawing/2014/main" id="{567D5F5D-AE5E-F178-1277-49AE6A129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19</a:t>
              </a:r>
              <a:endParaRPr kumimoji="1"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12C402F-5A30-3A82-4B86-C3B1825D2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2540000"/>
            <a:ext cx="8920162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198967C-EFD6-83F8-80BA-C85F45A2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2746375"/>
            <a:ext cx="549592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從圓心到圓周上的距離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剛好是直徑的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稱</a:t>
            </a:r>
            <a:r>
              <a:rPr lang="zh-TW" altLang="en-US" sz="2400">
                <a:solidFill>
                  <a:srgbClr val="00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圓的</a:t>
            </a:r>
            <a:r>
              <a:rPr lang="zh-TW" altLang="en-US" sz="2400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D9C438C-C4A5-84C4-BB0F-D2191DB092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2581275"/>
            <a:ext cx="2484437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574118D-35C9-47B1-4BAD-2A130AFF1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650" y="3240088"/>
            <a:ext cx="87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</a:t>
            </a:r>
            <a:endParaRPr lang="zh-TW" altLang="en-US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A8E323-8012-6258-6A50-F5E530A1D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2909888"/>
            <a:ext cx="877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00FF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C384D5-4051-6E38-0ABF-7DE9B30A1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3441700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>
                <a:solidFill>
                  <a:srgbClr val="00B05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AABCC5-8C75-824B-9F17-1427D54E8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2498725"/>
            <a:ext cx="8778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217B50-E37B-2A38-2CCD-9041A61D6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622800"/>
            <a:ext cx="65611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量量看</a:t>
            </a:r>
            <a:r>
              <a:rPr lang="zh-TW" altLang="en-US" sz="2400">
                <a:solidFill>
                  <a:srgbClr val="000000"/>
                </a:solidFill>
                <a:latin typeface="DFBiaoKaiShuStd-W5"/>
              </a:rPr>
              <a:t>，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每條半徑都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solidFill>
                  <a:srgbClr val="00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長嗎</a:t>
            </a:r>
            <a:r>
              <a:rPr lang="zh-TW" altLang="en-US" sz="2400">
                <a:solidFill>
                  <a:srgbClr val="000000"/>
                </a:solidFill>
                <a:latin typeface="DFBiaoKaiShuStd-W5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" grpId="0"/>
      <p:bldP spid="20" grpId="0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圖片 9">
            <a:extLst>
              <a:ext uri="{FF2B5EF4-FFF2-40B4-BE49-F238E27FC236}">
                <a16:creationId xmlns:a16="http://schemas.microsoft.com/office/drawing/2014/main" id="{45663E0C-B32E-F029-8B0C-4916F1AE6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149225"/>
            <a:ext cx="4476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矩形 2">
            <a:extLst>
              <a:ext uri="{FF2B5EF4-FFF2-40B4-BE49-F238E27FC236}">
                <a16:creationId xmlns:a16="http://schemas.microsoft.com/office/drawing/2014/main" id="{79F11566-0CFF-8DF8-FE2A-D9D8DB87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120650"/>
            <a:ext cx="4514850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叔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叔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以樹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用磚塊圍出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個圓形的花圃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7412" name="圖片 3">
            <a:extLst>
              <a:ext uri="{FF2B5EF4-FFF2-40B4-BE49-F238E27FC236}">
                <a16:creationId xmlns:a16="http://schemas.microsoft.com/office/drawing/2014/main" id="{B1CDC303-57F0-4BE8-24A8-9AE910F6B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0"/>
            <a:ext cx="365760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D44F58B-E8C7-8091-44E8-07BCE0FE1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3355975"/>
            <a:ext cx="80613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樹到哪裡的距離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花圃的半徑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6" name="圖片 3">
            <a:extLst>
              <a:ext uri="{FF2B5EF4-FFF2-40B4-BE49-F238E27FC236}">
                <a16:creationId xmlns:a16="http://schemas.microsoft.com/office/drawing/2014/main" id="{D8362549-003B-8BD4-71F9-FF209AEA9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3432175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4">
            <a:extLst>
              <a:ext uri="{FF2B5EF4-FFF2-40B4-BE49-F238E27FC236}">
                <a16:creationId xmlns:a16="http://schemas.microsoft.com/office/drawing/2014/main" id="{A28BB7E5-72F8-A04E-F7C0-70F3BC7DE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4524375"/>
            <a:ext cx="3619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5">
            <a:extLst>
              <a:ext uri="{FF2B5EF4-FFF2-40B4-BE49-F238E27FC236}">
                <a16:creationId xmlns:a16="http://schemas.microsoft.com/office/drawing/2014/main" id="{DEB6CAC0-FC4D-BF21-5874-BFD4818B8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5516563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D86E4A7-20F0-B5DF-5721-DD50C52FC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433888"/>
            <a:ext cx="82661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樹到花的距離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比花圃的半徑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還是短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D77077-A534-2D0A-9F0C-8E99D2CC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5499100"/>
            <a:ext cx="82661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樹到狗的距離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比花圃的半徑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還是短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1069ED-6F0F-A09B-300E-EA6C08610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379095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磚塊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72F076-F366-0626-DE04-4F92E669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175" y="4884738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短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36F148-9AB0-ABE1-AF37-54AB63247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175" y="5976938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6D2D13D-7D65-8031-E514-87FA85E77062}"/>
              </a:ext>
            </a:extLst>
          </p:cNvPr>
          <p:cNvCxnSpPr/>
          <p:nvPr/>
        </p:nvCxnSpPr>
        <p:spPr>
          <a:xfrm>
            <a:off x="7810500" y="1309688"/>
            <a:ext cx="9525" cy="1144587"/>
          </a:xfrm>
          <a:prstGeom prst="line">
            <a:avLst/>
          </a:prstGeom>
          <a:ln w="57150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0811E4F-8C7E-657E-8707-A62B180BDCB5}"/>
              </a:ext>
            </a:extLst>
          </p:cNvPr>
          <p:cNvCxnSpPr/>
          <p:nvPr/>
        </p:nvCxnSpPr>
        <p:spPr>
          <a:xfrm flipH="1">
            <a:off x="5930900" y="1309688"/>
            <a:ext cx="1879600" cy="1144587"/>
          </a:xfrm>
          <a:prstGeom prst="line">
            <a:avLst/>
          </a:prstGeom>
          <a:ln w="57150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A55D7BF-9D8E-B746-F1C3-8F8F9BEA5CB3}"/>
              </a:ext>
            </a:extLst>
          </p:cNvPr>
          <p:cNvCxnSpPr/>
          <p:nvPr/>
        </p:nvCxnSpPr>
        <p:spPr>
          <a:xfrm flipH="1" flipV="1">
            <a:off x="7820025" y="1309688"/>
            <a:ext cx="498475" cy="198437"/>
          </a:xfrm>
          <a:prstGeom prst="line">
            <a:avLst/>
          </a:prstGeom>
          <a:ln w="57150">
            <a:solidFill>
              <a:srgbClr val="F838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3">
            <a:extLst>
              <a:ext uri="{FF2B5EF4-FFF2-40B4-BE49-F238E27FC236}">
                <a16:creationId xmlns:a16="http://schemas.microsoft.com/office/drawing/2014/main" id="{DDC33BFA-89C9-3B48-21C3-C66CF646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79588"/>
            <a:ext cx="914400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 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單元</a:t>
            </a: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</a:t>
            </a:r>
          </a:p>
          <a:p>
            <a:pPr algn="ctr" eaLnBrk="1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活動 </a:t>
            </a:r>
            <a:r>
              <a:rPr lang="en-US" altLang="zh-TW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使用圓規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圖片 1">
            <a:extLst>
              <a:ext uri="{FF2B5EF4-FFF2-40B4-BE49-F238E27FC236}">
                <a16:creationId xmlns:a16="http://schemas.microsoft.com/office/drawing/2014/main" id="{BAD30713-97FD-7A83-8102-45E6BD5B6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"/>
            <a:ext cx="4508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矩形 8">
            <a:extLst>
              <a:ext uri="{FF2B5EF4-FFF2-40B4-BE49-F238E27FC236}">
                <a16:creationId xmlns:a16="http://schemas.microsoft.com/office/drawing/2014/main" id="{86D05525-8DEF-90DF-F435-90B4D6E1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77247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在地上畫出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他們是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麼畫的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3264D1-775A-A19F-A131-FFD797A7B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906713"/>
            <a:ext cx="517525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6AD5206-C100-58CA-8535-FCE96A283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2992438"/>
            <a:ext cx="877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61F516-ED8D-185F-A199-EC5565892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073400"/>
            <a:ext cx="877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endParaRPr lang="zh-TW" altLang="en-US"/>
          </a:p>
        </p:txBody>
      </p:sp>
      <p:sp>
        <p:nvSpPr>
          <p:cNvPr id="11" name="圓角矩形圖說文字 10">
            <a:extLst>
              <a:ext uri="{FF2B5EF4-FFF2-40B4-BE49-F238E27FC236}">
                <a16:creationId xmlns:a16="http://schemas.microsoft.com/office/drawing/2014/main" id="{F419C35E-440B-39DE-AD81-D0D88931DD6E}"/>
              </a:ext>
            </a:extLst>
          </p:cNvPr>
          <p:cNvSpPr/>
          <p:nvPr/>
        </p:nvSpPr>
        <p:spPr bwMode="auto">
          <a:xfrm>
            <a:off x="5638800" y="1660525"/>
            <a:ext cx="3541713" cy="1603375"/>
          </a:xfrm>
          <a:prstGeom prst="wedgeRoundRectCallout">
            <a:avLst>
              <a:gd name="adj1" fmla="val -25374"/>
              <a:gd name="adj2" fmla="val 59605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8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他們畫的圓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8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圓心在哪裡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  <a:p>
            <a:pPr>
              <a:defRPr/>
            </a:pPr>
            <a:r>
              <a:rPr lang="zh-TW" altLang="en-US" sz="28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半徑在哪裡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D3D6CDE-CE64-D8C9-D2F3-F155B51AB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3263900"/>
            <a:ext cx="236855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圓心在妙妙手中木棍固定的位置，兩個人所拉的繩子長是半徑。</a:t>
            </a:r>
          </a:p>
        </p:txBody>
      </p:sp>
      <p:pic>
        <p:nvPicPr>
          <p:cNvPr id="7" name="圖片 6" descr="一張含有 圖畫, 卡通, 兒童藝術, 圖解 的圖片&#10;&#10;AI 產生的內容可能不正確。">
            <a:extLst>
              <a:ext uri="{FF2B5EF4-FFF2-40B4-BE49-F238E27FC236}">
                <a16:creationId xmlns:a16="http://schemas.microsoft.com/office/drawing/2014/main" id="{42848DF1-0836-B5A8-7AA2-8EC219D35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3" y="3471863"/>
            <a:ext cx="1106487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8">
            <a:extLst>
              <a:ext uri="{FF2B5EF4-FFF2-40B4-BE49-F238E27FC236}">
                <a16:creationId xmlns:a16="http://schemas.microsoft.com/office/drawing/2014/main" id="{251315FB-3D04-04DD-B1CD-4D6E8E33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9161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圓規是畫圓的工具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跟著步驟做做看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0483" name="圖片 2">
            <a:extLst>
              <a:ext uri="{FF2B5EF4-FFF2-40B4-BE49-F238E27FC236}">
                <a16:creationId xmlns:a16="http://schemas.microsoft.com/office/drawing/2014/main" id="{F7E9D507-DD09-3C31-BA9E-30EF2753D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95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84" name="群組 16">
            <a:extLst>
              <a:ext uri="{FF2B5EF4-FFF2-40B4-BE49-F238E27FC236}">
                <a16:creationId xmlns:a16="http://schemas.microsoft.com/office/drawing/2014/main" id="{D475A9E6-820C-0A52-6D58-E89D510A9270}"/>
              </a:ext>
            </a:extLst>
          </p:cNvPr>
          <p:cNvGrpSpPr>
            <a:grpSpLocks/>
          </p:cNvGrpSpPr>
          <p:nvPr/>
        </p:nvGrpSpPr>
        <p:grpSpPr bwMode="auto">
          <a:xfrm>
            <a:off x="7623175" y="411163"/>
            <a:ext cx="1520825" cy="482600"/>
            <a:chOff x="6722457" y="1658256"/>
            <a:chExt cx="1967833" cy="652081"/>
          </a:xfrm>
        </p:grpSpPr>
        <p:pic>
          <p:nvPicPr>
            <p:cNvPr id="20498" name="Picture 14">
              <a:extLst>
                <a:ext uri="{FF2B5EF4-FFF2-40B4-BE49-F238E27FC236}">
                  <a16:creationId xmlns:a16="http://schemas.microsoft.com/office/drawing/2014/main" id="{86CFA5DC-1490-BACF-3EC8-4A1DFAAD8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9" name="矩形 1">
              <a:extLst>
                <a:ext uri="{FF2B5EF4-FFF2-40B4-BE49-F238E27FC236}">
                  <a16:creationId xmlns:a16="http://schemas.microsoft.com/office/drawing/2014/main" id="{4D523D95-2200-74B8-E6F7-943D338CF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20</a:t>
              </a:r>
              <a:endParaRPr kumimoji="1"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C37F325E-418F-9E52-34A8-02C525DDD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5363"/>
            <a:ext cx="9177338" cy="457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E7B93DC-2423-F8EB-5CA5-C2AF4DC06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1092200"/>
            <a:ext cx="3910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個半徑 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79A4A82-9F72-31A8-765A-AB6F05931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1743075"/>
            <a:ext cx="1893888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D92569-C4E5-1549-8C9C-01C67896D4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1719263"/>
            <a:ext cx="2324100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5BA1C36-8E4F-0E99-E45E-F9D65894D6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1739900"/>
            <a:ext cx="1879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53486663-F1C8-5F87-044B-AF0CB8F48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2060575"/>
            <a:ext cx="18669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8C0BB41-4F92-052C-6FD1-10CA6B1B78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575" y="1131888"/>
            <a:ext cx="16986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50F9789-ED16-8202-AAE8-A9C8C4DF1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4073525"/>
            <a:ext cx="21415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把圓規打開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5 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半徑的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度</a:t>
            </a:r>
            <a:r>
              <a:rPr lang="en-US" altLang="zh-TW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)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E735962-DA16-926F-1D93-FF3C7FA2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4024313"/>
            <a:ext cx="252253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把圓規針尖在紙上固定住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就是圓心的位置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DB6DB4-323B-F43A-5CC1-39429B828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024313"/>
            <a:ext cx="4064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筆尖從手腕的方向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再繞著針尖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轉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圈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就完成了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DC92F38-B8D3-6EFE-C8DE-E5047B730026}"/>
              </a:ext>
            </a:extLst>
          </p:cNvPr>
          <p:cNvCxnSpPr/>
          <p:nvPr/>
        </p:nvCxnSpPr>
        <p:spPr>
          <a:xfrm>
            <a:off x="2179638" y="1739900"/>
            <a:ext cx="0" cy="360680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105877A-F955-E4E4-66CC-787F1ADC9C0C}"/>
              </a:ext>
            </a:extLst>
          </p:cNvPr>
          <p:cNvCxnSpPr/>
          <p:nvPr/>
        </p:nvCxnSpPr>
        <p:spPr>
          <a:xfrm>
            <a:off x="4784725" y="1719263"/>
            <a:ext cx="0" cy="360680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向右箭號 24">
            <a:extLst>
              <a:ext uri="{FF2B5EF4-FFF2-40B4-BE49-F238E27FC236}">
                <a16:creationId xmlns:a16="http://schemas.microsoft.com/office/drawing/2014/main" id="{4E4F3392-2EA0-EE5D-455D-B27A3229FFD5}"/>
              </a:ext>
            </a:extLst>
          </p:cNvPr>
          <p:cNvSpPr/>
          <p:nvPr/>
        </p:nvSpPr>
        <p:spPr>
          <a:xfrm>
            <a:off x="6851650" y="2928938"/>
            <a:ext cx="258763" cy="21907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44">
            <a:extLst>
              <a:ext uri="{FF2B5EF4-FFF2-40B4-BE49-F238E27FC236}">
                <a16:creationId xmlns:a16="http://schemas.microsoft.com/office/drawing/2014/main" id="{E6C14A19-D609-503E-85F9-4C1BCEF4E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623888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在附件上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個半徑 </a:t>
            </a:r>
            <a:r>
              <a:rPr lang="en-US" altLang="zh-TW" sz="2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1507" name="圖片 1">
            <a:extLst>
              <a:ext uri="{FF2B5EF4-FFF2-40B4-BE49-F238E27FC236}">
                <a16:creationId xmlns:a16="http://schemas.microsoft.com/office/drawing/2014/main" id="{983509A8-AA6F-8F59-BD7B-E95EB2D2A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08" name="群組 16">
            <a:extLst>
              <a:ext uri="{FF2B5EF4-FFF2-40B4-BE49-F238E27FC236}">
                <a16:creationId xmlns:a16="http://schemas.microsoft.com/office/drawing/2014/main" id="{AC73F59C-D869-0F25-F416-D7DB5032AA26}"/>
              </a:ext>
            </a:extLst>
          </p:cNvPr>
          <p:cNvGrpSpPr>
            <a:grpSpLocks/>
          </p:cNvGrpSpPr>
          <p:nvPr/>
        </p:nvGrpSpPr>
        <p:grpSpPr bwMode="auto">
          <a:xfrm>
            <a:off x="7554913" y="1058863"/>
            <a:ext cx="1520825" cy="482600"/>
            <a:chOff x="6722457" y="1658256"/>
            <a:chExt cx="1967833" cy="652081"/>
          </a:xfrm>
        </p:grpSpPr>
        <p:pic>
          <p:nvPicPr>
            <p:cNvPr id="21509" name="Picture 14">
              <a:extLst>
                <a:ext uri="{FF2B5EF4-FFF2-40B4-BE49-F238E27FC236}">
                  <a16:creationId xmlns:a16="http://schemas.microsoft.com/office/drawing/2014/main" id="{32086F28-9CCB-C7A8-DD9D-2A1A0E433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0" name="矩形 1">
              <a:extLst>
                <a:ext uri="{FF2B5EF4-FFF2-40B4-BE49-F238E27FC236}">
                  <a16:creationId xmlns:a16="http://schemas.microsoft.com/office/drawing/2014/main" id="{71F3E10A-FD27-391C-98AD-08644952A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20</a:t>
              </a:r>
              <a:endParaRPr kumimoji="1"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8">
            <a:extLst>
              <a:ext uri="{FF2B5EF4-FFF2-40B4-BE49-F238E27FC236}">
                <a16:creationId xmlns:a16="http://schemas.microsoft.com/office/drawing/2014/main" id="{E625793C-AD02-F1B9-8FEC-040847229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592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用圓規在附件上畫畫看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22531" name="群組 16">
            <a:extLst>
              <a:ext uri="{FF2B5EF4-FFF2-40B4-BE49-F238E27FC236}">
                <a16:creationId xmlns:a16="http://schemas.microsoft.com/office/drawing/2014/main" id="{EA200F53-69FA-1A58-94A5-1940B20C358B}"/>
              </a:ext>
            </a:extLst>
          </p:cNvPr>
          <p:cNvGrpSpPr>
            <a:grpSpLocks/>
          </p:cNvGrpSpPr>
          <p:nvPr/>
        </p:nvGrpSpPr>
        <p:grpSpPr bwMode="auto">
          <a:xfrm>
            <a:off x="6173788" y="30163"/>
            <a:ext cx="1520825" cy="482600"/>
            <a:chOff x="6722457" y="1658256"/>
            <a:chExt cx="1967833" cy="652081"/>
          </a:xfrm>
        </p:grpSpPr>
        <p:pic>
          <p:nvPicPr>
            <p:cNvPr id="22543" name="Picture 14">
              <a:extLst>
                <a:ext uri="{FF2B5EF4-FFF2-40B4-BE49-F238E27FC236}">
                  <a16:creationId xmlns:a16="http://schemas.microsoft.com/office/drawing/2014/main" id="{E89D2F28-7E6C-363C-2528-BDBC5B40DD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4" name="矩形 1">
              <a:extLst>
                <a:ext uri="{FF2B5EF4-FFF2-40B4-BE49-F238E27FC236}">
                  <a16:creationId xmlns:a16="http://schemas.microsoft.com/office/drawing/2014/main" id="{020BB589-47FD-B81C-201B-22CD08EEA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20</a:t>
              </a:r>
              <a:endParaRPr kumimoji="1"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2532" name="圖片 3">
            <a:extLst>
              <a:ext uri="{FF2B5EF4-FFF2-40B4-BE49-F238E27FC236}">
                <a16:creationId xmlns:a16="http://schemas.microsoft.com/office/drawing/2014/main" id="{7B85DCAC-DA7A-409D-25B6-DF4967BD2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742950"/>
            <a:ext cx="3651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矩形 26">
            <a:extLst>
              <a:ext uri="{FF2B5EF4-FFF2-40B4-BE49-F238E27FC236}">
                <a16:creationId xmlns:a16="http://schemas.microsoft.com/office/drawing/2014/main" id="{A7386B99-DEB9-548C-74E9-9C9F4DB2E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658813"/>
            <a:ext cx="84947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個直徑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圓規要打開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圓心在哪裡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591F7B4-2006-D8CD-1A7D-E392DD3D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463" y="3722688"/>
            <a:ext cx="2184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kumimoji="1" lang="en-US" altLang="zh-TW" sz="2400">
                <a:solidFill>
                  <a:srgbClr val="FF33CC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÷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＝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  <a:p>
            <a:pPr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圓規打開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  <p:pic>
        <p:nvPicPr>
          <p:cNvPr id="22535" name="圖片 6">
            <a:extLst>
              <a:ext uri="{FF2B5EF4-FFF2-40B4-BE49-F238E27FC236}">
                <a16:creationId xmlns:a16="http://schemas.microsoft.com/office/drawing/2014/main" id="{11CC615C-42AD-D585-12A5-51F0D705E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"/>
            <a:ext cx="45878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16613853-3E70-5011-75E2-CC12A24660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3144838"/>
            <a:ext cx="952500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2BCC9FD-BDB1-0AF6-4816-E08EB9874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38" y="2963863"/>
            <a:ext cx="1639887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圖說文字 17">
            <a:extLst>
              <a:ext uri="{FF2B5EF4-FFF2-40B4-BE49-F238E27FC236}">
                <a16:creationId xmlns:a16="http://schemas.microsoft.com/office/drawing/2014/main" id="{6F5B9A64-A02A-4AA7-F41A-8FDBD601BAE3}"/>
              </a:ext>
            </a:extLst>
          </p:cNvPr>
          <p:cNvSpPr/>
          <p:nvPr/>
        </p:nvSpPr>
        <p:spPr bwMode="auto">
          <a:xfrm>
            <a:off x="5157788" y="1889125"/>
            <a:ext cx="3889375" cy="1092200"/>
          </a:xfrm>
          <a:prstGeom prst="wedgeRoundRectCallout">
            <a:avLst>
              <a:gd name="adj1" fmla="val 22670"/>
              <a:gd name="adj2" fmla="val 73110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圓心的位置就是圓規針尖的位置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9" name="圓角矩形圖說文字 18">
            <a:extLst>
              <a:ext uri="{FF2B5EF4-FFF2-40B4-BE49-F238E27FC236}">
                <a16:creationId xmlns:a16="http://schemas.microsoft.com/office/drawing/2014/main" id="{EE82B2BF-A785-1020-493E-4C009221440D}"/>
              </a:ext>
            </a:extLst>
          </p:cNvPr>
          <p:cNvSpPr/>
          <p:nvPr/>
        </p:nvSpPr>
        <p:spPr bwMode="auto">
          <a:xfrm>
            <a:off x="454025" y="1889125"/>
            <a:ext cx="4591050" cy="1169988"/>
          </a:xfrm>
          <a:prstGeom prst="wedgeRoundRectCallout">
            <a:avLst>
              <a:gd name="adj1" fmla="val -32278"/>
              <a:gd name="adj2" fmla="val 79058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圓規打開的</a:t>
            </a:r>
            <a:r>
              <a:rPr lang="zh-TW" altLang="en-US" sz="24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度是半徑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半徑是直徑的</a:t>
            </a:r>
            <a:r>
              <a:rPr lang="zh-TW" altLang="en-US" sz="24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所以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" name="圖片 4">
            <a:extLst>
              <a:ext uri="{FF2B5EF4-FFF2-40B4-BE49-F238E27FC236}">
                <a16:creationId xmlns:a16="http://schemas.microsoft.com/office/drawing/2014/main" id="{E3BDE24B-0484-56CD-1431-B41081AA51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5291138"/>
            <a:ext cx="3619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4B0C57D-1729-B16C-2AB6-B5CF1F4C0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5291138"/>
            <a:ext cx="81470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8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個圓比較大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21EC04-3481-149A-C63B-012AB61EF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300" y="6118225"/>
            <a:ext cx="218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半徑</a:t>
            </a:r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公分的圓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44">
            <a:extLst>
              <a:ext uri="{FF2B5EF4-FFF2-40B4-BE49-F238E27FC236}">
                <a16:creationId xmlns:a16="http://schemas.microsoft.com/office/drawing/2014/main" id="{2F406D40-56AF-F2F7-0784-61CD5739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8" y="608013"/>
            <a:ext cx="88042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四人小隊的每個人都畫了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根據他們的說法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誰畫的圓最大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A3CF64E2-0116-2640-E078-128EE3800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44463"/>
            <a:ext cx="88455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6421BD7E-F988-6202-0FDF-FCC5523F1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330325"/>
            <a:ext cx="7827963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6" name="Picture 6">
            <a:extLst>
              <a:ext uri="{FF2B5EF4-FFF2-40B4-BE49-F238E27FC236}">
                <a16:creationId xmlns:a16="http://schemas.microsoft.com/office/drawing/2014/main" id="{1D839214-14B7-6C9D-D820-0941B161C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746375"/>
            <a:ext cx="7827963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8" name="Picture 8">
            <a:extLst>
              <a:ext uri="{FF2B5EF4-FFF2-40B4-BE49-F238E27FC236}">
                <a16:creationId xmlns:a16="http://schemas.microsoft.com/office/drawing/2014/main" id="{A9251936-A670-88F8-5636-4754407DE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4133850"/>
            <a:ext cx="78279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9" name="Picture 9">
            <a:extLst>
              <a:ext uri="{FF2B5EF4-FFF2-40B4-BE49-F238E27FC236}">
                <a16:creationId xmlns:a16="http://schemas.microsoft.com/office/drawing/2014/main" id="{BE0EA1DC-A3C7-CCF6-F797-03D89EEAE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5440363"/>
            <a:ext cx="7827963" cy="133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44">
            <a:extLst>
              <a:ext uri="{FF2B5EF4-FFF2-40B4-BE49-F238E27FC236}">
                <a16:creationId xmlns:a16="http://schemas.microsoft.com/office/drawing/2014/main" id="{6B465DFA-6A70-3288-FB46-F87B24E02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3052763"/>
            <a:ext cx="649446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我用圓形盤子描出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把這個圓對摺兩次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打開後的摺線相交於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這個點到圓周上的距離都是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6" name="矩形 44">
            <a:extLst>
              <a:ext uri="{FF2B5EF4-FFF2-40B4-BE49-F238E27FC236}">
                <a16:creationId xmlns:a16="http://schemas.microsoft.com/office/drawing/2014/main" id="{113D257F-5207-56E3-2190-488ECAD53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4378325"/>
            <a:ext cx="64944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我拿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條繩子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端綁筆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另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端固定在紙上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將繩子拉直後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固定的地方到筆的距離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畫出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7" name="矩形 44">
            <a:extLst>
              <a:ext uri="{FF2B5EF4-FFF2-40B4-BE49-F238E27FC236}">
                <a16:creationId xmlns:a16="http://schemas.microsoft.com/office/drawing/2014/main" id="{90362B52-9EE5-798D-9470-BFEFB2A08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1965325"/>
            <a:ext cx="6494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我將圓規打開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6266389-460B-0618-C72D-F707C6DFE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5853113"/>
            <a:ext cx="64944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我用圓規畫了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個圓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再把這個圓剪下來對摺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打開後的摺線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20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A6C14B-BC46-42B6-6142-F341D7FA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2284413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半徑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公分的圓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C767AA-FC41-26DF-5D44-088556FB3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3646488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半徑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公分的圓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367630-1B11-D8BD-4E3E-43F41E3FD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986338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半徑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公分的圓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B9492C-43C5-55A4-59C0-0849B6226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6318250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直徑</a:t>
            </a:r>
            <a:r>
              <a:rPr kumimoji="1" lang="en-US" altLang="zh-TW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公分的圓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7D498E-954E-4644-F092-4A9E39E1D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1038225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0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一樣大</a:t>
            </a:r>
          </a:p>
        </p:txBody>
      </p:sp>
      <p:sp>
        <p:nvSpPr>
          <p:cNvPr id="2" name="矩形 44">
            <a:extLst>
              <a:ext uri="{FF2B5EF4-FFF2-40B4-BE49-F238E27FC236}">
                <a16:creationId xmlns:a16="http://schemas.microsoft.com/office/drawing/2014/main" id="{A533246A-4E68-DC30-9F55-8AB0C24C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2319338"/>
            <a:ext cx="1077912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豆豆</a:t>
            </a:r>
            <a:endParaRPr lang="zh-TW" altLang="en-US" u="sng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44">
            <a:extLst>
              <a:ext uri="{FF2B5EF4-FFF2-40B4-BE49-F238E27FC236}">
                <a16:creationId xmlns:a16="http://schemas.microsoft.com/office/drawing/2014/main" id="{0C272A42-9A71-020C-B4D1-9838BB894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3738563"/>
            <a:ext cx="1077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妮妮</a:t>
            </a:r>
            <a:endParaRPr lang="zh-TW" altLang="en-US" u="sng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44">
            <a:extLst>
              <a:ext uri="{FF2B5EF4-FFF2-40B4-BE49-F238E27FC236}">
                <a16:creationId xmlns:a16="http://schemas.microsoft.com/office/drawing/2014/main" id="{1439F0D5-4098-C4B8-E270-59EF5F610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5064125"/>
            <a:ext cx="1077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endParaRPr lang="zh-TW" altLang="en-US" u="sng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4">
            <a:extLst>
              <a:ext uri="{FF2B5EF4-FFF2-40B4-BE49-F238E27FC236}">
                <a16:creationId xmlns:a16="http://schemas.microsoft.com/office/drawing/2014/main" id="{6E44F394-1DFF-67FB-244E-42A38571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6388100"/>
            <a:ext cx="1077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/>
            <a:r>
              <a:rPr lang="zh-TW" altLang="en-US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endParaRPr lang="zh-TW" altLang="en-US" u="sng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8">
            <a:extLst>
              <a:ext uri="{FF2B5EF4-FFF2-40B4-BE49-F238E27FC236}">
                <a16:creationId xmlns:a16="http://schemas.microsoft.com/office/drawing/2014/main" id="{B910D8AC-15FF-F7D8-9DD3-AD211DAB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87503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品睿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以</a:t>
            </a:r>
            <a:r>
              <a:rPr lang="zh-TW" altLang="zh-TW" sz="2800"/>
              <a:t>‧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圓心畫的圓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畫到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筆心斷掉了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你可以拿出圓規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幫他畫完這個圓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4579" name="圖片 1">
            <a:extLst>
              <a:ext uri="{FF2B5EF4-FFF2-40B4-BE49-F238E27FC236}">
                <a16:creationId xmlns:a16="http://schemas.microsoft.com/office/drawing/2014/main" id="{6AE0E379-9732-8050-EA37-24F2BDFAB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554163"/>
            <a:ext cx="3352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60AB6A3-7B61-40B9-D2FF-BE4CAF79F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4132263"/>
            <a:ext cx="14509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圓角矩形圖說文字 16">
            <a:extLst>
              <a:ext uri="{FF2B5EF4-FFF2-40B4-BE49-F238E27FC236}">
                <a16:creationId xmlns:a16="http://schemas.microsoft.com/office/drawing/2014/main" id="{BC2A6ECB-C18B-4927-D826-654D76D996B3}"/>
              </a:ext>
            </a:extLst>
          </p:cNvPr>
          <p:cNvSpPr/>
          <p:nvPr/>
        </p:nvSpPr>
        <p:spPr bwMode="auto">
          <a:xfrm>
            <a:off x="5254625" y="2386013"/>
            <a:ext cx="3889375" cy="1254125"/>
          </a:xfrm>
          <a:prstGeom prst="wedgeRoundRectCallout">
            <a:avLst>
              <a:gd name="adj1" fmla="val 22670"/>
              <a:gd name="adj2" fmla="val 73110"/>
              <a:gd name="adj3" fmla="val 16667"/>
            </a:avLst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sz="24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想想看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要完成這個圓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圓規要打開</a:t>
            </a:r>
            <a:r>
              <a:rPr lang="zh-TW" altLang="en-US" sz="2400" dirty="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幾</a:t>
            </a:r>
            <a:r>
              <a:rPr lang="zh-TW" altLang="en-US" sz="2400" dirty="0">
                <a:latin typeface="書法中楷（注音一）" panose="02010609010101010101" pitchFamily="49" charset="-12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公分</a:t>
            </a:r>
            <a:r>
              <a:rPr lang="zh-TW" altLang="en-US" sz="2400" dirty="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呢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7D8F0A-4F8F-D03C-CDC7-5F2FB3E86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63" y="3640138"/>
            <a:ext cx="954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TW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C1686-03C9-EA8A-1E90-A42A3B4EB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4884738"/>
            <a:ext cx="26463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我量圓心到圓周的</a:t>
            </a:r>
          </a:p>
          <a:p>
            <a:pPr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距離就是圓規要打</a:t>
            </a:r>
          </a:p>
          <a:p>
            <a:pPr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開的長度</a:t>
            </a:r>
          </a:p>
        </p:txBody>
      </p:sp>
      <p:pic>
        <p:nvPicPr>
          <p:cNvPr id="24584" name="圖片 7">
            <a:extLst>
              <a:ext uri="{FF2B5EF4-FFF2-40B4-BE49-F238E27FC236}">
                <a16:creationId xmlns:a16="http://schemas.microsoft.com/office/drawing/2014/main" id="{39EEE005-FECF-141A-D35F-BA1E79A27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22225"/>
            <a:ext cx="4540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圖片 3">
            <a:extLst>
              <a:ext uri="{FF2B5EF4-FFF2-40B4-BE49-F238E27FC236}">
                <a16:creationId xmlns:a16="http://schemas.microsoft.com/office/drawing/2014/main" id="{A4A8A9B2-011F-0BCE-3253-48D27B00A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2260600"/>
            <a:ext cx="9017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圖片 4">
            <a:extLst>
              <a:ext uri="{FF2B5EF4-FFF2-40B4-BE49-F238E27FC236}">
                <a16:creationId xmlns:a16="http://schemas.microsoft.com/office/drawing/2014/main" id="{5DE6E130-35C9-E42E-CC7D-66C7718AF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3514725"/>
            <a:ext cx="1016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圖片 12">
            <a:extLst>
              <a:ext uri="{FF2B5EF4-FFF2-40B4-BE49-F238E27FC236}">
                <a16:creationId xmlns:a16="http://schemas.microsoft.com/office/drawing/2014/main" id="{7032B544-49F4-EED2-FFDD-DFCA8C3BE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713" y="5118100"/>
            <a:ext cx="831850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矩形 44">
            <a:extLst>
              <a:ext uri="{FF2B5EF4-FFF2-40B4-BE49-F238E27FC236}">
                <a16:creationId xmlns:a16="http://schemas.microsoft.com/office/drawing/2014/main" id="{C0255026-BA13-C141-39BC-E062BE79D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3" y="623888"/>
            <a:ext cx="910113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下面是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個以</a:t>
            </a:r>
            <a:r>
              <a:rPr lang="zh-TW" altLang="zh-TW" sz="2800"/>
              <a:t>‧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圓心畫的圓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要完成這個圓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需要將圓規打開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幾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公分繼續畫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誰的說法正確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       裡打</a:t>
            </a:r>
            <a:r>
              <a:rPr lang="en-US" altLang="zh-TW" sz="2800">
                <a:latin typeface="Wingdings 2" panose="05020102010507070707" pitchFamily="18" charset="2"/>
                <a:ea typeface="書法中楷（注音一）" panose="02010609010101010101" pitchFamily="49" charset="-120"/>
              </a:rPr>
              <a:t>P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5606" name="圖片 1">
            <a:extLst>
              <a:ext uri="{FF2B5EF4-FFF2-40B4-BE49-F238E27FC236}">
                <a16:creationId xmlns:a16="http://schemas.microsoft.com/office/drawing/2014/main" id="{3CDF4F4E-5415-7948-3546-99F4C966F9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0BDDDDA-2B23-A8E6-1B07-999783EDC0CB}"/>
              </a:ext>
            </a:extLst>
          </p:cNvPr>
          <p:cNvSpPr/>
          <p:nvPr/>
        </p:nvSpPr>
        <p:spPr>
          <a:xfrm>
            <a:off x="5164138" y="1493838"/>
            <a:ext cx="576262" cy="57626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25608" name="圖片 1">
            <a:extLst>
              <a:ext uri="{FF2B5EF4-FFF2-40B4-BE49-F238E27FC236}">
                <a16:creationId xmlns:a16="http://schemas.microsoft.com/office/drawing/2014/main" id="{4F622874-1CAE-F3BB-F4B6-E92904BAFE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0100"/>
            <a:ext cx="3209925" cy="320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E68AE8F-CF19-0091-2A68-E004F939A426}"/>
              </a:ext>
            </a:extLst>
          </p:cNvPr>
          <p:cNvSpPr/>
          <p:nvPr/>
        </p:nvSpPr>
        <p:spPr>
          <a:xfrm>
            <a:off x="3543300" y="2513013"/>
            <a:ext cx="576263" cy="57626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D578D8-5FE6-E5AE-763F-F59ADD3A7CAA}"/>
              </a:ext>
            </a:extLst>
          </p:cNvPr>
          <p:cNvSpPr/>
          <p:nvPr/>
        </p:nvSpPr>
        <p:spPr>
          <a:xfrm>
            <a:off x="3543300" y="3835400"/>
            <a:ext cx="576263" cy="5762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72CC64-1C02-F582-B346-53C8D3E728A6}"/>
              </a:ext>
            </a:extLst>
          </p:cNvPr>
          <p:cNvSpPr/>
          <p:nvPr/>
        </p:nvSpPr>
        <p:spPr>
          <a:xfrm>
            <a:off x="3543300" y="5380038"/>
            <a:ext cx="576263" cy="57626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30C0D420-95DE-36AB-E945-E07C619DAD1B}"/>
              </a:ext>
            </a:extLst>
          </p:cNvPr>
          <p:cNvSpPr/>
          <p:nvPr/>
        </p:nvSpPr>
        <p:spPr>
          <a:xfrm>
            <a:off x="5303838" y="2416175"/>
            <a:ext cx="3603625" cy="522288"/>
          </a:xfrm>
          <a:prstGeom prst="wedgeRoundRectCallout">
            <a:avLst>
              <a:gd name="adj1" fmla="val -54966"/>
              <a:gd name="adj2" fmla="val -3532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將圓規打開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5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7" name="圓角矩形圖說文字 16">
            <a:extLst>
              <a:ext uri="{FF2B5EF4-FFF2-40B4-BE49-F238E27FC236}">
                <a16:creationId xmlns:a16="http://schemas.microsoft.com/office/drawing/2014/main" id="{BAC408D9-7E31-3A25-3299-07ED2B6D464E}"/>
              </a:ext>
            </a:extLst>
          </p:cNvPr>
          <p:cNvSpPr/>
          <p:nvPr/>
        </p:nvSpPr>
        <p:spPr>
          <a:xfrm>
            <a:off x="5303838" y="3835400"/>
            <a:ext cx="3603625" cy="522288"/>
          </a:xfrm>
          <a:prstGeom prst="wedgeRoundRectCallout">
            <a:avLst>
              <a:gd name="adj1" fmla="val -54966"/>
              <a:gd name="adj2" fmla="val -3532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將圓規打開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10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8" name="圓角矩形圖說文字 17">
            <a:extLst>
              <a:ext uri="{FF2B5EF4-FFF2-40B4-BE49-F238E27FC236}">
                <a16:creationId xmlns:a16="http://schemas.microsoft.com/office/drawing/2014/main" id="{D54C7E43-3844-90DA-4A8A-97370298C293}"/>
              </a:ext>
            </a:extLst>
          </p:cNvPr>
          <p:cNvSpPr/>
          <p:nvPr/>
        </p:nvSpPr>
        <p:spPr>
          <a:xfrm>
            <a:off x="5321300" y="5380038"/>
            <a:ext cx="3603625" cy="523875"/>
          </a:xfrm>
          <a:prstGeom prst="wedgeRoundRectCallout">
            <a:avLst>
              <a:gd name="adj1" fmla="val -54966"/>
              <a:gd name="adj2" fmla="val -3532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將圓規打開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2.5 </a:t>
            </a:r>
            <a:r>
              <a:rPr lang="zh-TW" altLang="en-US" sz="20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0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422405-4ED2-16AC-E8AA-5973A8B9D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325" y="5486400"/>
            <a:ext cx="420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2400">
                <a:solidFill>
                  <a:srgbClr val="F8388A"/>
                </a:solidFill>
                <a:latin typeface="Wingdings 2" panose="05020102010507070707" pitchFamily="18" charset="2"/>
                <a:ea typeface="書法中楷（注音一）" panose="02010609010101010101" pitchFamily="49" charset="-120"/>
              </a:rPr>
              <a:t>P</a:t>
            </a:r>
            <a:endParaRPr kumimoji="1" lang="zh-TW" altLang="en-US" sz="2400">
              <a:solidFill>
                <a:srgbClr val="F8388A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D003686-9601-39A6-10FC-53FBE8FC3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2860675"/>
            <a:ext cx="2900362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2818C2F-8187-C983-F820-5D1D3A565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650" y="2860675"/>
            <a:ext cx="28495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E6E9F69-971B-C7C5-EDFD-9CDBCF77E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213" y="2860675"/>
            <a:ext cx="3395662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矩形 8">
            <a:extLst>
              <a:ext uri="{FF2B5EF4-FFF2-40B4-BE49-F238E27FC236}">
                <a16:creationId xmlns:a16="http://schemas.microsoft.com/office/drawing/2014/main" id="{5939A11C-7EC7-2868-6B9A-317041255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87503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在藍線上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麼畫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甲線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的線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4C8AE9-F43C-C5B0-636A-60BFB878B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1978025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拿出圓規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跟著下面的步驟做做看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556426-6770-BA52-8EE3-7C3C65BB1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5359400"/>
            <a:ext cx="2786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先把圓規打開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甲線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42C535-BE64-E6BE-423A-7E22C7F3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5359400"/>
            <a:ext cx="30130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再以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ㄅ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為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圓心畫圓弧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藍線相交於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ㄆ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6633" name="矩形 8">
            <a:extLst>
              <a:ext uri="{FF2B5EF4-FFF2-40B4-BE49-F238E27FC236}">
                <a16:creationId xmlns:a16="http://schemas.microsoft.com/office/drawing/2014/main" id="{F6859BE8-51E3-DCD0-AF9D-92C506601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863600"/>
            <a:ext cx="557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甲</a:t>
            </a:r>
          </a:p>
        </p:txBody>
      </p:sp>
      <p:grpSp>
        <p:nvGrpSpPr>
          <p:cNvPr id="26634" name="群組 12">
            <a:extLst>
              <a:ext uri="{FF2B5EF4-FFF2-40B4-BE49-F238E27FC236}">
                <a16:creationId xmlns:a16="http://schemas.microsoft.com/office/drawing/2014/main" id="{659928A1-6DE9-EF21-6978-8BD83EA08986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1031875"/>
            <a:ext cx="6843713" cy="927100"/>
            <a:chOff x="1054362" y="1031083"/>
            <a:chExt cx="6843450" cy="927099"/>
          </a:xfrm>
        </p:grpSpPr>
        <p:pic>
          <p:nvPicPr>
            <p:cNvPr id="26639" name="圖片 1">
              <a:extLst>
                <a:ext uri="{FF2B5EF4-FFF2-40B4-BE49-F238E27FC236}">
                  <a16:creationId xmlns:a16="http://schemas.microsoft.com/office/drawing/2014/main" id="{8A35522D-9CD0-F073-BE2E-835870E5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362" y="1031083"/>
              <a:ext cx="6843450" cy="927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EC63AF27-A791-BADB-F960-13A0C381E9FC}"/>
                </a:ext>
              </a:extLst>
            </p:cNvPr>
            <p:cNvCxnSpPr/>
            <p:nvPr/>
          </p:nvCxnSpPr>
          <p:spPr>
            <a:xfrm flipH="1">
              <a:off x="1163896" y="1829595"/>
              <a:ext cx="2528790" cy="0"/>
            </a:xfrm>
            <a:prstGeom prst="line">
              <a:avLst/>
            </a:prstGeom>
            <a:ln w="19050">
              <a:solidFill>
                <a:srgbClr val="3EC1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C95887DF-5C73-94F0-0D69-6A3598B64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5359400"/>
            <a:ext cx="35131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最後在藍線上從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ㄅ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點畫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條直線到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ㄆ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點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這條線就完成了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83F27F10-0600-53A1-B2BB-0855BA663739}"/>
              </a:ext>
            </a:extLst>
          </p:cNvPr>
          <p:cNvCxnSpPr/>
          <p:nvPr/>
        </p:nvCxnSpPr>
        <p:spPr>
          <a:xfrm flipH="1" flipV="1">
            <a:off x="1163638" y="1828800"/>
            <a:ext cx="2489200" cy="1588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7" name="圖片 10">
            <a:extLst>
              <a:ext uri="{FF2B5EF4-FFF2-40B4-BE49-F238E27FC236}">
                <a16:creationId xmlns:a16="http://schemas.microsoft.com/office/drawing/2014/main" id="{10E6FEEB-F452-039A-927F-26385F15C1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22225"/>
            <a:ext cx="455612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C8B5797-A096-35B8-7C1B-C7EBDD864CCE}"/>
              </a:ext>
            </a:extLst>
          </p:cNvPr>
          <p:cNvCxnSpPr/>
          <p:nvPr/>
        </p:nvCxnSpPr>
        <p:spPr>
          <a:xfrm>
            <a:off x="3648075" y="1743075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3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29">
            <a:extLst>
              <a:ext uri="{FF2B5EF4-FFF2-40B4-BE49-F238E27FC236}">
                <a16:creationId xmlns:a16="http://schemas.microsoft.com/office/drawing/2014/main" id="{AAB38A52-B950-47F9-4C1D-CA4C2B768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8713788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矩形 44">
            <a:extLst>
              <a:ext uri="{FF2B5EF4-FFF2-40B4-BE49-F238E27FC236}">
                <a16:creationId xmlns:a16="http://schemas.microsoft.com/office/drawing/2014/main" id="{16D58516-97AF-6F4D-9436-5149D13EA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698500"/>
            <a:ext cx="875188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拿出圓規在藍線上做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ㄅ、ㄆ、ㄇ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的線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再把它們的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由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到短排出來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27652" name="圖片 1">
            <a:extLst>
              <a:ext uri="{FF2B5EF4-FFF2-40B4-BE49-F238E27FC236}">
                <a16:creationId xmlns:a16="http://schemas.microsoft.com/office/drawing/2014/main" id="{7F4EFB6E-D8B3-C267-C6A5-AFB9B20D2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084388"/>
            <a:ext cx="6932613" cy="300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圖片 2">
            <a:extLst>
              <a:ext uri="{FF2B5EF4-FFF2-40B4-BE49-F238E27FC236}">
                <a16:creationId xmlns:a16="http://schemas.microsoft.com/office/drawing/2014/main" id="{7718F5A4-7316-54A9-12E7-DEF8AAFD0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5551488"/>
            <a:ext cx="50609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矩形 47">
            <a:extLst>
              <a:ext uri="{FF2B5EF4-FFF2-40B4-BE49-F238E27FC236}">
                <a16:creationId xmlns:a16="http://schemas.microsoft.com/office/drawing/2014/main" id="{E396F262-D48A-17B2-7F31-3A3D212F8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5961063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由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到短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：    →     →</a:t>
            </a:r>
          </a:p>
        </p:txBody>
      </p:sp>
      <p:pic>
        <p:nvPicPr>
          <p:cNvPr id="27655" name="Picture 3">
            <a:extLst>
              <a:ext uri="{FF2B5EF4-FFF2-40B4-BE49-F238E27FC236}">
                <a16:creationId xmlns:a16="http://schemas.microsoft.com/office/drawing/2014/main" id="{3313DEC0-0302-9C9A-1DFF-EE0CFB29C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3" y="5926138"/>
            <a:ext cx="7207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545777DD-D24E-2996-327A-08A8E0BA6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5980113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ㄆ</a:t>
            </a:r>
          </a:p>
        </p:txBody>
      </p:sp>
      <p:pic>
        <p:nvPicPr>
          <p:cNvPr id="27657" name="Picture 3">
            <a:extLst>
              <a:ext uri="{FF2B5EF4-FFF2-40B4-BE49-F238E27FC236}">
                <a16:creationId xmlns:a16="http://schemas.microsoft.com/office/drawing/2014/main" id="{1D9D5F52-D1C2-4FE4-421C-B2CA3562B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263" y="5891213"/>
            <a:ext cx="7207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D50B5679-4264-4254-2990-25F284C2C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5945188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ㄇ</a:t>
            </a:r>
          </a:p>
        </p:txBody>
      </p:sp>
      <p:pic>
        <p:nvPicPr>
          <p:cNvPr id="27659" name="Picture 3">
            <a:extLst>
              <a:ext uri="{FF2B5EF4-FFF2-40B4-BE49-F238E27FC236}">
                <a16:creationId xmlns:a16="http://schemas.microsoft.com/office/drawing/2014/main" id="{6C8A61FA-C660-29C9-3AE7-3C64DE0F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5891213"/>
            <a:ext cx="7207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4E5EA6F5-2BF0-6304-B654-7C9874A09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5" y="59451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ㄅ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B89C67E-E64D-18FA-91DB-0AC65B3B3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0" y="50752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ㄅ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DBDF456-316A-2E6D-81B2-EDE12B3FCF53}"/>
              </a:ext>
            </a:extLst>
          </p:cNvPr>
          <p:cNvCxnSpPr/>
          <p:nvPr/>
        </p:nvCxnSpPr>
        <p:spPr>
          <a:xfrm>
            <a:off x="2214563" y="5551488"/>
            <a:ext cx="0" cy="21590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33CDF0D3-C7D7-EE80-E2F0-4A416B9B5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5672138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ㄇ</a:t>
            </a: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2220074-309A-75FD-7219-9EB544ADEFA3}"/>
              </a:ext>
            </a:extLst>
          </p:cNvPr>
          <p:cNvCxnSpPr/>
          <p:nvPr/>
        </p:nvCxnSpPr>
        <p:spPr>
          <a:xfrm>
            <a:off x="2473325" y="5551488"/>
            <a:ext cx="0" cy="21590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5CB6CF0-1CD4-1C9E-D18F-3128D45F6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5084763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ㄆ</a:t>
            </a: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1F4CDD9B-8BC2-BDB3-BE22-8F7ED959729C}"/>
              </a:ext>
            </a:extLst>
          </p:cNvPr>
          <p:cNvCxnSpPr/>
          <p:nvPr/>
        </p:nvCxnSpPr>
        <p:spPr>
          <a:xfrm>
            <a:off x="3030538" y="5559425"/>
            <a:ext cx="0" cy="21590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/>
      <p:bldP spid="54" grpId="0"/>
      <p:bldP spid="56" grpId="0"/>
      <p:bldP spid="59" grpId="0"/>
      <p:bldP spid="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圖片 3">
            <a:extLst>
              <a:ext uri="{FF2B5EF4-FFF2-40B4-BE49-F238E27FC236}">
                <a16:creationId xmlns:a16="http://schemas.microsoft.com/office/drawing/2014/main" id="{860B6A8D-B2B0-5CAA-D4BB-194A8717D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612775"/>
            <a:ext cx="76152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矩形 8">
            <a:extLst>
              <a:ext uri="{FF2B5EF4-FFF2-40B4-BE49-F238E27FC236}">
                <a16:creationId xmlns:a16="http://schemas.microsoft.com/office/drawing/2014/main" id="{D1CF366F-E53B-8A06-856B-B8D115E6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-19050"/>
            <a:ext cx="8750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在藍線上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畫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條是乙線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2 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倍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的線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3C14BA-EEAC-043A-410B-8E2BC74A8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682750"/>
            <a:ext cx="87503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你是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麼做的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B25A75D-BFD9-B11F-EA6C-BB25F3BBCBC7}"/>
              </a:ext>
            </a:extLst>
          </p:cNvPr>
          <p:cNvCxnSpPr/>
          <p:nvPr/>
        </p:nvCxnSpPr>
        <p:spPr>
          <a:xfrm>
            <a:off x="2854325" y="1282700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65500D1-1484-9363-A828-CFAB372A33E7}"/>
              </a:ext>
            </a:extLst>
          </p:cNvPr>
          <p:cNvCxnSpPr/>
          <p:nvPr/>
        </p:nvCxnSpPr>
        <p:spPr>
          <a:xfrm>
            <a:off x="4767263" y="128428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CBF14FD-883E-148C-B350-89B2F8F5B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2336800"/>
            <a:ext cx="87518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用上題的方法做做看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在藍線上畫出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丙線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的線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B28091-BA3B-2787-60D5-3AC42616C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3238500"/>
            <a:ext cx="7594600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DD0E0EB9-D329-60C6-572E-09D454ED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5922963"/>
            <a:ext cx="8750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你是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麼做的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3564" name="圖片 9">
            <a:extLst>
              <a:ext uri="{FF2B5EF4-FFF2-40B4-BE49-F238E27FC236}">
                <a16:creationId xmlns:a16="http://schemas.microsoft.com/office/drawing/2014/main" id="{21E62B1C-601D-794C-F79A-D28727341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5697538"/>
            <a:ext cx="83708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6257F20-8F87-E0CE-AEE7-0D7FFE7EB218}"/>
              </a:ext>
            </a:extLst>
          </p:cNvPr>
          <p:cNvCxnSpPr/>
          <p:nvPr/>
        </p:nvCxnSpPr>
        <p:spPr>
          <a:xfrm>
            <a:off x="3275013" y="57102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08BC2FF7-CA83-1AAF-733A-047BCF56717D}"/>
              </a:ext>
            </a:extLst>
          </p:cNvPr>
          <p:cNvCxnSpPr/>
          <p:nvPr/>
        </p:nvCxnSpPr>
        <p:spPr>
          <a:xfrm>
            <a:off x="5307013" y="5700713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FFFA37E-3A5C-4CB3-0A6A-153B25A4D125}"/>
              </a:ext>
            </a:extLst>
          </p:cNvPr>
          <p:cNvCxnSpPr/>
          <p:nvPr/>
        </p:nvCxnSpPr>
        <p:spPr>
          <a:xfrm>
            <a:off x="7697788" y="56975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0E9721-9DE4-5196-703B-3003706D1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53149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ㄅ</a:t>
            </a:r>
            <a:endParaRPr kumimoji="1" lang="zh-TW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DE3E62-E9CF-6723-657D-249B522E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425" y="529272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E72614-AA4F-D9EB-0AEF-266733183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531653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E81E11-69CA-BDFC-510A-B9C7D75CA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530542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ㄈ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5E0C3B6-67C8-CA54-639C-16C92B8BFA15}"/>
              </a:ext>
            </a:extLst>
          </p:cNvPr>
          <p:cNvCxnSpPr/>
          <p:nvPr/>
        </p:nvCxnSpPr>
        <p:spPr>
          <a:xfrm flipH="1" flipV="1">
            <a:off x="968375" y="1362075"/>
            <a:ext cx="1893888" cy="4763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1F70467-896B-F993-5A1F-7AC0ECF7ECA2}"/>
              </a:ext>
            </a:extLst>
          </p:cNvPr>
          <p:cNvCxnSpPr/>
          <p:nvPr/>
        </p:nvCxnSpPr>
        <p:spPr>
          <a:xfrm flipH="1" flipV="1">
            <a:off x="2862263" y="1362075"/>
            <a:ext cx="1893887" cy="4763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92" name="圖片 11">
            <a:extLst>
              <a:ext uri="{FF2B5EF4-FFF2-40B4-BE49-F238E27FC236}">
                <a16:creationId xmlns:a16="http://schemas.microsoft.com/office/drawing/2014/main" id="{D40D2603-EE21-08ED-A267-ABAC3394C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"/>
            <a:ext cx="47942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圖片 12">
            <a:extLst>
              <a:ext uri="{FF2B5EF4-FFF2-40B4-BE49-F238E27FC236}">
                <a16:creationId xmlns:a16="http://schemas.microsoft.com/office/drawing/2014/main" id="{EDB444DC-CCFB-D278-D29D-39231F8A59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0613"/>
            <a:ext cx="50482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283B52E-2FBB-FF12-9DE7-292EA09BA083}"/>
              </a:ext>
            </a:extLst>
          </p:cNvPr>
          <p:cNvCxnSpPr/>
          <p:nvPr/>
        </p:nvCxnSpPr>
        <p:spPr>
          <a:xfrm flipH="1" flipV="1">
            <a:off x="593725" y="5788025"/>
            <a:ext cx="2684463" cy="3175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682C4C41-F0FA-EF04-D877-A30BE4C30A64}"/>
              </a:ext>
            </a:extLst>
          </p:cNvPr>
          <p:cNvCxnSpPr/>
          <p:nvPr/>
        </p:nvCxnSpPr>
        <p:spPr>
          <a:xfrm flipH="1">
            <a:off x="3278188" y="5783263"/>
            <a:ext cx="2039937" cy="6350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1A28044A-F1B1-126B-2C0D-ED5B893DCE5F}"/>
              </a:ext>
            </a:extLst>
          </p:cNvPr>
          <p:cNvCxnSpPr/>
          <p:nvPr/>
        </p:nvCxnSpPr>
        <p:spPr>
          <a:xfrm flipH="1">
            <a:off x="5310188" y="5781675"/>
            <a:ext cx="2381250" cy="4763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7" grpId="0"/>
      <p:bldP spid="17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44">
            <a:extLst>
              <a:ext uri="{FF2B5EF4-FFF2-40B4-BE49-F238E27FC236}">
                <a16:creationId xmlns:a16="http://schemas.microsoft.com/office/drawing/2014/main" id="{4EDFA73B-30F4-1633-8B12-564BD8D7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698500"/>
            <a:ext cx="8751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豆豆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要幫媽</a:t>
            </a:r>
            <a:r>
              <a:rPr lang="zh-TW" altLang="en-US" sz="2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媽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買牛奶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他要去哪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間商店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才會比較近</a:t>
            </a:r>
            <a:r>
              <a:rPr lang="zh-TW" altLang="en-US" sz="2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FF5DF4-1E69-DE2F-307E-E9D24913F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147763"/>
            <a:ext cx="1260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甲商店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9700" name="圖片 1">
            <a:extLst>
              <a:ext uri="{FF2B5EF4-FFF2-40B4-BE49-F238E27FC236}">
                <a16:creationId xmlns:a16="http://schemas.microsoft.com/office/drawing/2014/main" id="{BE8E0E00-EF60-AFAC-AB2B-542683546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01600"/>
            <a:ext cx="8845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圖片 3">
            <a:extLst>
              <a:ext uri="{FF2B5EF4-FFF2-40B4-BE49-F238E27FC236}">
                <a16:creationId xmlns:a16="http://schemas.microsoft.com/office/drawing/2014/main" id="{B987CB2D-FA54-EAE0-542F-F36427220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689100"/>
            <a:ext cx="8428037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3279B6C-AB83-01B7-6934-B8ADAA982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454977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①</a:t>
            </a:r>
            <a:endParaRPr lang="zh-TW" altLang="en-US" sz="2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8AC553-A370-8E13-CC42-37E69615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352107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D7D085-D20A-5D36-2193-CC242F2DF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2989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7A4D0D-56B5-19A7-BD7D-92D2654B0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458152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FE83F5-76B1-F702-C593-C7F1B71B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888" y="4549775"/>
            <a:ext cx="4937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①</a:t>
            </a:r>
            <a:endParaRPr lang="zh-TW" altLang="en-US" sz="24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1FAE14-1153-F714-0685-98DB2C5A0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5402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4C4C85-17B1-CFD6-BC11-18067B03B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5783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38DABB-8C24-32B2-D5A0-189957019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0688" y="280352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④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FF89BFA-0ABE-B734-25DE-30C37F8CB925}"/>
              </a:ext>
            </a:extLst>
          </p:cNvPr>
          <p:cNvCxnSpPr/>
          <p:nvPr/>
        </p:nvCxnSpPr>
        <p:spPr>
          <a:xfrm>
            <a:off x="2863850" y="4492625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76B9ABD1-7826-9295-901B-D3D333048303}"/>
              </a:ext>
            </a:extLst>
          </p:cNvPr>
          <p:cNvCxnSpPr/>
          <p:nvPr/>
        </p:nvCxnSpPr>
        <p:spPr>
          <a:xfrm>
            <a:off x="4283075" y="4498975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F2EB00A-63A9-523C-CB00-64B67357E2C2}"/>
              </a:ext>
            </a:extLst>
          </p:cNvPr>
          <p:cNvCxnSpPr/>
          <p:nvPr/>
        </p:nvCxnSpPr>
        <p:spPr>
          <a:xfrm>
            <a:off x="5502275" y="45037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486BA769-E008-C3FE-83AF-CBBD1EBAAA36}"/>
              </a:ext>
            </a:extLst>
          </p:cNvPr>
          <p:cNvCxnSpPr/>
          <p:nvPr/>
        </p:nvCxnSpPr>
        <p:spPr>
          <a:xfrm>
            <a:off x="6340475" y="4498975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" grpId="0"/>
      <p:bldP spid="3" grpId="0"/>
      <p:bldP spid="4" grpId="0"/>
      <p:bldP spid="5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標題 1">
            <a:extLst>
              <a:ext uri="{FF2B5EF4-FFF2-40B4-BE49-F238E27FC236}">
                <a16:creationId xmlns:a16="http://schemas.microsoft.com/office/drawing/2014/main" id="{FF684261-4A33-C5F2-1480-86D876869C4A}"/>
              </a:ext>
            </a:extLst>
          </p:cNvPr>
          <p:cNvSpPr txBox="1">
            <a:spLocks/>
          </p:cNvSpPr>
          <p:nvPr/>
        </p:nvSpPr>
        <p:spPr bwMode="auto">
          <a:xfrm>
            <a:off x="628650" y="2757488"/>
            <a:ext cx="7886700" cy="1116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zh-TW" altLang="en-US" sz="7200" b="1" dirty="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</a:rPr>
              <a:t>練習百分百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5">
            <a:extLst>
              <a:ext uri="{FF2B5EF4-FFF2-40B4-BE49-F238E27FC236}">
                <a16:creationId xmlns:a16="http://schemas.microsoft.com/office/drawing/2014/main" id="{B3B327C3-CEE3-0091-4E6E-4661E3A0B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493838"/>
            <a:ext cx="87518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先在下面方格紙畫出指定的圓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再回答問題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1747" name="圖片 2">
            <a:extLst>
              <a:ext uri="{FF2B5EF4-FFF2-40B4-BE49-F238E27FC236}">
                <a16:creationId xmlns:a16="http://schemas.microsoft.com/office/drawing/2014/main" id="{3D09D198-A66D-B1BA-3BEB-917DB462F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571625"/>
            <a:ext cx="4572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矩形 17">
            <a:extLst>
              <a:ext uri="{FF2B5EF4-FFF2-40B4-BE49-F238E27FC236}">
                <a16:creationId xmlns:a16="http://schemas.microsoft.com/office/drawing/2014/main" id="{D5E174FE-B51E-6610-7A17-585D7CE7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2341563"/>
            <a:ext cx="8751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1749" name="圖片 2">
            <a:extLst>
              <a:ext uri="{FF2B5EF4-FFF2-40B4-BE49-F238E27FC236}">
                <a16:creationId xmlns:a16="http://schemas.microsoft.com/office/drawing/2014/main" id="{AB4AB92E-DE4F-FB88-2DE3-F63836801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2416175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圖片 14">
            <a:extLst>
              <a:ext uri="{FF2B5EF4-FFF2-40B4-BE49-F238E27FC236}">
                <a16:creationId xmlns:a16="http://schemas.microsoft.com/office/drawing/2014/main" id="{0E0C44EF-39A7-FF54-2D30-9DDF813F1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868613"/>
            <a:ext cx="36036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1" name="圖片 15">
            <a:extLst>
              <a:ext uri="{FF2B5EF4-FFF2-40B4-BE49-F238E27FC236}">
                <a16:creationId xmlns:a16="http://schemas.microsoft.com/office/drawing/2014/main" id="{79B4EF75-DF9D-D880-F7C9-152864DB9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384550"/>
            <a:ext cx="3571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矩形 21">
            <a:extLst>
              <a:ext uri="{FF2B5EF4-FFF2-40B4-BE49-F238E27FC236}">
                <a16:creationId xmlns:a16="http://schemas.microsoft.com/office/drawing/2014/main" id="{B6BAF62B-0755-5C52-870A-D017CC9E2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2817813"/>
            <a:ext cx="8751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在圓心標示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ㄅ。</a:t>
            </a:r>
          </a:p>
        </p:txBody>
      </p:sp>
      <p:sp>
        <p:nvSpPr>
          <p:cNvPr id="31753" name="矩形 23">
            <a:extLst>
              <a:ext uri="{FF2B5EF4-FFF2-40B4-BE49-F238E27FC236}">
                <a16:creationId xmlns:a16="http://schemas.microsoft.com/office/drawing/2014/main" id="{1B143014-0199-19F8-FB86-49C55E24F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3335338"/>
            <a:ext cx="87518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在上面畫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條直徑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直徑的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  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1754" name="圖片 7">
            <a:extLst>
              <a:ext uri="{FF2B5EF4-FFF2-40B4-BE49-F238E27FC236}">
                <a16:creationId xmlns:a16="http://schemas.microsoft.com/office/drawing/2014/main" id="{BC97A6F3-A1C6-619D-07E4-8DAE7B3AD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3775075"/>
            <a:ext cx="4406900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5E5F7D17-1EA4-EEBB-63B5-93285E87FDFB}"/>
              </a:ext>
            </a:extLst>
          </p:cNvPr>
          <p:cNvSpPr/>
          <p:nvPr/>
        </p:nvSpPr>
        <p:spPr>
          <a:xfrm>
            <a:off x="815975" y="3846513"/>
            <a:ext cx="2901950" cy="2874962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12BF0CE-BDAA-C07B-1B19-3950144B3C44}"/>
              </a:ext>
            </a:extLst>
          </p:cNvPr>
          <p:cNvSpPr/>
          <p:nvPr/>
        </p:nvSpPr>
        <p:spPr>
          <a:xfrm>
            <a:off x="2233613" y="5235575"/>
            <a:ext cx="73025" cy="73025"/>
          </a:xfrm>
          <a:prstGeom prst="ellipse">
            <a:avLst/>
          </a:prstGeom>
          <a:solidFill>
            <a:srgbClr val="FF33CC"/>
          </a:solidFill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94DEBD1-EDBA-A312-0DE7-B5DA6B49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5308600"/>
            <a:ext cx="53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CN" altLang="en-US">
                <a:solidFill>
                  <a:srgbClr val="FF33CC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ㄅ</a:t>
            </a:r>
            <a:endParaRPr lang="zh-TW" altLang="en-US">
              <a:solidFill>
                <a:srgbClr val="FF33CC"/>
              </a:solidFill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12D6B47-2D7E-BFFB-1BA0-10308F70DE58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2266950" y="3846513"/>
            <a:ext cx="0" cy="2874962"/>
          </a:xfrm>
          <a:prstGeom prst="line">
            <a:avLst/>
          </a:prstGeom>
          <a:ln w="28575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21240D09-1322-3B11-6A28-BFBF45DB443D}"/>
              </a:ext>
            </a:extLst>
          </p:cNvPr>
          <p:cNvGrpSpPr>
            <a:grpSpLocks/>
          </p:cNvGrpSpPr>
          <p:nvPr/>
        </p:nvGrpSpPr>
        <p:grpSpPr bwMode="auto">
          <a:xfrm>
            <a:off x="1379538" y="3843338"/>
            <a:ext cx="996950" cy="2865437"/>
            <a:chOff x="1380132" y="3843241"/>
            <a:chExt cx="996836" cy="2866087"/>
          </a:xfrm>
        </p:grpSpPr>
        <p:sp>
          <p:nvSpPr>
            <p:cNvPr id="31761" name="矩形 30">
              <a:extLst>
                <a:ext uri="{FF2B5EF4-FFF2-40B4-BE49-F238E27FC236}">
                  <a16:creationId xmlns:a16="http://schemas.microsoft.com/office/drawing/2014/main" id="{9DD3D899-CD65-7B08-FDD3-C2C32C4C2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132" y="5123357"/>
              <a:ext cx="6463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FF33CC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直徑</a:t>
              </a:r>
            </a:p>
          </p:txBody>
        </p:sp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233270DB-D86D-9244-BC88-FCD1F5683055}"/>
                </a:ext>
              </a:extLst>
            </p:cNvPr>
            <p:cNvSpPr/>
            <p:nvPr/>
          </p:nvSpPr>
          <p:spPr>
            <a:xfrm flipH="1">
              <a:off x="2143632" y="3843241"/>
              <a:ext cx="233336" cy="1462419"/>
            </a:xfrm>
            <a:prstGeom prst="arc">
              <a:avLst/>
            </a:prstGeom>
            <a:ln w="12700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80F1058E-F3A3-4001-6860-86C956BEA9D2}"/>
                </a:ext>
              </a:extLst>
            </p:cNvPr>
            <p:cNvSpPr/>
            <p:nvPr/>
          </p:nvSpPr>
          <p:spPr>
            <a:xfrm flipH="1" flipV="1">
              <a:off x="2137282" y="5246909"/>
              <a:ext cx="231748" cy="1462419"/>
            </a:xfrm>
            <a:prstGeom prst="arc">
              <a:avLst/>
            </a:prstGeom>
            <a:ln w="12700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ABC7A46-B189-0814-E373-32083D830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888" y="3319463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CN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8" grpId="0" animBg="1"/>
      <p:bldP spid="30" grpId="0"/>
      <p:bldP spid="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5">
            <a:extLst>
              <a:ext uri="{FF2B5EF4-FFF2-40B4-BE49-F238E27FC236}">
                <a16:creationId xmlns:a16="http://schemas.microsoft.com/office/drawing/2014/main" id="{EAD42B9A-5DA4-9D2D-FCD3-90CB920F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62100"/>
            <a:ext cx="8751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先在下面方格紙畫出指定的圓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再回答問題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2771" name="圖片 2">
            <a:extLst>
              <a:ext uri="{FF2B5EF4-FFF2-40B4-BE49-F238E27FC236}">
                <a16:creationId xmlns:a16="http://schemas.microsoft.com/office/drawing/2014/main" id="{387A5C77-B412-7B4C-B473-C16F44B49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639888"/>
            <a:ext cx="45720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17">
            <a:extLst>
              <a:ext uri="{FF2B5EF4-FFF2-40B4-BE49-F238E27FC236}">
                <a16:creationId xmlns:a16="http://schemas.microsoft.com/office/drawing/2014/main" id="{97033AAD-1E86-0423-1EBA-C62EE5645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2409825"/>
            <a:ext cx="8751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8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公分的圓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2773" name="圖片 14">
            <a:extLst>
              <a:ext uri="{FF2B5EF4-FFF2-40B4-BE49-F238E27FC236}">
                <a16:creationId xmlns:a16="http://schemas.microsoft.com/office/drawing/2014/main" id="{735610D6-C504-D538-CB1F-649585AD2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93687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圖片 15">
            <a:extLst>
              <a:ext uri="{FF2B5EF4-FFF2-40B4-BE49-F238E27FC236}">
                <a16:creationId xmlns:a16="http://schemas.microsoft.com/office/drawing/2014/main" id="{A72C085C-129C-9C82-6817-CB8CAFAD8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452813"/>
            <a:ext cx="3571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矩形 21">
            <a:extLst>
              <a:ext uri="{FF2B5EF4-FFF2-40B4-BE49-F238E27FC236}">
                <a16:creationId xmlns:a16="http://schemas.microsoft.com/office/drawing/2014/main" id="{70F05D9C-D035-7408-DF47-60D58FE2B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2886075"/>
            <a:ext cx="8751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在圓心標示</a:t>
            </a:r>
            <a:r>
              <a:rPr lang="zh-CN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ㄆ。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776" name="矩形 23">
            <a:extLst>
              <a:ext uri="{FF2B5EF4-FFF2-40B4-BE49-F238E27FC236}">
                <a16:creationId xmlns:a16="http://schemas.microsoft.com/office/drawing/2014/main" id="{596630D3-6FB8-8636-D41B-4D96E5967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3402013"/>
            <a:ext cx="37798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在上面畫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條半徑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半徑的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長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是</a:t>
            </a:r>
            <a:endParaRPr lang="en-US" altLang="zh-TW" sz="2400"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  <a:p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  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)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32777" name="矩形 34">
            <a:extLst>
              <a:ext uri="{FF2B5EF4-FFF2-40B4-BE49-F238E27FC236}">
                <a16:creationId xmlns:a16="http://schemas.microsoft.com/office/drawing/2014/main" id="{EDE483AC-1E64-B298-BAAD-F3E9B212C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2844800"/>
            <a:ext cx="365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CN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778" name="圖片 22">
            <a:extLst>
              <a:ext uri="{FF2B5EF4-FFF2-40B4-BE49-F238E27FC236}">
                <a16:creationId xmlns:a16="http://schemas.microsoft.com/office/drawing/2014/main" id="{4B0AB419-187A-D6AE-81B6-2B73B3981F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238375"/>
            <a:ext cx="3943350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4F16FD64-0F65-F7F9-AFE3-C37EBBBEC0BA}"/>
              </a:ext>
            </a:extLst>
          </p:cNvPr>
          <p:cNvSpPr/>
          <p:nvPr/>
        </p:nvSpPr>
        <p:spPr>
          <a:xfrm>
            <a:off x="5111750" y="2254250"/>
            <a:ext cx="3898900" cy="3919538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9FDB84E5-E2DD-7727-9B82-763B01817575}"/>
              </a:ext>
            </a:extLst>
          </p:cNvPr>
          <p:cNvSpPr/>
          <p:nvPr/>
        </p:nvSpPr>
        <p:spPr>
          <a:xfrm>
            <a:off x="7011988" y="4162425"/>
            <a:ext cx="71437" cy="71438"/>
          </a:xfrm>
          <a:prstGeom prst="ellipse">
            <a:avLst/>
          </a:prstGeom>
          <a:solidFill>
            <a:srgbClr val="FF33CC"/>
          </a:solidFill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B3D6B0-D0F1-E2B5-D613-024706716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4233863"/>
            <a:ext cx="53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CN" altLang="en-US">
                <a:solidFill>
                  <a:srgbClr val="FF33CC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ㄆ</a:t>
            </a:r>
            <a:endParaRPr lang="zh-TW" altLang="en-US">
              <a:solidFill>
                <a:srgbClr val="FF33CC"/>
              </a:solidFill>
              <a:latin typeface="書法中楷（注音一）" panose="02010609010101010101" pitchFamily="49" charset="-120"/>
              <a:ea typeface="書法中楷（注音一）" panose="02010609010101010101" pitchFamily="49" charset="-12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7993F15-8DEC-8395-4B1A-4710C7A1A891}"/>
              </a:ext>
            </a:extLst>
          </p:cNvPr>
          <p:cNvCxnSpPr>
            <a:endCxn id="27" idx="0"/>
          </p:cNvCxnSpPr>
          <p:nvPr/>
        </p:nvCxnSpPr>
        <p:spPr>
          <a:xfrm>
            <a:off x="7043738" y="2241550"/>
            <a:ext cx="4762" cy="1920875"/>
          </a:xfrm>
          <a:prstGeom prst="line">
            <a:avLst/>
          </a:prstGeom>
          <a:ln w="28575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15490561-E6AB-572A-FFE9-54C8B2818F3B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238375"/>
            <a:ext cx="996950" cy="1981200"/>
            <a:chOff x="1380132" y="3843241"/>
            <a:chExt cx="996836" cy="2866087"/>
          </a:xfrm>
        </p:grpSpPr>
        <p:sp>
          <p:nvSpPr>
            <p:cNvPr id="32786" name="矩形 35">
              <a:extLst>
                <a:ext uri="{FF2B5EF4-FFF2-40B4-BE49-F238E27FC236}">
                  <a16:creationId xmlns:a16="http://schemas.microsoft.com/office/drawing/2014/main" id="{BBA0139C-AF97-0B43-D776-750E1947D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132" y="5123357"/>
              <a:ext cx="646331" cy="53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TW" altLang="en-US">
                  <a:solidFill>
                    <a:srgbClr val="FF33CC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半徑</a:t>
              </a:r>
            </a:p>
          </p:txBody>
        </p:sp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49F81B7B-3A66-79D7-990D-3B112614D08E}"/>
                </a:ext>
              </a:extLst>
            </p:cNvPr>
            <p:cNvSpPr/>
            <p:nvPr/>
          </p:nvSpPr>
          <p:spPr>
            <a:xfrm flipH="1">
              <a:off x="2143633" y="3843241"/>
              <a:ext cx="233335" cy="1462899"/>
            </a:xfrm>
            <a:prstGeom prst="arc">
              <a:avLst/>
            </a:prstGeom>
            <a:ln w="12700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433E124A-B132-4E92-0B47-F8423E87D9F0}"/>
                </a:ext>
              </a:extLst>
            </p:cNvPr>
            <p:cNvSpPr/>
            <p:nvPr/>
          </p:nvSpPr>
          <p:spPr>
            <a:xfrm flipH="1" flipV="1">
              <a:off x="2137283" y="5246430"/>
              <a:ext cx="231748" cy="1462898"/>
            </a:xfrm>
            <a:prstGeom prst="arc">
              <a:avLst/>
            </a:prstGeom>
            <a:ln w="12700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D3F37F4F-C61D-7183-EF5F-708E6B1B4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788" y="4087813"/>
            <a:ext cx="363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CN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785" name="圖片 3">
            <a:extLst>
              <a:ext uri="{FF2B5EF4-FFF2-40B4-BE49-F238E27FC236}">
                <a16:creationId xmlns:a16="http://schemas.microsoft.com/office/drawing/2014/main" id="{D52CD939-0E3B-8F92-F361-BB3A090348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2503488"/>
            <a:ext cx="38258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矩形 15">
            <a:extLst>
              <a:ext uri="{FF2B5EF4-FFF2-40B4-BE49-F238E27FC236}">
                <a16:creationId xmlns:a16="http://schemas.microsoft.com/office/drawing/2014/main" id="{4A96C773-4A92-96C7-D8E4-6C5E472E4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606550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看圖填填看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3795" name="圖片 1">
            <a:extLst>
              <a:ext uri="{FF2B5EF4-FFF2-40B4-BE49-F238E27FC236}">
                <a16:creationId xmlns:a16="http://schemas.microsoft.com/office/drawing/2014/main" id="{7CEBA2CE-6062-0158-90CD-0798C976F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3063"/>
            <a:ext cx="4635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矩形 15">
            <a:extLst>
              <a:ext uri="{FF2B5EF4-FFF2-40B4-BE49-F238E27FC236}">
                <a16:creationId xmlns:a16="http://schemas.microsoft.com/office/drawing/2014/main" id="{1A6B8FEB-F505-1796-10C0-49490A219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5418138"/>
            <a:ext cx="87518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直徑是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 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) 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3797" name="圖片 1">
            <a:extLst>
              <a:ext uri="{FF2B5EF4-FFF2-40B4-BE49-F238E27FC236}">
                <a16:creationId xmlns:a16="http://schemas.microsoft.com/office/drawing/2014/main" id="{C29B3648-5B9E-6DC3-3CAF-7DE471985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2271713"/>
            <a:ext cx="30353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矩形 15">
            <a:extLst>
              <a:ext uri="{FF2B5EF4-FFF2-40B4-BE49-F238E27FC236}">
                <a16:creationId xmlns:a16="http://schemas.microsoft.com/office/drawing/2014/main" id="{E422DBBE-3AB6-84BA-BC8D-926847DC6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463" y="3319463"/>
            <a:ext cx="1111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12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公分</a:t>
            </a:r>
          </a:p>
        </p:txBody>
      </p:sp>
      <p:pic>
        <p:nvPicPr>
          <p:cNvPr id="33799" name="圖片 2">
            <a:extLst>
              <a:ext uri="{FF2B5EF4-FFF2-40B4-BE49-F238E27FC236}">
                <a16:creationId xmlns:a16="http://schemas.microsoft.com/office/drawing/2014/main" id="{61EF9E7A-6628-662A-524B-D6A1E9BD2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216535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圖片 2">
            <a:extLst>
              <a:ext uri="{FF2B5EF4-FFF2-40B4-BE49-F238E27FC236}">
                <a16:creationId xmlns:a16="http://schemas.microsoft.com/office/drawing/2014/main" id="{0A4E99E6-5B58-AED4-685C-5E64DE36F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75" y="2805113"/>
            <a:ext cx="2125663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矩形 15">
            <a:extLst>
              <a:ext uri="{FF2B5EF4-FFF2-40B4-BE49-F238E27FC236}">
                <a16:creationId xmlns:a16="http://schemas.microsoft.com/office/drawing/2014/main" id="{AA390260-5020-0DE3-062B-50FDF2699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443288"/>
            <a:ext cx="1111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zh-TW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18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公</a:t>
            </a:r>
            <a:r>
              <a:rPr lang="zh-TW" altLang="en-US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分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802" name="矩形 15">
            <a:extLst>
              <a:ext uri="{FF2B5EF4-FFF2-40B4-BE49-F238E27FC236}">
                <a16:creationId xmlns:a16="http://schemas.microsoft.com/office/drawing/2014/main" id="{3F875663-B1F4-8D9C-6817-00948770B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5418138"/>
            <a:ext cx="42179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半徑是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     </a:t>
            </a:r>
            <a:r>
              <a:rPr lang="en-US" altLang="zh-TW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) 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公分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3803" name="圖片 3">
            <a:extLst>
              <a:ext uri="{FF2B5EF4-FFF2-40B4-BE49-F238E27FC236}">
                <a16:creationId xmlns:a16="http://schemas.microsoft.com/office/drawing/2014/main" id="{1AC0948A-BE4D-D7D7-9D55-E012D7D19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3" y="2130425"/>
            <a:ext cx="3825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D766ED0-3CE6-92A8-6F9F-DD207D885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113" y="541178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TW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kumimoji="1" lang="en-US" altLang="zh-CN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2F2C86-E6F0-73FB-C2A7-2881274F1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5422900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1" lang="en-US" altLang="zh-TW" sz="28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</a:t>
            </a:r>
            <a:endParaRPr kumimoji="1" lang="zh-TW" altLang="en-US" sz="28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15">
            <a:extLst>
              <a:ext uri="{FF2B5EF4-FFF2-40B4-BE49-F238E27FC236}">
                <a16:creationId xmlns:a16="http://schemas.microsoft.com/office/drawing/2014/main" id="{CE95EBD3-A85B-45DA-F345-3744C21FD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477963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用圓規畫畫看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再回答問題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4819" name="圖片 1">
            <a:extLst>
              <a:ext uri="{FF2B5EF4-FFF2-40B4-BE49-F238E27FC236}">
                <a16:creationId xmlns:a16="http://schemas.microsoft.com/office/drawing/2014/main" id="{244F0A07-AE24-C544-6708-87AD12F87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7975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圖片 1">
            <a:extLst>
              <a:ext uri="{FF2B5EF4-FFF2-40B4-BE49-F238E27FC236}">
                <a16:creationId xmlns:a16="http://schemas.microsoft.com/office/drawing/2014/main" id="{FB5EE8A4-B50B-A920-909F-BA0E4AA1D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936750"/>
            <a:ext cx="6935787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矩形 16">
            <a:extLst>
              <a:ext uri="{FF2B5EF4-FFF2-40B4-BE49-F238E27FC236}">
                <a16:creationId xmlns:a16="http://schemas.microsoft.com/office/drawing/2014/main" id="{C1CECD9A-758B-0946-93D2-1D0FF2540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4065588"/>
            <a:ext cx="993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</a:t>
            </a:r>
          </a:p>
        </p:txBody>
      </p:sp>
      <p:sp>
        <p:nvSpPr>
          <p:cNvPr id="34822" name="矩形 17">
            <a:extLst>
              <a:ext uri="{FF2B5EF4-FFF2-40B4-BE49-F238E27FC236}">
                <a16:creationId xmlns:a16="http://schemas.microsoft.com/office/drawing/2014/main" id="{C25294C3-9F1D-5837-504B-15DE9BFB0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3289300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書局</a:t>
            </a:r>
          </a:p>
        </p:txBody>
      </p:sp>
      <p:pic>
        <p:nvPicPr>
          <p:cNvPr id="34823" name="圖片 2">
            <a:extLst>
              <a:ext uri="{FF2B5EF4-FFF2-40B4-BE49-F238E27FC236}">
                <a16:creationId xmlns:a16="http://schemas.microsoft.com/office/drawing/2014/main" id="{198747DA-4DD4-0121-30F6-513CF9559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5219700"/>
            <a:ext cx="3524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矩形 15">
            <a:extLst>
              <a:ext uri="{FF2B5EF4-FFF2-40B4-BE49-F238E27FC236}">
                <a16:creationId xmlns:a16="http://schemas.microsoft.com/office/drawing/2014/main" id="{72AF0F56-BAED-56C2-0DF9-7E2BE2BAE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5218113"/>
            <a:ext cx="8751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在藍線上畫出</a:t>
            </a:r>
            <a:r>
              <a:rPr lang="zh-TW" altLang="en-US" sz="20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0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家到書局的距離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4825" name="圖片 3">
            <a:extLst>
              <a:ext uri="{FF2B5EF4-FFF2-40B4-BE49-F238E27FC236}">
                <a16:creationId xmlns:a16="http://schemas.microsoft.com/office/drawing/2014/main" id="{523F9144-E9D1-4F5B-3461-E34CDDD878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5837238"/>
            <a:ext cx="5554663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B583571-993C-470B-7D2B-685EC21EA4B5}"/>
              </a:ext>
            </a:extLst>
          </p:cNvPr>
          <p:cNvCxnSpPr/>
          <p:nvPr/>
        </p:nvCxnSpPr>
        <p:spPr>
          <a:xfrm>
            <a:off x="6018213" y="60404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51806CF-94F0-E8B8-D176-3F05B569F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351472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①</a:t>
            </a:r>
            <a:endParaRPr lang="zh-TW" altLang="en-US" sz="24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7DD50E-5E62-9930-9814-59C1DEA9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624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F21FAC-7437-2E4C-11A0-72C39517B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436562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825892-E075-2991-99BF-586C15A5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150" y="44116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8B588F-6858-8A9D-4F09-7F1591D9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163" y="56467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①</a:t>
            </a:r>
            <a:endParaRPr lang="zh-TW" altLang="en-US" sz="24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EE30EC-5FCE-F5E7-2F49-CBCE22593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75" y="4465638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0A68D4-174E-F940-3316-8CEB8679B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413" y="613251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D865F1-C9CF-7CAC-7145-71FEA5351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61896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④</a:t>
            </a: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089CE6B-F9F3-4A44-BFDF-08AEB9316320}"/>
              </a:ext>
            </a:extLst>
          </p:cNvPr>
          <p:cNvCxnSpPr/>
          <p:nvPr/>
        </p:nvCxnSpPr>
        <p:spPr>
          <a:xfrm>
            <a:off x="3136900" y="60404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DE002C3E-2FBF-511A-8414-FA0E1E1C3AC7}"/>
              </a:ext>
            </a:extLst>
          </p:cNvPr>
          <p:cNvCxnSpPr/>
          <p:nvPr/>
        </p:nvCxnSpPr>
        <p:spPr>
          <a:xfrm flipH="1">
            <a:off x="5783263" y="6119813"/>
            <a:ext cx="2528887" cy="0"/>
          </a:xfrm>
          <a:prstGeom prst="line">
            <a:avLst/>
          </a:prstGeom>
          <a:ln w="19050">
            <a:solidFill>
              <a:srgbClr val="3EC1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A3EF5AF-9317-017C-569E-3B7332489B8F}"/>
              </a:ext>
            </a:extLst>
          </p:cNvPr>
          <p:cNvCxnSpPr/>
          <p:nvPr/>
        </p:nvCxnSpPr>
        <p:spPr>
          <a:xfrm flipH="1" flipV="1">
            <a:off x="1235075" y="6116638"/>
            <a:ext cx="1893888" cy="4762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3455021-7C8C-C809-7656-B66193FABB8C}"/>
              </a:ext>
            </a:extLst>
          </p:cNvPr>
          <p:cNvCxnSpPr/>
          <p:nvPr/>
        </p:nvCxnSpPr>
        <p:spPr>
          <a:xfrm flipH="1" flipV="1">
            <a:off x="3105150" y="6113463"/>
            <a:ext cx="2919413" cy="1587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7D107D5-9612-7086-A8F6-2BA60696BCF2}"/>
              </a:ext>
            </a:extLst>
          </p:cNvPr>
          <p:cNvCxnSpPr/>
          <p:nvPr/>
        </p:nvCxnSpPr>
        <p:spPr>
          <a:xfrm>
            <a:off x="2925763" y="65611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A84E248-36FF-6A31-8CA8-C1A6A569AE52}"/>
              </a:ext>
            </a:extLst>
          </p:cNvPr>
          <p:cNvCxnSpPr/>
          <p:nvPr/>
        </p:nvCxnSpPr>
        <p:spPr>
          <a:xfrm flipH="1" flipV="1">
            <a:off x="1220788" y="6638925"/>
            <a:ext cx="1693862" cy="9525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08F109D-CD08-038A-10FE-461976399CD1}"/>
              </a:ext>
            </a:extLst>
          </p:cNvPr>
          <p:cNvCxnSpPr/>
          <p:nvPr/>
        </p:nvCxnSpPr>
        <p:spPr>
          <a:xfrm flipH="1">
            <a:off x="5788025" y="6659563"/>
            <a:ext cx="2528888" cy="0"/>
          </a:xfrm>
          <a:prstGeom prst="line">
            <a:avLst/>
          </a:prstGeom>
          <a:ln w="19050">
            <a:solidFill>
              <a:srgbClr val="3EC1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9E68E72-D1BA-595A-FA40-DAF87D1F6A88}"/>
              </a:ext>
            </a:extLst>
          </p:cNvPr>
          <p:cNvCxnSpPr/>
          <p:nvPr/>
        </p:nvCxnSpPr>
        <p:spPr>
          <a:xfrm>
            <a:off x="4583113" y="65611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36369021-E93B-E357-B81A-07B988967B7E}"/>
              </a:ext>
            </a:extLst>
          </p:cNvPr>
          <p:cNvCxnSpPr/>
          <p:nvPr/>
        </p:nvCxnSpPr>
        <p:spPr>
          <a:xfrm flipH="1" flipV="1">
            <a:off x="2876550" y="6638925"/>
            <a:ext cx="1695450" cy="9525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99CFB866-F06F-EEB6-6BB0-809D8294DDCB}"/>
              </a:ext>
            </a:extLst>
          </p:cNvPr>
          <p:cNvCxnSpPr/>
          <p:nvPr/>
        </p:nvCxnSpPr>
        <p:spPr>
          <a:xfrm>
            <a:off x="6908800" y="6561138"/>
            <a:ext cx="0" cy="158750"/>
          </a:xfrm>
          <a:prstGeom prst="line">
            <a:avLst/>
          </a:prstGeom>
          <a:ln w="38100">
            <a:solidFill>
              <a:srgbClr val="FF33C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4231CC6E-CDBC-7F7D-C0D5-986DEF0B1C41}"/>
              </a:ext>
            </a:extLst>
          </p:cNvPr>
          <p:cNvCxnSpPr/>
          <p:nvPr/>
        </p:nvCxnSpPr>
        <p:spPr>
          <a:xfrm flipH="1">
            <a:off x="4578350" y="6643688"/>
            <a:ext cx="2319338" cy="4762"/>
          </a:xfrm>
          <a:prstGeom prst="line">
            <a:avLst/>
          </a:prstGeom>
          <a:ln w="5715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F00E63D-275B-0559-533A-AF078958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0" y="3714750"/>
            <a:ext cx="49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⑤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328D701-6F74-DF1A-8D55-5CB98FBAA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614838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solidFill>
                  <a:srgbClr val="FF00FF"/>
                </a:solidFill>
                <a:latin typeface="DFBiaoKaiShuStd-W5"/>
              </a:rPr>
              <a:t>⑤</a:t>
            </a:r>
          </a:p>
        </p:txBody>
      </p:sp>
      <p:sp>
        <p:nvSpPr>
          <p:cNvPr id="34848" name="矩形 2">
            <a:extLst>
              <a:ext uri="{FF2B5EF4-FFF2-40B4-BE49-F238E27FC236}">
                <a16:creationId xmlns:a16="http://schemas.microsoft.com/office/drawing/2014/main" id="{ADD6D05C-2640-2168-79BA-8F49F948C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2543175"/>
            <a:ext cx="992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7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圖片 1">
            <a:extLst>
              <a:ext uri="{FF2B5EF4-FFF2-40B4-BE49-F238E27FC236}">
                <a16:creationId xmlns:a16="http://schemas.microsoft.com/office/drawing/2014/main" id="{822F69B6-09EA-F999-B38B-D38923A55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936750"/>
            <a:ext cx="6935787" cy="336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15">
            <a:extLst>
              <a:ext uri="{FF2B5EF4-FFF2-40B4-BE49-F238E27FC236}">
                <a16:creationId xmlns:a16="http://schemas.microsoft.com/office/drawing/2014/main" id="{7F8531D0-006B-8668-10D9-2673855A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477963"/>
            <a:ext cx="8751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用圓規畫畫看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再回答問題</a:t>
            </a:r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5844" name="圖片 1">
            <a:extLst>
              <a:ext uri="{FF2B5EF4-FFF2-40B4-BE49-F238E27FC236}">
                <a16:creationId xmlns:a16="http://schemas.microsoft.com/office/drawing/2014/main" id="{C9BCAA00-FF9D-8971-AC99-405A975D2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7975"/>
            <a:ext cx="45878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矩形 2">
            <a:extLst>
              <a:ext uri="{FF2B5EF4-FFF2-40B4-BE49-F238E27FC236}">
                <a16:creationId xmlns:a16="http://schemas.microsoft.com/office/drawing/2014/main" id="{1E946645-2CCE-F3F5-69A1-7B8D32234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2543175"/>
            <a:ext cx="992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</a:t>
            </a:r>
          </a:p>
        </p:txBody>
      </p:sp>
      <p:sp>
        <p:nvSpPr>
          <p:cNvPr id="35846" name="矩形 16">
            <a:extLst>
              <a:ext uri="{FF2B5EF4-FFF2-40B4-BE49-F238E27FC236}">
                <a16:creationId xmlns:a16="http://schemas.microsoft.com/office/drawing/2014/main" id="{84115149-1B57-BE90-47AB-D4C8FC0E0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4065588"/>
            <a:ext cx="993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</a:t>
            </a:r>
          </a:p>
        </p:txBody>
      </p:sp>
      <p:sp>
        <p:nvSpPr>
          <p:cNvPr id="35847" name="矩形 17">
            <a:extLst>
              <a:ext uri="{FF2B5EF4-FFF2-40B4-BE49-F238E27FC236}">
                <a16:creationId xmlns:a16="http://schemas.microsoft.com/office/drawing/2014/main" id="{AF22E66B-8359-48F1-5FD4-C38BA29C2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3289300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書局</a:t>
            </a:r>
          </a:p>
        </p:txBody>
      </p:sp>
      <p:sp>
        <p:nvSpPr>
          <p:cNvPr id="35848" name="矩形 15">
            <a:extLst>
              <a:ext uri="{FF2B5EF4-FFF2-40B4-BE49-F238E27FC236}">
                <a16:creationId xmlns:a16="http://schemas.microsoft.com/office/drawing/2014/main" id="{445F2BC0-FF81-246D-8A99-6E09EF8FE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421313"/>
            <a:ext cx="8751887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誰的家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書局的距離比較近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spcBef>
                <a:spcPts val="600"/>
              </a:spcBef>
            </a:pP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( </a:t>
            </a: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 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 </a:t>
            </a: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家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5849" name="圖片 3">
            <a:extLst>
              <a:ext uri="{FF2B5EF4-FFF2-40B4-BE49-F238E27FC236}">
                <a16:creationId xmlns:a16="http://schemas.microsoft.com/office/drawing/2014/main" id="{BDD508B1-FF72-1F2E-0721-59921AB3F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5467350"/>
            <a:ext cx="38258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8EA33A59-BE7E-8F56-E310-E44DDBD8F6BD}"/>
              </a:ext>
            </a:extLst>
          </p:cNvPr>
          <p:cNvSpPr/>
          <p:nvPr/>
        </p:nvSpPr>
        <p:spPr>
          <a:xfrm>
            <a:off x="841375" y="5832475"/>
            <a:ext cx="1550988" cy="598488"/>
          </a:xfrm>
          <a:prstGeom prst="ellipse">
            <a:avLst/>
          </a:prstGeom>
          <a:noFill/>
          <a:ln w="28575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2468</TotalTime>
  <Words>1351</Words>
  <Application>Microsoft Office PowerPoint</Application>
  <PresentationFormat>如螢幕大小 (4:3)</PresentationFormat>
  <Paragraphs>200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42" baseType="lpstr">
      <vt:lpstr>Calibri</vt:lpstr>
      <vt:lpstr>新細明體</vt:lpstr>
      <vt:lpstr>Arial</vt:lpstr>
      <vt:lpstr>Calibri Light</vt:lpstr>
      <vt:lpstr>Aptos</vt:lpstr>
      <vt:lpstr>微軟正黑體</vt:lpstr>
      <vt:lpstr>書法中楷（注音一）</vt:lpstr>
      <vt:lpstr>標楷體</vt:lpstr>
      <vt:lpstr>書法中楷（破音二）</vt:lpstr>
      <vt:lpstr>書法中楷（破音三）</vt:lpstr>
      <vt:lpstr>Times New Roman</vt:lpstr>
      <vt:lpstr>DFBiaoKaiShuStd-W5</vt:lpstr>
      <vt:lpstr>Wingdings 2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Simon</dc:creator>
  <cp:lastModifiedBy>USER</cp:lastModifiedBy>
  <cp:revision>236</cp:revision>
  <dcterms:created xsi:type="dcterms:W3CDTF">2016-03-16T03:25:21Z</dcterms:created>
  <dcterms:modified xsi:type="dcterms:W3CDTF">2026-06-08T08:30:39Z</dcterms:modified>
</cp:coreProperties>
</file>
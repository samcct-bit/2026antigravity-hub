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1" r:id="rId1"/>
  </p:sldMasterIdLst>
  <p:notesMasterIdLst>
    <p:notesMasterId r:id="rId48"/>
  </p:notesMasterIdLst>
  <p:sldIdLst>
    <p:sldId id="369" r:id="rId2"/>
    <p:sldId id="370" r:id="rId3"/>
    <p:sldId id="400" r:id="rId4"/>
    <p:sldId id="436" r:id="rId5"/>
    <p:sldId id="401" r:id="rId6"/>
    <p:sldId id="402" r:id="rId7"/>
    <p:sldId id="437" r:id="rId8"/>
    <p:sldId id="403" r:id="rId9"/>
    <p:sldId id="332" r:id="rId10"/>
    <p:sldId id="381" r:id="rId11"/>
    <p:sldId id="440" r:id="rId12"/>
    <p:sldId id="491" r:id="rId13"/>
    <p:sldId id="492" r:id="rId14"/>
    <p:sldId id="493" r:id="rId15"/>
    <p:sldId id="494" r:id="rId16"/>
    <p:sldId id="495" r:id="rId17"/>
    <p:sldId id="496" r:id="rId18"/>
    <p:sldId id="448" r:id="rId19"/>
    <p:sldId id="526" r:id="rId20"/>
    <p:sldId id="501" r:id="rId21"/>
    <p:sldId id="527" r:id="rId22"/>
    <p:sldId id="528" r:id="rId23"/>
    <p:sldId id="359" r:id="rId24"/>
    <p:sldId id="504" r:id="rId25"/>
    <p:sldId id="505" r:id="rId26"/>
    <p:sldId id="506" r:id="rId27"/>
    <p:sldId id="507" r:id="rId28"/>
    <p:sldId id="508" r:id="rId29"/>
    <p:sldId id="509" r:id="rId30"/>
    <p:sldId id="510" r:id="rId31"/>
    <p:sldId id="466" r:id="rId32"/>
    <p:sldId id="511" r:id="rId33"/>
    <p:sldId id="499" r:id="rId34"/>
    <p:sldId id="514" r:id="rId35"/>
    <p:sldId id="515" r:id="rId36"/>
    <p:sldId id="516" r:id="rId37"/>
    <p:sldId id="517" r:id="rId38"/>
    <p:sldId id="518" r:id="rId39"/>
    <p:sldId id="529" r:id="rId40"/>
    <p:sldId id="531" r:id="rId41"/>
    <p:sldId id="532" r:id="rId42"/>
    <p:sldId id="420" r:id="rId43"/>
    <p:sldId id="421" r:id="rId44"/>
    <p:sldId id="522" r:id="rId45"/>
    <p:sldId id="523" r:id="rId46"/>
    <p:sldId id="524" r:id="rId47"/>
  </p:sldIdLst>
  <p:sldSz cx="9144000" cy="6858000" type="screen4x3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FF0000"/>
    <a:srgbClr val="FFFFFF"/>
    <a:srgbClr val="0000FF"/>
    <a:srgbClr val="BAD875"/>
    <a:srgbClr val="D2D3D5"/>
    <a:srgbClr val="FFFCD6"/>
    <a:srgbClr val="C2DE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EF00A0C-396C-4BD8-A62D-F509AEB4C581}">
  <a:tblStyle styleId="{5EF00A0C-396C-4BD8-A62D-F509AEB4C581}" styleName="Table_0"/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285" autoAdjust="0"/>
    <p:restoredTop sz="94825" autoAdjust="0"/>
  </p:normalViewPr>
  <p:slideViewPr>
    <p:cSldViewPr snapToGrid="0">
      <p:cViewPr varScale="1">
        <p:scale>
          <a:sx n="110" d="100"/>
          <a:sy n="110" d="100"/>
        </p:scale>
        <p:origin x="1896" y="114"/>
      </p:cViewPr>
      <p:guideLst>
        <p:guide orient="horz" pos="2183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hape 3">
            <a:extLst>
              <a:ext uri="{FF2B5EF4-FFF2-40B4-BE49-F238E27FC236}">
                <a16:creationId xmlns:a16="http://schemas.microsoft.com/office/drawing/2014/main" id="{4913EB6B-25BF-AD5D-8A8C-2D9D41FE95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000"/>
              <a:gd name="T16" fmla="*/ 0 h 120000"/>
              <a:gd name="T17" fmla="*/ 120000 w 120000"/>
              <a:gd name="T18" fmla="*/ 120000 h 12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4A1FBD2E-084A-AB96-7D86-4D22634BCB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pPr lvl="0"/>
            <a:endParaRPr noProof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0482424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95">
            <a:extLst>
              <a:ext uri="{FF2B5EF4-FFF2-40B4-BE49-F238E27FC236}">
                <a16:creationId xmlns:a16="http://schemas.microsoft.com/office/drawing/2014/main" id="{63F26A7F-3CE7-6FE3-8E27-0E96F0453B0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244475" y="242887"/>
            <a:ext cx="1570038" cy="1081088"/>
          </a:xfrm>
          <a:prstGeom prst="triangle">
            <a:avLst>
              <a:gd name="adj" fmla="val 50000"/>
            </a:avLst>
          </a:prstGeom>
          <a:solidFill>
            <a:srgbClr val="FFD900"/>
          </a:solidFill>
          <a:ln>
            <a:noFill/>
          </a:ln>
        </p:spPr>
        <p:txBody>
          <a:bodyPr lIns="91425" tIns="91425" rIns="91425" bIns="91425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defRPr/>
            </a:pPr>
            <a:endParaRPr lang="zh-TW" altLang="zh-TW" sz="1400">
              <a:solidFill>
                <a:srgbClr val="000000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8549"/>
            <a:ext cx="8515350" cy="1325563"/>
          </a:xfrm>
        </p:spPr>
        <p:txBody>
          <a:bodyPr/>
          <a:lstStyle>
            <a:lvl1pPr>
              <a:defRPr sz="5500" b="1" i="1">
                <a:solidFill>
                  <a:srgbClr val="0099CC"/>
                </a:solidFill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DD7BD-334B-2521-8E30-04088AB6D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B712B-5D3B-15BE-9D5E-E7FCF7AC5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DCFFD-6B08-03C1-6704-66A3FAA36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E4B095-F47F-42C7-964A-92A78DD381F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75032026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6724" y="1517405"/>
            <a:ext cx="8517276" cy="4351338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8549"/>
            <a:ext cx="8515350" cy="1325563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72A96-EC88-8AD6-6063-E919D7974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E2F8A-C1B2-19B3-B49C-3ABB712ED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14A6A-3191-B797-B623-EE6F8BD45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55434A-B5E1-4065-975A-AAB00429A74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77516413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ACF34739-1E36-551C-323F-E2FFF5A86FFE}"/>
              </a:ext>
            </a:extLst>
          </p:cNvPr>
          <p:cNvCxnSpPr/>
          <p:nvPr userDrawn="1"/>
        </p:nvCxnSpPr>
        <p:spPr>
          <a:xfrm>
            <a:off x="0" y="2670175"/>
            <a:ext cx="7135813" cy="0"/>
          </a:xfrm>
          <a:prstGeom prst="line">
            <a:avLst/>
          </a:prstGeom>
          <a:ln w="28575">
            <a:solidFill>
              <a:srgbClr val="FFD90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68AD1B0B-DE06-8462-9659-674807C3F929}"/>
              </a:ext>
            </a:extLst>
          </p:cNvPr>
          <p:cNvCxnSpPr/>
          <p:nvPr userDrawn="1"/>
        </p:nvCxnSpPr>
        <p:spPr>
          <a:xfrm>
            <a:off x="2401888" y="3773488"/>
            <a:ext cx="6742112" cy="0"/>
          </a:xfrm>
          <a:prstGeom prst="line">
            <a:avLst/>
          </a:prstGeom>
          <a:ln w="28575">
            <a:solidFill>
              <a:srgbClr val="FFD90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" name="Shape 95">
            <a:extLst>
              <a:ext uri="{FF2B5EF4-FFF2-40B4-BE49-F238E27FC236}">
                <a16:creationId xmlns:a16="http://schemas.microsoft.com/office/drawing/2014/main" id="{EA79FB36-2E14-6EC6-0694-6E984ECBB922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-244475" y="2670175"/>
            <a:ext cx="1570038" cy="1081088"/>
          </a:xfrm>
          <a:prstGeom prst="triangle">
            <a:avLst>
              <a:gd name="adj" fmla="val 50000"/>
            </a:avLst>
          </a:prstGeom>
          <a:solidFill>
            <a:srgbClr val="FFD900"/>
          </a:solidFill>
          <a:ln>
            <a:noFill/>
          </a:ln>
        </p:spPr>
        <p:txBody>
          <a:bodyPr lIns="91425" tIns="91425" rIns="91425" bIns="91425" anchor="ctr"/>
          <a:lstStyle>
            <a:lvl1pPr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endParaRPr lang="zh-TW" altLang="zh-TW">
              <a:cs typeface="Arial" charset="0"/>
              <a:sym typeface="Arial" charset="0"/>
            </a:endParaRPr>
          </a:p>
        </p:txBody>
      </p:sp>
      <p:sp>
        <p:nvSpPr>
          <p:cNvPr id="5" name="Shape 95">
            <a:extLst>
              <a:ext uri="{FF2B5EF4-FFF2-40B4-BE49-F238E27FC236}">
                <a16:creationId xmlns:a16="http://schemas.microsoft.com/office/drawing/2014/main" id="{676F7ADC-4CE0-542B-432A-458E91C37A18}"/>
              </a:ext>
            </a:extLst>
          </p:cNvPr>
          <p:cNvSpPr>
            <a:spLocks noChangeArrowheads="1"/>
          </p:cNvSpPr>
          <p:nvPr userDrawn="1"/>
        </p:nvSpPr>
        <p:spPr bwMode="auto">
          <a:xfrm rot="16200000" flipH="1">
            <a:off x="7819231" y="2670969"/>
            <a:ext cx="1570038" cy="1079500"/>
          </a:xfrm>
          <a:prstGeom prst="triangle">
            <a:avLst>
              <a:gd name="adj" fmla="val 50000"/>
            </a:avLst>
          </a:prstGeom>
          <a:solidFill>
            <a:srgbClr val="FFD900"/>
          </a:solidFill>
          <a:ln>
            <a:noFill/>
          </a:ln>
        </p:spPr>
        <p:txBody>
          <a:bodyPr lIns="91425" tIns="91425" rIns="91425" bIns="91425" anchor="ctr"/>
          <a:lstStyle>
            <a:lvl1pPr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endParaRPr lang="zh-TW" altLang="zh-TW">
              <a:cs typeface="Arial" charset="0"/>
              <a:sym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854338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95">
            <a:extLst>
              <a:ext uri="{FF2B5EF4-FFF2-40B4-BE49-F238E27FC236}">
                <a16:creationId xmlns:a16="http://schemas.microsoft.com/office/drawing/2014/main" id="{A5F84EE8-1695-F4CB-A090-26DE1DCC7E02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-244475" y="242887"/>
            <a:ext cx="1570038" cy="1081088"/>
          </a:xfrm>
          <a:prstGeom prst="triangle">
            <a:avLst>
              <a:gd name="adj" fmla="val 50000"/>
            </a:avLst>
          </a:prstGeom>
          <a:solidFill>
            <a:srgbClr val="FFD900"/>
          </a:solidFill>
          <a:ln>
            <a:noFill/>
          </a:ln>
        </p:spPr>
        <p:txBody>
          <a:bodyPr lIns="91425" tIns="91425" rIns="91425" bIns="91425" anchor="ctr"/>
          <a:lstStyle>
            <a:lvl1pPr eaLnBrk="0" hangingPunct="0">
              <a:spcBef>
                <a:spcPct val="20000"/>
              </a:spcBef>
              <a:buFont typeface="Arial" charset="0"/>
              <a:defRPr sz="360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cs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defRPr sz="360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cs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defRPr sz="360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cs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defRPr sz="360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cs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defRPr sz="360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cs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defRPr sz="360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cs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defRPr sz="360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cs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defRPr sz="360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cs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defRPr sz="360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cs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zh-TW" altLang="zh-TW" sz="1400">
              <a:latin typeface="Calibri" pitchFamily="34" charset="0"/>
              <a:ea typeface="新細明體" pitchFamily="18" charset="-120"/>
              <a:cs typeface="Arial" charset="0"/>
              <a:sym typeface="Arial" charset="0"/>
            </a:endParaRPr>
          </a:p>
        </p:txBody>
      </p:sp>
      <p:sp>
        <p:nvSpPr>
          <p:cNvPr id="3" name="標題 5">
            <a:extLst>
              <a:ext uri="{FF2B5EF4-FFF2-40B4-BE49-F238E27FC236}">
                <a16:creationId xmlns:a16="http://schemas.microsoft.com/office/drawing/2014/main" id="{71E7E616-C061-BD5A-B99F-39D7A2480199}"/>
              </a:ext>
            </a:extLst>
          </p:cNvPr>
          <p:cNvSpPr txBox="1">
            <a:spLocks/>
          </p:cNvSpPr>
          <p:nvPr userDrawn="1"/>
        </p:nvSpPr>
        <p:spPr bwMode="auto">
          <a:xfrm>
            <a:off x="628650" y="188913"/>
            <a:ext cx="8515350" cy="13255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5500" b="1" i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新細明體" panose="02020500000000000000" pitchFamily="18" charset="-12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新細明體" panose="02020500000000000000" pitchFamily="18" charset="-12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新細明體" panose="02020500000000000000" pitchFamily="18" charset="-12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新細明體" panose="02020500000000000000" pitchFamily="18" charset="-12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新細明體" panose="02020500000000000000" pitchFamily="18" charset="-12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新細明體" panose="02020500000000000000" pitchFamily="18" charset="-12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新細明體" panose="02020500000000000000" pitchFamily="18" charset="-12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defRPr/>
            </a:pPr>
            <a:r>
              <a:rPr lang="zh-TW" altLang="en-US" dirty="0">
                <a:solidFill>
                  <a:srgbClr val="C00000"/>
                </a:solidFill>
              </a:rPr>
              <a:t>練習百分百</a:t>
            </a:r>
          </a:p>
        </p:txBody>
      </p:sp>
    </p:spTree>
    <p:extLst>
      <p:ext uri="{BB962C8B-B14F-4D97-AF65-F5344CB8AC3E}">
        <p14:creationId xmlns:p14="http://schemas.microsoft.com/office/powerpoint/2010/main" val="3394708247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5FD01EC0-160E-9207-8DAF-6F35EE6C5DB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  <a:endParaRPr lang="en-US" altLang="zh-TW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123FE51-09C8-6D13-44FA-955E2579846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4B94F-DAFF-C311-57D5-9F485F8C34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FA5EC-7BFE-7633-2486-8E64A02999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B183F-5642-69AB-788C-95B6D7D21A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6606D52F-7201-49B9-A429-A0114CCDC4C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pic>
        <p:nvPicPr>
          <p:cNvPr id="1031" name="Picture 8">
            <a:extLst>
              <a:ext uri="{FF2B5EF4-FFF2-40B4-BE49-F238E27FC236}">
                <a16:creationId xmlns:a16="http://schemas.microsoft.com/office/drawing/2014/main" id="{A3E42EC7-34C4-388C-83B8-D59CB5E780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2275" y="6418263"/>
            <a:ext cx="2271713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90" r:id="rId1"/>
    <p:sldLayoutId id="2147484291" r:id="rId2"/>
    <p:sldLayoutId id="2147484289" r:id="rId3"/>
    <p:sldLayoutId id="2147484292" r:id="rId4"/>
    <p:sldLayoutId id="2147484293" r:id="rId5"/>
  </p:sldLayoutIdLst>
  <p:transition spd="med">
    <p:fade/>
  </p:transition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26.png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8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4.jpeg"/><Relationship Id="rId5" Type="http://schemas.openxmlformats.org/officeDocument/2006/relationships/image" Target="../media/image43.jpeg"/><Relationship Id="rId4" Type="http://schemas.openxmlformats.org/officeDocument/2006/relationships/image" Target="../media/image42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29.png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png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9.png"/><Relationship Id="rId4" Type="http://schemas.openxmlformats.org/officeDocument/2006/relationships/image" Target="../media/image2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8.png"/><Relationship Id="rId4" Type="http://schemas.openxmlformats.org/officeDocument/2006/relationships/image" Target="../media/image60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3.png"/><Relationship Id="rId4" Type="http://schemas.openxmlformats.org/officeDocument/2006/relationships/image" Target="../media/image2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7" Type="http://schemas.openxmlformats.org/officeDocument/2006/relationships/image" Target="../media/image65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29.png"/><Relationship Id="rId4" Type="http://schemas.openxmlformats.org/officeDocument/2006/relationships/image" Target="../media/image6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9.png"/><Relationship Id="rId4" Type="http://schemas.openxmlformats.org/officeDocument/2006/relationships/image" Target="../media/image68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0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jpe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0.png"/><Relationship Id="rId4" Type="http://schemas.openxmlformats.org/officeDocument/2006/relationships/image" Target="../media/image7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圓角矩形 1">
            <a:extLst>
              <a:ext uri="{FF2B5EF4-FFF2-40B4-BE49-F238E27FC236}">
                <a16:creationId xmlns:a16="http://schemas.microsoft.com/office/drawing/2014/main" id="{327AD52D-CEEC-9C51-13C3-6C974552838A}"/>
              </a:ext>
            </a:extLst>
          </p:cNvPr>
          <p:cNvSpPr/>
          <p:nvPr/>
        </p:nvSpPr>
        <p:spPr>
          <a:xfrm>
            <a:off x="501650" y="2597150"/>
            <a:ext cx="8140700" cy="1403350"/>
          </a:xfrm>
          <a:prstGeom prst="roundRect">
            <a:avLst/>
          </a:prstGeom>
          <a:solidFill>
            <a:srgbClr val="0099C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7171" name="標題 1">
            <a:extLst>
              <a:ext uri="{FF2B5EF4-FFF2-40B4-BE49-F238E27FC236}">
                <a16:creationId xmlns:a16="http://schemas.microsoft.com/office/drawing/2014/main" id="{F6F905BF-9FA2-CDE0-10DD-58C3176623A9}"/>
              </a:ext>
            </a:extLst>
          </p:cNvPr>
          <p:cNvSpPr txBox="1">
            <a:spLocks/>
          </p:cNvSpPr>
          <p:nvPr/>
        </p:nvSpPr>
        <p:spPr bwMode="auto">
          <a:xfrm>
            <a:off x="628650" y="1485900"/>
            <a:ext cx="7886700" cy="349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zh-TW" altLang="en-US" sz="55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sz="100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9</a:t>
            </a:r>
            <a:r>
              <a:rPr lang="zh-TW" altLang="en-US" sz="55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單元</a:t>
            </a:r>
            <a:endParaRPr lang="en-US" altLang="zh-TW" sz="5500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zh-TW" altLang="en-US" sz="55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統計表</a:t>
            </a:r>
            <a:endParaRPr lang="en-US" altLang="zh-TW" sz="5500" b="1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zh-TW" altLang="en-US" sz="55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教學</a:t>
            </a:r>
            <a:r>
              <a:rPr lang="en-US" altLang="zh-TW" sz="55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PPT</a:t>
            </a:r>
            <a:endParaRPr lang="zh-TW" altLang="en-US" sz="5500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標題 1">
            <a:extLst>
              <a:ext uri="{FF2B5EF4-FFF2-40B4-BE49-F238E27FC236}">
                <a16:creationId xmlns:a16="http://schemas.microsoft.com/office/drawing/2014/main" id="{C5742E8A-36C1-A872-413C-CF0DC374BE8A}"/>
              </a:ext>
            </a:extLst>
          </p:cNvPr>
          <p:cNvSpPr txBox="1">
            <a:spLocks/>
          </p:cNvSpPr>
          <p:nvPr/>
        </p:nvSpPr>
        <p:spPr bwMode="auto">
          <a:xfrm>
            <a:off x="628650" y="2670175"/>
            <a:ext cx="7886700" cy="11160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b"/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ts val="1800"/>
              </a:spcBef>
              <a:spcAft>
                <a:spcPts val="1800"/>
              </a:spcAft>
              <a:defRPr/>
            </a:pPr>
            <a:r>
              <a:rPr lang="zh-TW" altLang="en-US" sz="6600" b="1" dirty="0">
                <a:latin typeface="微軟正黑體" pitchFamily="34" charset="-120"/>
                <a:ea typeface="微軟正黑體" pitchFamily="34" charset="-120"/>
              </a:rPr>
              <a:t>重點回顧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標題 1">
            <a:extLst>
              <a:ext uri="{FF2B5EF4-FFF2-40B4-BE49-F238E27FC236}">
                <a16:creationId xmlns:a16="http://schemas.microsoft.com/office/drawing/2014/main" id="{F0D0D092-9A48-31CE-61E9-F9B03A7DECD2}"/>
              </a:ext>
            </a:extLst>
          </p:cNvPr>
          <p:cNvSpPr txBox="1">
            <a:spLocks/>
          </p:cNvSpPr>
          <p:nvPr/>
        </p:nvSpPr>
        <p:spPr bwMode="auto">
          <a:xfrm>
            <a:off x="590550" y="228600"/>
            <a:ext cx="7886700" cy="104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endParaRPr lang="zh-TW" altLang="en-US" sz="5500" b="1">
              <a:solidFill>
                <a:srgbClr val="0099CC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219" name="標題 3">
            <a:extLst>
              <a:ext uri="{FF2B5EF4-FFF2-40B4-BE49-F238E27FC236}">
                <a16:creationId xmlns:a16="http://schemas.microsoft.com/office/drawing/2014/main" id="{CA0ADA02-DAB7-345A-C63D-004404CDE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9063"/>
            <a:ext cx="8515350" cy="1325562"/>
          </a:xfrm>
        </p:spPr>
        <p:txBody>
          <a:bodyPr/>
          <a:lstStyle/>
          <a:p>
            <a:pPr eaLnBrk="1" hangingPunct="1"/>
            <a:r>
              <a:rPr lang="zh-TW" altLang="en-US"/>
              <a:t>重點回顧內容</a:t>
            </a:r>
          </a:p>
        </p:txBody>
      </p:sp>
      <p:pic>
        <p:nvPicPr>
          <p:cNvPr id="9220" name="Picture 5" descr="題號-1">
            <a:extLst>
              <a:ext uri="{FF2B5EF4-FFF2-40B4-BE49-F238E27FC236}">
                <a16:creationId xmlns:a16="http://schemas.microsoft.com/office/drawing/2014/main" id="{D43CC74C-E70D-154E-2FB7-7A0B74CBC5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488" y="1641475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C3A2955-E894-C6AB-9339-5EB04DD89B9C}"/>
              </a:ext>
            </a:extLst>
          </p:cNvPr>
          <p:cNvSpPr/>
          <p:nvPr/>
        </p:nvSpPr>
        <p:spPr>
          <a:xfrm>
            <a:off x="733425" y="1558925"/>
            <a:ext cx="2878138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TW" altLang="zh-TW" sz="2800" b="1" kern="1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分類與記錄</a:t>
            </a:r>
            <a:endParaRPr lang="zh-TW" altLang="en-US" sz="28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1883134-8D5A-DDE0-4F29-CEB965DD0EA0}"/>
              </a:ext>
            </a:extLst>
          </p:cNvPr>
          <p:cNvSpPr/>
          <p:nvPr/>
        </p:nvSpPr>
        <p:spPr>
          <a:xfrm>
            <a:off x="628650" y="2081213"/>
            <a:ext cx="8285163" cy="5238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76200" indent="9525">
              <a:spcBef>
                <a:spcPts val="300"/>
              </a:spcBef>
              <a:spcAft>
                <a:spcPts val="300"/>
              </a:spcAft>
              <a:defRPr/>
            </a:pPr>
            <a:r>
              <a:rPr lang="zh-TW" altLang="zh-TW" sz="2800" kern="100" dirty="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例</a:t>
            </a:r>
            <a:r>
              <a:rPr lang="zh-TW" altLang="zh-TW" sz="2800" kern="0" dirty="0"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r>
              <a:rPr lang="zh-TW" altLang="zh-TW" sz="2800" kern="100" dirty="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看圖畫</a:t>
            </a:r>
            <a:r>
              <a:rPr lang="zh-TW" altLang="zh-TW" sz="2800" kern="100" dirty="0">
                <a:latin typeface="Times New Roman" panose="02020603050405020304" pitchFamily="18" charset="0"/>
                <a:ea typeface="標楷體" panose="03000509000000000000" pitchFamily="65" charset="-120"/>
              </a:rPr>
              <a:t>「正」</a:t>
            </a:r>
            <a:r>
              <a:rPr lang="zh-TW" altLang="zh-TW" sz="2800" kern="100" dirty="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記記看</a:t>
            </a:r>
            <a:r>
              <a:rPr lang="zh-TW" altLang="zh-TW" sz="2800" kern="100" dirty="0">
                <a:latin typeface="Times New Roman" panose="02020603050405020304" pitchFamily="18" charset="0"/>
                <a:ea typeface="標楷體" panose="03000509000000000000" pitchFamily="65" charset="-120"/>
              </a:rPr>
              <a:t>，</a:t>
            </a:r>
            <a:r>
              <a:rPr lang="zh-TW" altLang="zh-TW" sz="2800" kern="100" dirty="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再填填看</a:t>
            </a:r>
            <a:r>
              <a:rPr lang="zh-TW" altLang="zh-TW" sz="2800" kern="100" dirty="0">
                <a:latin typeface="Times New Roman" panose="02020603050405020304" pitchFamily="18" charset="0"/>
                <a:ea typeface="標楷體" panose="03000509000000000000" pitchFamily="65" charset="-120"/>
              </a:rPr>
              <a:t>。</a:t>
            </a:r>
            <a:endParaRPr lang="zh-TW" altLang="zh-TW" sz="2800" kern="100" dirty="0">
              <a:latin typeface="Times New Roman" panose="02020603050405020304" pitchFamily="18" charset="0"/>
            </a:endParaRPr>
          </a:p>
        </p:txBody>
      </p:sp>
      <p:grpSp>
        <p:nvGrpSpPr>
          <p:cNvPr id="9223" name="Group 13">
            <a:extLst>
              <a:ext uri="{FF2B5EF4-FFF2-40B4-BE49-F238E27FC236}">
                <a16:creationId xmlns:a16="http://schemas.microsoft.com/office/drawing/2014/main" id="{D08CC173-29A0-78E6-F74B-53D81EF753A9}"/>
              </a:ext>
            </a:extLst>
          </p:cNvPr>
          <p:cNvGrpSpPr>
            <a:grpSpLocks/>
          </p:cNvGrpSpPr>
          <p:nvPr/>
        </p:nvGrpSpPr>
        <p:grpSpPr bwMode="auto">
          <a:xfrm>
            <a:off x="590550" y="3692525"/>
            <a:ext cx="4179888" cy="1741488"/>
            <a:chOff x="1931" y="6849"/>
            <a:chExt cx="4493" cy="1783"/>
          </a:xfrm>
        </p:grpSpPr>
        <p:sp>
          <p:nvSpPr>
            <p:cNvPr id="9248" name="Rectangle 14">
              <a:extLst>
                <a:ext uri="{FF2B5EF4-FFF2-40B4-BE49-F238E27FC236}">
                  <a16:creationId xmlns:a16="http://schemas.microsoft.com/office/drawing/2014/main" id="{349B6624-5F1E-47CB-B198-49D3732306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1" y="6849"/>
              <a:ext cx="4493" cy="17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TW" altLang="en-US" sz="1800"/>
            </a:p>
          </p:txBody>
        </p:sp>
        <p:sp>
          <p:nvSpPr>
            <p:cNvPr id="9249" name="AutoShape 15">
              <a:extLst>
                <a:ext uri="{FF2B5EF4-FFF2-40B4-BE49-F238E27FC236}">
                  <a16:creationId xmlns:a16="http://schemas.microsoft.com/office/drawing/2014/main" id="{6310B690-7DE6-2A7A-1450-1923F56FBB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2" y="7443"/>
              <a:ext cx="351" cy="304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TW" altLang="en-US" sz="1800"/>
            </a:p>
          </p:txBody>
        </p:sp>
        <p:sp>
          <p:nvSpPr>
            <p:cNvPr id="9250" name="AutoShape 16">
              <a:extLst>
                <a:ext uri="{FF2B5EF4-FFF2-40B4-BE49-F238E27FC236}">
                  <a16:creationId xmlns:a16="http://schemas.microsoft.com/office/drawing/2014/main" id="{0073A124-0B12-8B2C-66F4-161A770FF3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1" y="8107"/>
              <a:ext cx="351" cy="304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TW" altLang="en-US" sz="1800"/>
            </a:p>
          </p:txBody>
        </p:sp>
        <p:sp>
          <p:nvSpPr>
            <p:cNvPr id="9251" name="AutoShape 17">
              <a:extLst>
                <a:ext uri="{FF2B5EF4-FFF2-40B4-BE49-F238E27FC236}">
                  <a16:creationId xmlns:a16="http://schemas.microsoft.com/office/drawing/2014/main" id="{95C15A4A-C983-8649-B276-EC7C56D69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7" y="7636"/>
              <a:ext cx="351" cy="304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TW" altLang="en-US" sz="1800"/>
            </a:p>
          </p:txBody>
        </p:sp>
        <p:sp>
          <p:nvSpPr>
            <p:cNvPr id="9252" name="AutoShape 18">
              <a:extLst>
                <a:ext uri="{FF2B5EF4-FFF2-40B4-BE49-F238E27FC236}">
                  <a16:creationId xmlns:a16="http://schemas.microsoft.com/office/drawing/2014/main" id="{3CF7F13E-281A-5A86-5DD4-07E96964B1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2" y="7069"/>
              <a:ext cx="351" cy="304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TW" altLang="en-US" sz="1800"/>
            </a:p>
          </p:txBody>
        </p:sp>
        <p:sp>
          <p:nvSpPr>
            <p:cNvPr id="9253" name="Oval 19">
              <a:extLst>
                <a:ext uri="{FF2B5EF4-FFF2-40B4-BE49-F238E27FC236}">
                  <a16:creationId xmlns:a16="http://schemas.microsoft.com/office/drawing/2014/main" id="{E4794CAC-D0B0-ECF0-8F72-C62CEB53C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4" y="7017"/>
              <a:ext cx="356" cy="3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TW" altLang="en-US" sz="1800"/>
            </a:p>
          </p:txBody>
        </p:sp>
        <p:sp>
          <p:nvSpPr>
            <p:cNvPr id="9254" name="Oval 20">
              <a:extLst>
                <a:ext uri="{FF2B5EF4-FFF2-40B4-BE49-F238E27FC236}">
                  <a16:creationId xmlns:a16="http://schemas.microsoft.com/office/drawing/2014/main" id="{182E3B73-B315-AA14-7599-E8F5801967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0" y="7107"/>
              <a:ext cx="356" cy="3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TW" altLang="en-US" sz="1800"/>
            </a:p>
          </p:txBody>
        </p:sp>
        <p:sp>
          <p:nvSpPr>
            <p:cNvPr id="9255" name="Oval 21">
              <a:extLst>
                <a:ext uri="{FF2B5EF4-FFF2-40B4-BE49-F238E27FC236}">
                  <a16:creationId xmlns:a16="http://schemas.microsoft.com/office/drawing/2014/main" id="{F835810E-C445-F708-9F9D-ADCE0BA2D4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4" y="7633"/>
              <a:ext cx="356" cy="3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TW" altLang="en-US" sz="1800"/>
            </a:p>
          </p:txBody>
        </p:sp>
        <p:sp>
          <p:nvSpPr>
            <p:cNvPr id="4" name="Oval 22">
              <a:extLst>
                <a:ext uri="{FF2B5EF4-FFF2-40B4-BE49-F238E27FC236}">
                  <a16:creationId xmlns:a16="http://schemas.microsoft.com/office/drawing/2014/main" id="{4305708E-373A-4786-1DBF-C893341879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6" y="6992"/>
              <a:ext cx="356" cy="3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TW" altLang="en-US" sz="1800"/>
            </a:p>
          </p:txBody>
        </p:sp>
        <p:sp>
          <p:nvSpPr>
            <p:cNvPr id="5" name="Oval 23">
              <a:extLst>
                <a:ext uri="{FF2B5EF4-FFF2-40B4-BE49-F238E27FC236}">
                  <a16:creationId xmlns:a16="http://schemas.microsoft.com/office/drawing/2014/main" id="{1F60791D-18AD-BE11-B122-9C91356916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1" y="8094"/>
              <a:ext cx="356" cy="3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TW" altLang="en-US" sz="1800"/>
            </a:p>
          </p:txBody>
        </p:sp>
        <p:sp>
          <p:nvSpPr>
            <p:cNvPr id="6" name="Oval 24">
              <a:extLst>
                <a:ext uri="{FF2B5EF4-FFF2-40B4-BE49-F238E27FC236}">
                  <a16:creationId xmlns:a16="http://schemas.microsoft.com/office/drawing/2014/main" id="{5A68B41D-D06D-146A-729B-53095DE759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3" y="7921"/>
              <a:ext cx="356" cy="3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TW" altLang="en-US" sz="1800"/>
            </a:p>
          </p:txBody>
        </p:sp>
        <p:sp>
          <p:nvSpPr>
            <p:cNvPr id="9259" name="Rectangle 25">
              <a:extLst>
                <a:ext uri="{FF2B5EF4-FFF2-40B4-BE49-F238E27FC236}">
                  <a16:creationId xmlns:a16="http://schemas.microsoft.com/office/drawing/2014/main" id="{E9DD8C5D-4A8D-B156-AB57-60364A3D60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0" y="7083"/>
              <a:ext cx="342" cy="3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TW" altLang="en-US" sz="1800"/>
            </a:p>
          </p:txBody>
        </p:sp>
        <p:sp>
          <p:nvSpPr>
            <p:cNvPr id="9260" name="Rectangle 26">
              <a:extLst>
                <a:ext uri="{FF2B5EF4-FFF2-40B4-BE49-F238E27FC236}">
                  <a16:creationId xmlns:a16="http://schemas.microsoft.com/office/drawing/2014/main" id="{FD9E2093-E232-323F-7158-C14516FAD2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72" y="7550"/>
              <a:ext cx="342" cy="3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TW" altLang="en-US" sz="1800"/>
            </a:p>
          </p:txBody>
        </p:sp>
        <p:sp>
          <p:nvSpPr>
            <p:cNvPr id="9261" name="Rectangle 27">
              <a:extLst>
                <a:ext uri="{FF2B5EF4-FFF2-40B4-BE49-F238E27FC236}">
                  <a16:creationId xmlns:a16="http://schemas.microsoft.com/office/drawing/2014/main" id="{119786F2-45CD-C116-28A3-503ED447AA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5" y="8178"/>
              <a:ext cx="342" cy="3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TW" altLang="en-US" sz="1800"/>
            </a:p>
          </p:txBody>
        </p:sp>
      </p:grpSp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0FCDA624-C254-D6A6-F439-3124092F015C}"/>
              </a:ext>
            </a:extLst>
          </p:cNvPr>
          <p:cNvGraphicFramePr>
            <a:graphicFrameLocks noGrp="1"/>
          </p:cNvGraphicFramePr>
          <p:nvPr/>
        </p:nvGraphicFramePr>
        <p:xfrm>
          <a:off x="5313363" y="3832225"/>
          <a:ext cx="3163887" cy="1863725"/>
        </p:xfrm>
        <a:graphic>
          <a:graphicData uri="http://schemas.openxmlformats.org/drawingml/2006/table">
            <a:tbl>
              <a:tblPr firstRow="1" firstCol="1" bandRow="1">
                <a:tableStyleId>{5EF00A0C-396C-4BD8-A62D-F509AEB4C581}</a:tableStyleId>
              </a:tblPr>
              <a:tblGrid>
                <a:gridCol w="507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12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4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242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TW" sz="20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○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sz="20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　　　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sz="18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　　</a:t>
                      </a:r>
                      <a:r>
                        <a:rPr lang="en-US" altLang="zh-TW" sz="18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TW" sz="18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個</a:t>
                      </a:r>
                    </a:p>
                  </a:txBody>
                  <a:tcPr marL="68591" marR="68591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242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TW" sz="20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sz="20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　　　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TW" sz="18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sz="18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　　</a:t>
                      </a:r>
                      <a:r>
                        <a:rPr lang="en-US" altLang="zh-TW" sz="18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TW" sz="18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個</a:t>
                      </a:r>
                    </a:p>
                  </a:txBody>
                  <a:tcPr marL="68591" marR="68591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242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TW" sz="20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□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sz="20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　　　</a:t>
                      </a: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TW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sz="18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　　</a:t>
                      </a:r>
                      <a:r>
                        <a:rPr lang="en-US" altLang="zh-TW" sz="18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TW" sz="18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個</a:t>
                      </a:r>
                    </a:p>
                  </a:txBody>
                  <a:tcPr marL="68591" marR="68591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文字方塊 23">
            <a:extLst>
              <a:ext uri="{FF2B5EF4-FFF2-40B4-BE49-F238E27FC236}">
                <a16:creationId xmlns:a16="http://schemas.microsoft.com/office/drawing/2014/main" id="{6C04AA78-C4C2-4E2C-6440-59EF5BCDBD64}"/>
              </a:ext>
            </a:extLst>
          </p:cNvPr>
          <p:cNvSpPr txBox="1"/>
          <p:nvPr/>
        </p:nvSpPr>
        <p:spPr>
          <a:xfrm>
            <a:off x="7450138" y="3897313"/>
            <a:ext cx="425450" cy="5222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TW" sz="2800" kern="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</a:t>
            </a:r>
            <a:endParaRPr lang="zh-TW" altLang="en-US" sz="2800" kern="1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7E64E5F3-18C3-2F4C-6A79-C315848C6B99}"/>
              </a:ext>
            </a:extLst>
          </p:cNvPr>
          <p:cNvSpPr txBox="1"/>
          <p:nvPr/>
        </p:nvSpPr>
        <p:spPr>
          <a:xfrm>
            <a:off x="7450138" y="4497388"/>
            <a:ext cx="425450" cy="5222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TW" sz="2800" kern="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  <a:endParaRPr lang="zh-TW" altLang="en-US" sz="2800" kern="1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BD7BA9DB-CB9B-D1B9-BAA1-670054ABCCC8}"/>
              </a:ext>
            </a:extLst>
          </p:cNvPr>
          <p:cNvSpPr txBox="1"/>
          <p:nvPr/>
        </p:nvSpPr>
        <p:spPr>
          <a:xfrm>
            <a:off x="7450138" y="5157788"/>
            <a:ext cx="425450" cy="5222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TW" sz="2800" kern="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endParaRPr lang="zh-TW" altLang="en-US" sz="2800" kern="1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9256" name="Picture 40">
            <a:extLst>
              <a:ext uri="{FF2B5EF4-FFF2-40B4-BE49-F238E27FC236}">
                <a16:creationId xmlns:a16="http://schemas.microsoft.com/office/drawing/2014/main" id="{7DACA12F-673F-0A56-8F67-09EB7D438E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050" y="4051300"/>
            <a:ext cx="681038" cy="31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57" name="Picture 41">
            <a:extLst>
              <a:ext uri="{FF2B5EF4-FFF2-40B4-BE49-F238E27FC236}">
                <a16:creationId xmlns:a16="http://schemas.microsoft.com/office/drawing/2014/main" id="{1B59AC67-02AA-9451-C427-2822D203FB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050" y="4681538"/>
            <a:ext cx="309563" cy="309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58" name="Picture 42">
            <a:extLst>
              <a:ext uri="{FF2B5EF4-FFF2-40B4-BE49-F238E27FC236}">
                <a16:creationId xmlns:a16="http://schemas.microsoft.com/office/drawing/2014/main" id="{75609623-7093-5AD8-2A06-9B5851FE6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050" y="5302250"/>
            <a:ext cx="309563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6" grpId="0"/>
      <p:bldP spid="2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CCEA32E1-8BEE-CFC5-086D-057578403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025" y="1549400"/>
            <a:ext cx="8553450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b="1">
                <a:solidFill>
                  <a:srgbClr val="0000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先大分類再小分類</a:t>
            </a:r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pic>
        <p:nvPicPr>
          <p:cNvPr id="10243" name="Picture 5" descr="題號-1">
            <a:extLst>
              <a:ext uri="{FF2B5EF4-FFF2-40B4-BE49-F238E27FC236}">
                <a16:creationId xmlns:a16="http://schemas.microsoft.com/office/drawing/2014/main" id="{A69FA79C-D5D0-0388-C1ED-5CE351F784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075" y="1646238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4" name="標題 3">
            <a:extLst>
              <a:ext uri="{FF2B5EF4-FFF2-40B4-BE49-F238E27FC236}">
                <a16:creationId xmlns:a16="http://schemas.microsoft.com/office/drawing/2014/main" id="{294B73D9-54DE-FC1F-777A-2BE511E97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9063"/>
            <a:ext cx="8515350" cy="1325562"/>
          </a:xfrm>
        </p:spPr>
        <p:txBody>
          <a:bodyPr/>
          <a:lstStyle/>
          <a:p>
            <a:pPr eaLnBrk="1" hangingPunct="1"/>
            <a:r>
              <a:rPr lang="zh-TW" altLang="en-US"/>
              <a:t>重點回顧內容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F30626F-5AB2-F345-2531-353325436C57}"/>
              </a:ext>
            </a:extLst>
          </p:cNvPr>
          <p:cNvSpPr/>
          <p:nvPr/>
        </p:nvSpPr>
        <p:spPr>
          <a:xfrm>
            <a:off x="628650" y="2524125"/>
            <a:ext cx="1200150" cy="5238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76200" indent="9525">
              <a:spcBef>
                <a:spcPts val="300"/>
              </a:spcBef>
              <a:spcAft>
                <a:spcPts val="300"/>
              </a:spcAft>
              <a:defRPr/>
            </a:pPr>
            <a:r>
              <a:rPr lang="zh-TW" altLang="zh-TW" sz="2800" kern="100" dirty="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例</a:t>
            </a:r>
            <a:r>
              <a:rPr lang="zh-TW" altLang="zh-TW" sz="2800" kern="0" dirty="0"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endParaRPr lang="zh-TW" altLang="zh-TW" sz="2800" kern="100" dirty="0">
              <a:latin typeface="Times New Roman" panose="02020603050405020304" pitchFamily="18" charset="0"/>
            </a:endParaRPr>
          </a:p>
        </p:txBody>
      </p:sp>
      <p:sp>
        <p:nvSpPr>
          <p:cNvPr id="10246" name="文字方塊 7167">
            <a:extLst>
              <a:ext uri="{FF2B5EF4-FFF2-40B4-BE49-F238E27FC236}">
                <a16:creationId xmlns:a16="http://schemas.microsoft.com/office/drawing/2014/main" id="{3F531B3A-C0AD-1E05-3B83-47EE800263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275" y="1722438"/>
            <a:ext cx="171450" cy="2143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ts val="1600"/>
              </a:lnSpc>
              <a:spcBef>
                <a:spcPct val="0"/>
              </a:spcBef>
              <a:buFontTx/>
              <a:buNone/>
            </a:pPr>
            <a:r>
              <a:rPr lang="en-US" altLang="zh-TW" sz="1800"/>
              <a:t>2</a:t>
            </a:r>
            <a:endParaRPr lang="zh-TW" altLang="en-US" sz="1800"/>
          </a:p>
        </p:txBody>
      </p:sp>
      <p:pic>
        <p:nvPicPr>
          <p:cNvPr id="10247" name="Picture 59">
            <a:extLst>
              <a:ext uri="{FF2B5EF4-FFF2-40B4-BE49-F238E27FC236}">
                <a16:creationId xmlns:a16="http://schemas.microsoft.com/office/drawing/2014/main" id="{91AD5322-CAD8-A07B-A6F9-6B44171A39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063" y="3713163"/>
            <a:ext cx="1646237" cy="1820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324" name="Picture 60">
            <a:extLst>
              <a:ext uri="{FF2B5EF4-FFF2-40B4-BE49-F238E27FC236}">
                <a16:creationId xmlns:a16="http://schemas.microsoft.com/office/drawing/2014/main" id="{2B250111-B356-CC36-18F9-360AB64CBA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0150" y="3756025"/>
            <a:ext cx="10382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325" name="Picture 61">
            <a:extLst>
              <a:ext uri="{FF2B5EF4-FFF2-40B4-BE49-F238E27FC236}">
                <a16:creationId xmlns:a16="http://schemas.microsoft.com/office/drawing/2014/main" id="{9CF9AA77-EDEC-7CC4-5FF9-A7CA940FE6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0" y="5622925"/>
            <a:ext cx="1395413" cy="361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1" name="矩形 50">
            <a:extLst>
              <a:ext uri="{FF2B5EF4-FFF2-40B4-BE49-F238E27FC236}">
                <a16:creationId xmlns:a16="http://schemas.microsoft.com/office/drawing/2014/main" id="{C5774093-8C4C-3212-1A01-17F4C0317618}"/>
              </a:ext>
            </a:extLst>
          </p:cNvPr>
          <p:cNvSpPr/>
          <p:nvPr/>
        </p:nvSpPr>
        <p:spPr>
          <a:xfrm>
            <a:off x="3436938" y="3294063"/>
            <a:ext cx="1644650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 marL="76200" indent="9525">
              <a:spcBef>
                <a:spcPts val="300"/>
              </a:spcBef>
              <a:spcAft>
                <a:spcPts val="300"/>
              </a:spcAft>
              <a:defRPr/>
            </a:pPr>
            <a:r>
              <a:rPr lang="zh-TW" altLang="en-US" sz="2400" kern="0" dirty="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灰色</a:t>
            </a:r>
            <a:r>
              <a:rPr lang="zh-TW" altLang="zh-TW" sz="2400" kern="0" dirty="0"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r>
              <a:rPr lang="en-US" altLang="zh-TW" sz="2400" kern="0" dirty="0">
                <a:latin typeface="Times New Roman" panose="02020603050405020304" pitchFamily="18" charset="0"/>
                <a:ea typeface="標楷體" panose="03000509000000000000" pitchFamily="65" charset="-120"/>
              </a:rPr>
              <a:t>3</a:t>
            </a:r>
            <a:endParaRPr lang="zh-TW" altLang="zh-TW" sz="2400" kern="100" dirty="0">
              <a:latin typeface="Times New Roman" panose="02020603050405020304" pitchFamily="18" charset="0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AD14A970-36B8-ED53-99BA-41078B76733D}"/>
              </a:ext>
            </a:extLst>
          </p:cNvPr>
          <p:cNvSpPr/>
          <p:nvPr/>
        </p:nvSpPr>
        <p:spPr>
          <a:xfrm>
            <a:off x="3436938" y="5160963"/>
            <a:ext cx="1644650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 marL="76200" indent="9525">
              <a:spcBef>
                <a:spcPts val="300"/>
              </a:spcBef>
              <a:spcAft>
                <a:spcPts val="300"/>
              </a:spcAft>
              <a:defRPr/>
            </a:pPr>
            <a:r>
              <a:rPr lang="zh-TW" altLang="en-US" sz="2400" kern="0" dirty="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白色</a:t>
            </a:r>
            <a:r>
              <a:rPr lang="zh-TW" altLang="zh-TW" sz="2400" kern="0" dirty="0"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r>
              <a:rPr lang="en-US" altLang="zh-TW" sz="2400" kern="0" dirty="0">
                <a:latin typeface="Times New Roman" panose="02020603050405020304" pitchFamily="18" charset="0"/>
                <a:ea typeface="標楷體" panose="03000509000000000000" pitchFamily="65" charset="-120"/>
              </a:rPr>
              <a:t>4</a:t>
            </a:r>
            <a:endParaRPr lang="zh-TW" altLang="zh-TW" sz="2400" kern="100" dirty="0">
              <a:latin typeface="Times New Roman" panose="02020603050405020304" pitchFamily="18" charset="0"/>
            </a:endParaRPr>
          </a:p>
        </p:txBody>
      </p:sp>
      <p:cxnSp>
        <p:nvCxnSpPr>
          <p:cNvPr id="55" name="直線接點 54">
            <a:extLst>
              <a:ext uri="{FF2B5EF4-FFF2-40B4-BE49-F238E27FC236}">
                <a16:creationId xmlns:a16="http://schemas.microsoft.com/office/drawing/2014/main" id="{69866C21-F2E5-8108-008A-E88809D5DC3E}"/>
              </a:ext>
            </a:extLst>
          </p:cNvPr>
          <p:cNvCxnSpPr/>
          <p:nvPr/>
        </p:nvCxnSpPr>
        <p:spPr>
          <a:xfrm flipV="1">
            <a:off x="5081588" y="3084513"/>
            <a:ext cx="871537" cy="4603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>
            <a:extLst>
              <a:ext uri="{FF2B5EF4-FFF2-40B4-BE49-F238E27FC236}">
                <a16:creationId xmlns:a16="http://schemas.microsoft.com/office/drawing/2014/main" id="{F34F79B0-E632-7904-C552-E681166C0349}"/>
              </a:ext>
            </a:extLst>
          </p:cNvPr>
          <p:cNvCxnSpPr/>
          <p:nvPr/>
        </p:nvCxnSpPr>
        <p:spPr>
          <a:xfrm flipH="1" flipV="1">
            <a:off x="5081588" y="3544888"/>
            <a:ext cx="871537" cy="4619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256D5705-5CEB-4A65-EFEB-1EB349CE484E}"/>
              </a:ext>
            </a:extLst>
          </p:cNvPr>
          <p:cNvCxnSpPr/>
          <p:nvPr/>
        </p:nvCxnSpPr>
        <p:spPr>
          <a:xfrm flipV="1">
            <a:off x="5081588" y="4951413"/>
            <a:ext cx="871537" cy="4603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612F890B-66DE-9EC5-7A6B-DDF9BC54B467}"/>
              </a:ext>
            </a:extLst>
          </p:cNvPr>
          <p:cNvCxnSpPr/>
          <p:nvPr/>
        </p:nvCxnSpPr>
        <p:spPr>
          <a:xfrm flipH="1" flipV="1">
            <a:off x="5081588" y="5411788"/>
            <a:ext cx="871537" cy="4619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矩形 60">
            <a:extLst>
              <a:ext uri="{FF2B5EF4-FFF2-40B4-BE49-F238E27FC236}">
                <a16:creationId xmlns:a16="http://schemas.microsoft.com/office/drawing/2014/main" id="{85FAA3D0-44DD-1250-9834-CCC63E0F1B5D}"/>
              </a:ext>
            </a:extLst>
          </p:cNvPr>
          <p:cNvSpPr/>
          <p:nvPr/>
        </p:nvSpPr>
        <p:spPr>
          <a:xfrm>
            <a:off x="5953125" y="2832100"/>
            <a:ext cx="2124075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76200" indent="9525">
              <a:spcBef>
                <a:spcPts val="300"/>
              </a:spcBef>
              <a:spcAft>
                <a:spcPts val="300"/>
              </a:spcAft>
              <a:defRPr/>
            </a:pPr>
            <a:r>
              <a:rPr lang="zh-TW" altLang="en-US" sz="2400" kern="0" dirty="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正方形</a:t>
            </a:r>
            <a:r>
              <a:rPr lang="zh-TW" altLang="zh-TW" sz="2400" kern="0" dirty="0"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r>
              <a:rPr lang="en-US" altLang="zh-TW" sz="2400" kern="0" dirty="0">
                <a:latin typeface="Times New Roman" panose="02020603050405020304" pitchFamily="18" charset="0"/>
                <a:ea typeface="標楷體" panose="03000509000000000000" pitchFamily="65" charset="-120"/>
              </a:rPr>
              <a:t>2</a:t>
            </a:r>
            <a:endParaRPr lang="zh-TW" altLang="zh-TW" sz="2400" kern="100" dirty="0">
              <a:latin typeface="Times New Roman" panose="02020603050405020304" pitchFamily="18" charset="0"/>
            </a:endParaRPr>
          </a:p>
        </p:txBody>
      </p: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99ED0A6F-0EC5-CF22-3403-756673833369}"/>
              </a:ext>
            </a:extLst>
          </p:cNvPr>
          <p:cNvCxnSpPr/>
          <p:nvPr/>
        </p:nvCxnSpPr>
        <p:spPr>
          <a:xfrm flipH="1" flipV="1">
            <a:off x="2565400" y="4483100"/>
            <a:ext cx="871538" cy="9223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9A8F956E-2E65-86E3-6D41-3AF09CF56E81}"/>
              </a:ext>
            </a:extLst>
          </p:cNvPr>
          <p:cNvCxnSpPr/>
          <p:nvPr/>
        </p:nvCxnSpPr>
        <p:spPr>
          <a:xfrm flipH="1">
            <a:off x="2565400" y="3568700"/>
            <a:ext cx="871538" cy="9223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 64">
            <a:extLst>
              <a:ext uri="{FF2B5EF4-FFF2-40B4-BE49-F238E27FC236}">
                <a16:creationId xmlns:a16="http://schemas.microsoft.com/office/drawing/2014/main" id="{A592F596-295B-AA5C-C94E-AC7A9D770749}"/>
              </a:ext>
            </a:extLst>
          </p:cNvPr>
          <p:cNvSpPr/>
          <p:nvPr/>
        </p:nvSpPr>
        <p:spPr>
          <a:xfrm>
            <a:off x="5953125" y="4727575"/>
            <a:ext cx="2124075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76200" indent="9525">
              <a:spcBef>
                <a:spcPts val="300"/>
              </a:spcBef>
              <a:spcAft>
                <a:spcPts val="300"/>
              </a:spcAft>
              <a:defRPr/>
            </a:pPr>
            <a:r>
              <a:rPr lang="zh-TW" altLang="en-US" sz="2400" kern="0" dirty="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正方形</a:t>
            </a:r>
            <a:r>
              <a:rPr lang="zh-TW" altLang="zh-TW" sz="2400" kern="0" dirty="0"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r>
              <a:rPr lang="en-US" altLang="zh-TW" sz="2400" kern="0" dirty="0">
                <a:latin typeface="Times New Roman" panose="02020603050405020304" pitchFamily="18" charset="0"/>
                <a:ea typeface="標楷體" panose="03000509000000000000" pitchFamily="65" charset="-120"/>
              </a:rPr>
              <a:t>2</a:t>
            </a:r>
            <a:endParaRPr lang="zh-TW" altLang="zh-TW" sz="2400" kern="100" dirty="0">
              <a:latin typeface="Times New Roman" panose="02020603050405020304" pitchFamily="18" charset="0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25C66DA5-D235-B99C-9686-6894E1A8D50A}"/>
              </a:ext>
            </a:extLst>
          </p:cNvPr>
          <p:cNvSpPr/>
          <p:nvPr/>
        </p:nvSpPr>
        <p:spPr>
          <a:xfrm>
            <a:off x="5953125" y="3789363"/>
            <a:ext cx="1735138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 marL="76200" indent="9525">
              <a:spcBef>
                <a:spcPts val="300"/>
              </a:spcBef>
              <a:spcAft>
                <a:spcPts val="300"/>
              </a:spcAft>
              <a:defRPr/>
            </a:pPr>
            <a:r>
              <a:rPr lang="zh-TW" altLang="en-US" sz="2400" kern="0" dirty="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圓形</a:t>
            </a:r>
            <a:r>
              <a:rPr lang="zh-TW" altLang="zh-TW" sz="2400" kern="0" dirty="0"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r>
              <a:rPr lang="en-US" altLang="zh-TW" sz="2400" kern="0" dirty="0">
                <a:latin typeface="Times New Roman" panose="02020603050405020304" pitchFamily="18" charset="0"/>
                <a:ea typeface="標楷體" panose="03000509000000000000" pitchFamily="65" charset="-120"/>
              </a:rPr>
              <a:t>1</a:t>
            </a:r>
            <a:endParaRPr lang="zh-TW" altLang="zh-TW" sz="2400" kern="100" dirty="0">
              <a:latin typeface="Times New Roman" panose="02020603050405020304" pitchFamily="18" charset="0"/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C8048FCF-743D-5A03-21C2-C0F7F070B964}"/>
              </a:ext>
            </a:extLst>
          </p:cNvPr>
          <p:cNvSpPr/>
          <p:nvPr/>
        </p:nvSpPr>
        <p:spPr>
          <a:xfrm>
            <a:off x="5953125" y="5684838"/>
            <a:ext cx="1735138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 marL="76200" indent="9525">
              <a:spcBef>
                <a:spcPts val="300"/>
              </a:spcBef>
              <a:spcAft>
                <a:spcPts val="300"/>
              </a:spcAft>
              <a:defRPr/>
            </a:pPr>
            <a:r>
              <a:rPr lang="zh-TW" altLang="en-US" sz="2400" kern="0" dirty="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圓形</a:t>
            </a:r>
            <a:r>
              <a:rPr lang="zh-TW" altLang="zh-TW" sz="2400" kern="0" dirty="0"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r>
              <a:rPr lang="en-US" altLang="zh-TW" sz="2400" kern="0" dirty="0">
                <a:latin typeface="Times New Roman" panose="02020603050405020304" pitchFamily="18" charset="0"/>
                <a:ea typeface="標楷體" panose="03000509000000000000" pitchFamily="65" charset="-120"/>
              </a:rPr>
              <a:t>2</a:t>
            </a:r>
            <a:endParaRPr lang="zh-TW" altLang="zh-TW" sz="2400" kern="100" dirty="0">
              <a:latin typeface="Times New Roman" panose="02020603050405020304" pitchFamily="18" charset="0"/>
            </a:endParaRPr>
          </a:p>
        </p:txBody>
      </p:sp>
      <p:pic>
        <p:nvPicPr>
          <p:cNvPr id="11326" name="Picture 62">
            <a:extLst>
              <a:ext uri="{FF2B5EF4-FFF2-40B4-BE49-F238E27FC236}">
                <a16:creationId xmlns:a16="http://schemas.microsoft.com/office/drawing/2014/main" id="{4AFDAA08-B973-DA03-8E28-5BBF06A4F8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894013"/>
            <a:ext cx="709613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327" name="Picture 63">
            <a:extLst>
              <a:ext uri="{FF2B5EF4-FFF2-40B4-BE49-F238E27FC236}">
                <a16:creationId xmlns:a16="http://schemas.microsoft.com/office/drawing/2014/main" id="{075F93CE-FB82-E494-8A41-E471E9DECF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0475" y="3844925"/>
            <a:ext cx="376238" cy="35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328" name="Picture 64">
            <a:extLst>
              <a:ext uri="{FF2B5EF4-FFF2-40B4-BE49-F238E27FC236}">
                <a16:creationId xmlns:a16="http://schemas.microsoft.com/office/drawing/2014/main" id="{587D1670-E25C-1085-B803-EBB08EDC74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1013" y="4784725"/>
            <a:ext cx="685800" cy="361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329" name="Picture 65">
            <a:extLst>
              <a:ext uri="{FF2B5EF4-FFF2-40B4-BE49-F238E27FC236}">
                <a16:creationId xmlns:a16="http://schemas.microsoft.com/office/drawing/2014/main" id="{B767ED94-4175-766B-4F25-DE1C068636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0475" y="5749925"/>
            <a:ext cx="7143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1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2" grpId="0"/>
      <p:bldP spid="61" grpId="0"/>
      <p:bldP spid="65" grpId="0"/>
      <p:bldP spid="66" grpId="0"/>
      <p:bldP spid="6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標題 1">
            <a:extLst>
              <a:ext uri="{FF2B5EF4-FFF2-40B4-BE49-F238E27FC236}">
                <a16:creationId xmlns:a16="http://schemas.microsoft.com/office/drawing/2014/main" id="{B754B1A6-3E94-E8E8-EFF1-DAB624032521}"/>
              </a:ext>
            </a:extLst>
          </p:cNvPr>
          <p:cNvSpPr txBox="1">
            <a:spLocks/>
          </p:cNvSpPr>
          <p:nvPr/>
        </p:nvSpPr>
        <p:spPr bwMode="auto">
          <a:xfrm>
            <a:off x="628650" y="2670175"/>
            <a:ext cx="7886700" cy="11160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b"/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ts val="1800"/>
              </a:spcBef>
              <a:spcAft>
                <a:spcPts val="1800"/>
              </a:spcAft>
              <a:defRPr/>
            </a:pPr>
            <a:r>
              <a:rPr lang="zh-TW" altLang="en-US" sz="6600" b="1" dirty="0">
                <a:latin typeface="微軟正黑體" pitchFamily="34" charset="-120"/>
                <a:ea typeface="微軟正黑體" pitchFamily="34" charset="-120"/>
              </a:rPr>
              <a:t>練一練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D103DB8-DF3B-9B2C-8AB6-EC125F1B29CD}"/>
              </a:ext>
            </a:extLst>
          </p:cNvPr>
          <p:cNvSpPr/>
          <p:nvPr/>
        </p:nvSpPr>
        <p:spPr>
          <a:xfrm>
            <a:off x="6653213" y="6362700"/>
            <a:ext cx="2490787" cy="495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312BC712-A61D-6BE9-2417-6D8F884A0857}"/>
              </a:ext>
            </a:extLst>
          </p:cNvPr>
          <p:cNvGraphicFramePr>
            <a:graphicFrameLocks noGrp="1"/>
          </p:cNvGraphicFramePr>
          <p:nvPr/>
        </p:nvGraphicFramePr>
        <p:xfrm>
          <a:off x="365125" y="4749800"/>
          <a:ext cx="8612188" cy="1997075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{5EF00A0C-396C-4BD8-A62D-F509AEB4C581}</a:tableStyleId>
              </a:tblPr>
              <a:tblGrid>
                <a:gridCol w="1722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2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2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24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24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3284">
                <a:tc gridSpan="3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2400" kern="100" dirty="0">
                          <a:effectLst/>
                          <a:latin typeface="書法中楷（注音一）" panose="02010609010101010101" pitchFamily="49" charset="-12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白色</a:t>
                      </a:r>
                      <a:endParaRPr lang="zh-TW" sz="2400" kern="100" dirty="0">
                        <a:effectLst/>
                        <a:latin typeface="書法中楷（注音一）" panose="02010609010101010101" pitchFamily="49" charset="-12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2400" kern="100" dirty="0">
                          <a:effectLst/>
                          <a:latin typeface="書法中楷（注音一）" panose="02010609010101010101" pitchFamily="49" charset="-12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灰色</a:t>
                      </a:r>
                      <a:endParaRPr lang="zh-TW" sz="2400" kern="100" dirty="0">
                        <a:effectLst/>
                        <a:latin typeface="書法中楷（注音一）" panose="02010609010101010101" pitchFamily="49" charset="-12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638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TW" sz="16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740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240"/>
                        </a:spcAft>
                      </a:pPr>
                      <a:r>
                        <a:rPr lang="en-US" altLang="zh-TW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zh-TW" altLang="zh-TW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　　</a:t>
                      </a:r>
                      <a:r>
                        <a:rPr lang="en-US" altLang="zh-TW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    )</a:t>
                      </a:r>
                      <a:r>
                        <a:rPr lang="zh-TW" sz="29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個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240"/>
                        </a:spcAft>
                      </a:pPr>
                      <a:r>
                        <a:rPr lang="en-US" altLang="zh-TW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zh-TW" altLang="zh-TW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　　</a:t>
                      </a:r>
                      <a:r>
                        <a:rPr lang="en-US" altLang="zh-TW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    )</a:t>
                      </a:r>
                      <a:r>
                        <a:rPr lang="zh-TW" sz="29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個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240"/>
                        </a:spcAft>
                      </a:pPr>
                      <a:r>
                        <a:rPr lang="en-US" altLang="zh-TW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zh-TW" altLang="zh-TW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　　</a:t>
                      </a:r>
                      <a:r>
                        <a:rPr lang="en-US" altLang="zh-TW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    )</a:t>
                      </a:r>
                      <a:r>
                        <a:rPr lang="zh-TW" altLang="zh-TW" sz="29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個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240"/>
                        </a:spcAft>
                      </a:pPr>
                      <a:r>
                        <a:rPr lang="en-US" altLang="zh-TW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zh-TW" altLang="zh-TW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　　</a:t>
                      </a:r>
                      <a:r>
                        <a:rPr lang="en-US" altLang="zh-TW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    )</a:t>
                      </a:r>
                      <a:r>
                        <a:rPr lang="zh-TW" sz="29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個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240"/>
                        </a:spcAft>
                      </a:pPr>
                      <a:r>
                        <a:rPr lang="en-US" altLang="zh-TW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zh-TW" altLang="zh-TW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　　</a:t>
                      </a:r>
                      <a:r>
                        <a:rPr lang="en-US" altLang="zh-TW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    )</a:t>
                      </a:r>
                      <a:r>
                        <a:rPr lang="zh-TW" sz="29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個</a:t>
                      </a: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314" name="標題 5">
            <a:extLst>
              <a:ext uri="{FF2B5EF4-FFF2-40B4-BE49-F238E27FC236}">
                <a16:creationId xmlns:a16="http://schemas.microsoft.com/office/drawing/2014/main" id="{F37E7182-1C3F-211C-0142-B6685A01B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9063"/>
            <a:ext cx="8515350" cy="1325562"/>
          </a:xfrm>
        </p:spPr>
        <p:txBody>
          <a:bodyPr/>
          <a:lstStyle/>
          <a:p>
            <a:pPr eaLnBrk="1" hangingPunct="1"/>
            <a:r>
              <a:rPr lang="zh-TW" altLang="en-US"/>
              <a:t>練一練</a:t>
            </a:r>
          </a:p>
        </p:txBody>
      </p:sp>
      <p:sp>
        <p:nvSpPr>
          <p:cNvPr id="12315" name="矩形 2">
            <a:extLst>
              <a:ext uri="{FF2B5EF4-FFF2-40B4-BE49-F238E27FC236}">
                <a16:creationId xmlns:a16="http://schemas.microsoft.com/office/drawing/2014/main" id="{38499BE5-1D1F-E7A4-BA1F-65B9459D35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900" y="1082675"/>
            <a:ext cx="8204200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32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一、</a:t>
            </a:r>
            <a:r>
              <a:rPr lang="zh-TW" altLang="en-US" sz="3200">
                <a:solidFill>
                  <a:srgbClr val="0000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下面每種積木各有</a:t>
            </a:r>
            <a:r>
              <a:rPr lang="zh-TW" altLang="en-US" sz="320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幾</a:t>
            </a:r>
            <a:r>
              <a:rPr lang="zh-TW" altLang="en-US" sz="3200">
                <a:solidFill>
                  <a:srgbClr val="0000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個</a:t>
            </a:r>
            <a:r>
              <a:rPr lang="zh-TW" altLang="en-US" sz="32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？      </a:t>
            </a:r>
            <a:endParaRPr lang="en-US" altLang="zh-TW" sz="320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32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    </a:t>
            </a:r>
            <a:r>
              <a:rPr lang="zh-TW" altLang="en-US" sz="3200">
                <a:solidFill>
                  <a:srgbClr val="0000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完成表格</a:t>
            </a:r>
            <a:r>
              <a:rPr lang="zh-TW" altLang="en-US" sz="32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。</a:t>
            </a:r>
            <a:endParaRPr lang="zh-TW" altLang="zh-TW" sz="320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pic>
        <p:nvPicPr>
          <p:cNvPr id="12316" name="Picture 5">
            <a:extLst>
              <a:ext uri="{FF2B5EF4-FFF2-40B4-BE49-F238E27FC236}">
                <a16:creationId xmlns:a16="http://schemas.microsoft.com/office/drawing/2014/main" id="{95014D9F-1913-B86A-2AC5-717D86BD05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150" y="2160588"/>
            <a:ext cx="5407025" cy="222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EDAFB91A-A046-4ABC-B53B-104969C3846D}"/>
              </a:ext>
            </a:extLst>
          </p:cNvPr>
          <p:cNvSpPr txBox="1"/>
          <p:nvPr/>
        </p:nvSpPr>
        <p:spPr>
          <a:xfrm>
            <a:off x="777875" y="6181725"/>
            <a:ext cx="42545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sz="2800" kern="1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</a:t>
            </a:r>
            <a:endParaRPr lang="zh-TW" altLang="en-US" sz="2800" kern="100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CFA4DE3-2593-C281-58F3-EF77ACA3246D}"/>
              </a:ext>
            </a:extLst>
          </p:cNvPr>
          <p:cNvSpPr txBox="1"/>
          <p:nvPr/>
        </p:nvSpPr>
        <p:spPr>
          <a:xfrm>
            <a:off x="2481263" y="6178550"/>
            <a:ext cx="42545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sz="2800" kern="1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endParaRPr lang="zh-TW" altLang="en-US" sz="2800" kern="100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A2741E0-7CDB-EE0A-42A3-3E93BACD3F0B}"/>
              </a:ext>
            </a:extLst>
          </p:cNvPr>
          <p:cNvSpPr txBox="1"/>
          <p:nvPr/>
        </p:nvSpPr>
        <p:spPr>
          <a:xfrm>
            <a:off x="4094163" y="6178550"/>
            <a:ext cx="60960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TW" sz="2800" kern="1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endParaRPr lang="zh-TW" altLang="en-US" sz="2800" kern="100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1DD7ED58-C0F3-B909-C0FD-2AC42B624A55}"/>
              </a:ext>
            </a:extLst>
          </p:cNvPr>
          <p:cNvSpPr txBox="1"/>
          <p:nvPr/>
        </p:nvSpPr>
        <p:spPr>
          <a:xfrm>
            <a:off x="5791200" y="6178550"/>
            <a:ext cx="60960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TW" sz="2800" kern="1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</a:t>
            </a:r>
            <a:endParaRPr lang="zh-TW" altLang="en-US" sz="2800" kern="100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19D9C5D-2312-FE4A-805A-68B28A364C04}"/>
              </a:ext>
            </a:extLst>
          </p:cNvPr>
          <p:cNvSpPr txBox="1"/>
          <p:nvPr/>
        </p:nvSpPr>
        <p:spPr>
          <a:xfrm>
            <a:off x="7675563" y="6183313"/>
            <a:ext cx="423862" cy="5222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sz="2800" kern="1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endParaRPr lang="zh-TW" altLang="en-US" sz="2800" kern="100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2322" name="Picture 8">
            <a:extLst>
              <a:ext uri="{FF2B5EF4-FFF2-40B4-BE49-F238E27FC236}">
                <a16:creationId xmlns:a16="http://schemas.microsoft.com/office/drawing/2014/main" id="{CE719A66-7B45-E9EC-93DD-DD1296D770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313" y="5451475"/>
            <a:ext cx="515937" cy="450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323" name="Picture 9">
            <a:extLst>
              <a:ext uri="{FF2B5EF4-FFF2-40B4-BE49-F238E27FC236}">
                <a16:creationId xmlns:a16="http://schemas.microsoft.com/office/drawing/2014/main" id="{07979527-BDF1-8CEF-EA0F-C14FA5D53C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375" y="5456238"/>
            <a:ext cx="407988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324" name="Picture 10">
            <a:extLst>
              <a:ext uri="{FF2B5EF4-FFF2-40B4-BE49-F238E27FC236}">
                <a16:creationId xmlns:a16="http://schemas.microsoft.com/office/drawing/2014/main" id="{6807F2B4-3614-625C-B8A3-34988B1D70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4988" y="5541963"/>
            <a:ext cx="600075" cy="269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325" name="Picture 12">
            <a:extLst>
              <a:ext uri="{FF2B5EF4-FFF2-40B4-BE49-F238E27FC236}">
                <a16:creationId xmlns:a16="http://schemas.microsoft.com/office/drawing/2014/main" id="{C6E21B7E-8267-6A02-48AC-13CD509B6D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0613" y="5473700"/>
            <a:ext cx="407987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326" name="Picture 13">
            <a:extLst>
              <a:ext uri="{FF2B5EF4-FFF2-40B4-BE49-F238E27FC236}">
                <a16:creationId xmlns:a16="http://schemas.microsoft.com/office/drawing/2014/main" id="{80B124DE-768D-7F63-9524-E655BBE16F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0975" y="5524500"/>
            <a:ext cx="598488" cy="269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327" name="矩形 2">
            <a:extLst>
              <a:ext uri="{FF2B5EF4-FFF2-40B4-BE49-F238E27FC236}">
                <a16:creationId xmlns:a16="http://schemas.microsoft.com/office/drawing/2014/main" id="{BDE217A5-60C4-7E09-9F67-21D145F473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1338" y="4314825"/>
            <a:ext cx="35718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積木分類統計表</a:t>
            </a:r>
            <a:endParaRPr lang="zh-TW" altLang="zh-TW" sz="240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標題 5">
            <a:extLst>
              <a:ext uri="{FF2B5EF4-FFF2-40B4-BE49-F238E27FC236}">
                <a16:creationId xmlns:a16="http://schemas.microsoft.com/office/drawing/2014/main" id="{0DC0BCDB-7F80-A5AA-CD9B-2F51BEFF9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9063"/>
            <a:ext cx="8515350" cy="1325562"/>
          </a:xfrm>
        </p:spPr>
        <p:txBody>
          <a:bodyPr/>
          <a:lstStyle/>
          <a:p>
            <a:pPr eaLnBrk="1" hangingPunct="1"/>
            <a:r>
              <a:rPr lang="zh-TW" altLang="en-US"/>
              <a:t>練一練</a:t>
            </a:r>
          </a:p>
        </p:txBody>
      </p:sp>
      <p:sp>
        <p:nvSpPr>
          <p:cNvPr id="13315" name="矩形 2">
            <a:extLst>
              <a:ext uri="{FF2B5EF4-FFF2-40B4-BE49-F238E27FC236}">
                <a16:creationId xmlns:a16="http://schemas.microsoft.com/office/drawing/2014/main" id="{99497548-2EBF-6142-4E6C-6AAD2A6AFC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63" y="1392238"/>
            <a:ext cx="9118600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3200">
                <a:solidFill>
                  <a:srgbClr val="0000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二</a:t>
            </a:r>
            <a:r>
              <a:rPr lang="zh-TW" altLang="en-US" sz="32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、</a:t>
            </a:r>
            <a:r>
              <a:rPr lang="zh-TW" altLang="en-US" sz="3200">
                <a:solidFill>
                  <a:srgbClr val="0000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三年級票選最喜歡的水果</a:t>
            </a:r>
            <a:r>
              <a:rPr lang="zh-TW" altLang="en-US" sz="32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，</a:t>
            </a:r>
            <a:r>
              <a:rPr lang="zh-TW" altLang="en-US" sz="320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一</a:t>
            </a:r>
            <a:endParaRPr lang="en-US" altLang="zh-TW" sz="3200">
              <a:solidFill>
                <a:srgbClr val="000000"/>
              </a:solidFill>
              <a:latin typeface="書法中楷（破音二）" panose="02010609010101010101" pitchFamily="49" charset="-120"/>
              <a:ea typeface="書法中楷（破音二）" panose="02010609010101010101" pitchFamily="49" charset="-120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320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         </a:t>
            </a:r>
            <a:r>
              <a:rPr lang="zh-TW" altLang="en-US" sz="3200">
                <a:solidFill>
                  <a:srgbClr val="0000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個人投</a:t>
            </a:r>
            <a:r>
              <a:rPr lang="en-US" altLang="zh-TW" sz="32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1</a:t>
            </a:r>
            <a:r>
              <a:rPr lang="zh-TW" altLang="en-US" sz="3200">
                <a:solidFill>
                  <a:srgbClr val="0000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票</a:t>
            </a:r>
            <a:r>
              <a:rPr lang="zh-TW" altLang="en-US" sz="32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，</a:t>
            </a:r>
            <a:r>
              <a:rPr lang="zh-TW" altLang="en-US" sz="3200">
                <a:solidFill>
                  <a:srgbClr val="0000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下面是票選結果</a:t>
            </a:r>
            <a:r>
              <a:rPr lang="zh-TW" altLang="en-US" sz="32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，</a:t>
            </a:r>
            <a:endParaRPr lang="en-US" altLang="zh-TW" sz="320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32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     </a:t>
            </a:r>
            <a:r>
              <a:rPr lang="zh-TW" altLang="en-US" sz="3200">
                <a:solidFill>
                  <a:srgbClr val="0000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先完成表格</a:t>
            </a:r>
            <a:r>
              <a:rPr lang="zh-TW" altLang="en-US" sz="32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，</a:t>
            </a:r>
            <a:r>
              <a:rPr lang="zh-TW" altLang="en-US" sz="3200">
                <a:solidFill>
                  <a:srgbClr val="0000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再回答問題</a:t>
            </a:r>
            <a:r>
              <a:rPr lang="zh-TW" altLang="en-US" sz="32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。</a:t>
            </a:r>
            <a:endParaRPr lang="zh-TW" altLang="zh-TW" sz="320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A0F0CC12-F18D-B37B-EECE-D90C016B7326}"/>
              </a:ext>
            </a:extLst>
          </p:cNvPr>
          <p:cNvGraphicFramePr>
            <a:graphicFrameLocks noGrp="1"/>
          </p:cNvGraphicFramePr>
          <p:nvPr/>
        </p:nvGraphicFramePr>
        <p:xfrm>
          <a:off x="723900" y="3546475"/>
          <a:ext cx="7912100" cy="2587625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{5EF00A0C-396C-4BD8-A62D-F509AEB4C581}</a:tableStyleId>
              </a:tblPr>
              <a:tblGrid>
                <a:gridCol w="158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2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2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2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662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240"/>
                        </a:spcAft>
                      </a:pPr>
                      <a:r>
                        <a:rPr lang="zh-TW" sz="2300" kern="1200" dirty="0">
                          <a:solidFill>
                            <a:schemeClr val="tx1"/>
                          </a:solidFill>
                          <a:latin typeface="書法中楷（注音一）" panose="02010609010101010101" pitchFamily="49" charset="-12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西瓜</a:t>
                      </a:r>
                    </a:p>
                  </a:txBody>
                  <a:tcPr marL="17780" marR="177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240"/>
                        </a:spcAft>
                      </a:pPr>
                      <a:r>
                        <a:rPr lang="zh-TW" sz="2300" kern="1200" dirty="0">
                          <a:solidFill>
                            <a:schemeClr val="tx1"/>
                          </a:solidFill>
                          <a:latin typeface="書法中楷（注音一）" panose="02010609010101010101" pitchFamily="49" charset="-12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蘋果</a:t>
                      </a:r>
                    </a:p>
                  </a:txBody>
                  <a:tcPr marL="17780" marR="177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240"/>
                        </a:spcAft>
                      </a:pPr>
                      <a:r>
                        <a:rPr lang="zh-TW" sz="2300" kern="1200" dirty="0">
                          <a:solidFill>
                            <a:schemeClr val="tx1"/>
                          </a:solidFill>
                          <a:latin typeface="書法中楷（注音一）" panose="02010609010101010101" pitchFamily="49" charset="-12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水梨</a:t>
                      </a:r>
                    </a:p>
                  </a:txBody>
                  <a:tcPr marL="17780" marR="177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240"/>
                        </a:spcAft>
                      </a:pPr>
                      <a:r>
                        <a:rPr lang="zh-TW" sz="2300" kern="1200" dirty="0">
                          <a:solidFill>
                            <a:schemeClr val="tx1"/>
                          </a:solidFill>
                          <a:latin typeface="書法中楷（注音一）" panose="02010609010101010101" pitchFamily="49" charset="-12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草莓</a:t>
                      </a:r>
                    </a:p>
                  </a:txBody>
                  <a:tcPr marL="17780" marR="177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240"/>
                        </a:spcAft>
                      </a:pPr>
                      <a:r>
                        <a:rPr lang="zh-TW" altLang="en-US" sz="2300" kern="1200" dirty="0">
                          <a:solidFill>
                            <a:schemeClr val="tx1"/>
                          </a:solidFill>
                          <a:latin typeface="書法中楷（注音一）" panose="02010609010101010101" pitchFamily="49" charset="-12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香蕉</a:t>
                      </a:r>
                      <a:endParaRPr lang="zh-TW" sz="2300" kern="1200" dirty="0">
                        <a:solidFill>
                          <a:schemeClr val="tx1"/>
                        </a:solidFill>
                        <a:latin typeface="書法中楷（注音一）" panose="02010609010101010101" pitchFamily="49" charset="-12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143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US" sz="2300" kern="1200" dirty="0">
                        <a:solidFill>
                          <a:schemeClr val="tx1"/>
                        </a:solidFill>
                        <a:latin typeface="書法中楷（注音一）" panose="02010609010101010101" pitchFamily="49" charset="-12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US" sz="2300" kern="1200" dirty="0">
                        <a:solidFill>
                          <a:schemeClr val="tx1"/>
                        </a:solidFill>
                        <a:latin typeface="書法中楷（注音一）" panose="02010609010101010101" pitchFamily="49" charset="-12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US" sz="2300" kern="1200" dirty="0">
                        <a:solidFill>
                          <a:schemeClr val="tx1"/>
                        </a:solidFill>
                        <a:latin typeface="書法中楷（注音一）" panose="02010609010101010101" pitchFamily="49" charset="-12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US" sz="2300" kern="1200" dirty="0">
                        <a:solidFill>
                          <a:schemeClr val="tx1"/>
                        </a:solidFill>
                        <a:latin typeface="書法中楷（注音一）" panose="02010609010101010101" pitchFamily="49" charset="-12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US" sz="2300" kern="1200" dirty="0">
                        <a:solidFill>
                          <a:schemeClr val="tx1"/>
                        </a:solidFill>
                        <a:latin typeface="書法中楷（注音一）" panose="02010609010101010101" pitchFamily="49" charset="-12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956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300" kern="1200" dirty="0">
                          <a:solidFill>
                            <a:schemeClr val="tx1"/>
                          </a:solidFill>
                          <a:latin typeface="書法中楷（注音一）" panose="02010609010101010101" pitchFamily="49" charset="-12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(        )</a:t>
                      </a:r>
                      <a:r>
                        <a:rPr lang="zh-TW" sz="2300" kern="1200" dirty="0">
                          <a:solidFill>
                            <a:schemeClr val="tx1"/>
                          </a:solidFill>
                          <a:latin typeface="書法中楷（注音一）" panose="02010609010101010101" pitchFamily="49" charset="-12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票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300" kern="1200" dirty="0">
                          <a:solidFill>
                            <a:schemeClr val="tx1"/>
                          </a:solidFill>
                          <a:latin typeface="書法中楷（注音一）" panose="02010609010101010101" pitchFamily="49" charset="-12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(        )</a:t>
                      </a:r>
                      <a:r>
                        <a:rPr lang="zh-TW" sz="2300" kern="1200" dirty="0">
                          <a:solidFill>
                            <a:schemeClr val="tx1"/>
                          </a:solidFill>
                          <a:latin typeface="書法中楷（注音一）" panose="02010609010101010101" pitchFamily="49" charset="-12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票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300" kern="1200" dirty="0">
                          <a:solidFill>
                            <a:schemeClr val="tx1"/>
                          </a:solidFill>
                          <a:latin typeface="書法中楷（注音一）" panose="02010609010101010101" pitchFamily="49" charset="-12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(        )</a:t>
                      </a:r>
                      <a:r>
                        <a:rPr lang="zh-TW" sz="2300" kern="1200" dirty="0">
                          <a:solidFill>
                            <a:schemeClr val="tx1"/>
                          </a:solidFill>
                          <a:latin typeface="書法中楷（注音一）" panose="02010609010101010101" pitchFamily="49" charset="-12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票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300" kern="1200" dirty="0">
                          <a:solidFill>
                            <a:schemeClr val="tx1"/>
                          </a:solidFill>
                          <a:latin typeface="書法中楷（注音一）" panose="02010609010101010101" pitchFamily="49" charset="-12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(        )</a:t>
                      </a:r>
                      <a:r>
                        <a:rPr lang="zh-TW" sz="2300" kern="1200" dirty="0">
                          <a:solidFill>
                            <a:schemeClr val="tx1"/>
                          </a:solidFill>
                          <a:latin typeface="書法中楷（注音一）" panose="02010609010101010101" pitchFamily="49" charset="-12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票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300" kern="1200" dirty="0">
                          <a:solidFill>
                            <a:schemeClr val="tx1"/>
                          </a:solidFill>
                          <a:latin typeface="書法中楷（注音一）" panose="02010609010101010101" pitchFamily="49" charset="-12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(        )</a:t>
                      </a:r>
                      <a:r>
                        <a:rPr lang="zh-TW" sz="2300" kern="1200" dirty="0">
                          <a:solidFill>
                            <a:schemeClr val="tx1"/>
                          </a:solidFill>
                          <a:latin typeface="書法中楷（注音一）" panose="02010609010101010101" pitchFamily="49" charset="-12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票</a:t>
                      </a: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3342" name="Group 15">
            <a:extLst>
              <a:ext uri="{FF2B5EF4-FFF2-40B4-BE49-F238E27FC236}">
                <a16:creationId xmlns:a16="http://schemas.microsoft.com/office/drawing/2014/main" id="{35F833BA-CADF-D89B-8B35-BC40AB2AC934}"/>
              </a:ext>
            </a:extLst>
          </p:cNvPr>
          <p:cNvGrpSpPr>
            <a:grpSpLocks/>
          </p:cNvGrpSpPr>
          <p:nvPr/>
        </p:nvGrpSpPr>
        <p:grpSpPr bwMode="auto">
          <a:xfrm>
            <a:off x="5778500" y="4413250"/>
            <a:ext cx="1135063" cy="485775"/>
            <a:chOff x="3928" y="13787"/>
            <a:chExt cx="540" cy="240"/>
          </a:xfrm>
        </p:grpSpPr>
        <p:grpSp>
          <p:nvGrpSpPr>
            <p:cNvPr id="13387" name="Group 21">
              <a:extLst>
                <a:ext uri="{FF2B5EF4-FFF2-40B4-BE49-F238E27FC236}">
                  <a16:creationId xmlns:a16="http://schemas.microsoft.com/office/drawing/2014/main" id="{B89F02DD-CE72-4140-B44F-61441D25BB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28" y="13787"/>
              <a:ext cx="239" cy="240"/>
              <a:chOff x="2179" y="5306"/>
              <a:chExt cx="239" cy="240"/>
            </a:xfrm>
          </p:grpSpPr>
          <p:sp>
            <p:nvSpPr>
              <p:cNvPr id="13393" name="Line 26">
                <a:extLst>
                  <a:ext uri="{FF2B5EF4-FFF2-40B4-BE49-F238E27FC236}">
                    <a16:creationId xmlns:a16="http://schemas.microsoft.com/office/drawing/2014/main" id="{65B35A04-19EF-4FD9-24B1-9B020D0259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79" y="5306"/>
                <a:ext cx="23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3394" name="Line 25">
                <a:extLst>
                  <a:ext uri="{FF2B5EF4-FFF2-40B4-BE49-F238E27FC236}">
                    <a16:creationId xmlns:a16="http://schemas.microsoft.com/office/drawing/2014/main" id="{A42DFE90-030C-4B83-0115-8C91195859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79" y="5546"/>
                <a:ext cx="23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3395" name="Line 24">
                <a:extLst>
                  <a:ext uri="{FF2B5EF4-FFF2-40B4-BE49-F238E27FC236}">
                    <a16:creationId xmlns:a16="http://schemas.microsoft.com/office/drawing/2014/main" id="{51566A1B-B5B0-1D00-2767-9776BAD938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2180" y="5425"/>
                <a:ext cx="23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3396" name="Line 23">
                <a:extLst>
                  <a:ext uri="{FF2B5EF4-FFF2-40B4-BE49-F238E27FC236}">
                    <a16:creationId xmlns:a16="http://schemas.microsoft.com/office/drawing/2014/main" id="{7B11ADAD-2301-6B25-3733-3A0BCD0882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99" y="5431"/>
                <a:ext cx="11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3397" name="Line 22">
                <a:extLst>
                  <a:ext uri="{FF2B5EF4-FFF2-40B4-BE49-F238E27FC236}">
                    <a16:creationId xmlns:a16="http://schemas.microsoft.com/office/drawing/2014/main" id="{1DE08D82-DF6A-7B7D-EB1D-F26B4F1BDB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2162" y="5482"/>
                <a:ext cx="11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</p:grpSp>
        <p:grpSp>
          <p:nvGrpSpPr>
            <p:cNvPr id="13388" name="Group 16">
              <a:extLst>
                <a:ext uri="{FF2B5EF4-FFF2-40B4-BE49-F238E27FC236}">
                  <a16:creationId xmlns:a16="http://schemas.microsoft.com/office/drawing/2014/main" id="{49634F5F-BA17-013E-0B9E-DA0DA2F0D4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9" y="13787"/>
              <a:ext cx="239" cy="238"/>
              <a:chOff x="4229" y="13787"/>
              <a:chExt cx="239" cy="238"/>
            </a:xfrm>
          </p:grpSpPr>
          <p:sp>
            <p:nvSpPr>
              <p:cNvPr id="13389" name="Line 20">
                <a:extLst>
                  <a:ext uri="{FF2B5EF4-FFF2-40B4-BE49-F238E27FC236}">
                    <a16:creationId xmlns:a16="http://schemas.microsoft.com/office/drawing/2014/main" id="{607BB207-68E1-CD78-B82A-57028079C8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9" y="13787"/>
                <a:ext cx="23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3390" name="Line 19">
                <a:extLst>
                  <a:ext uri="{FF2B5EF4-FFF2-40B4-BE49-F238E27FC236}">
                    <a16:creationId xmlns:a16="http://schemas.microsoft.com/office/drawing/2014/main" id="{86B49B5A-C0F7-6016-3620-2DC15FA0D5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4230" y="13906"/>
                <a:ext cx="23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3391" name="Line 18">
                <a:extLst>
                  <a:ext uri="{FF2B5EF4-FFF2-40B4-BE49-F238E27FC236}">
                    <a16:creationId xmlns:a16="http://schemas.microsoft.com/office/drawing/2014/main" id="{A5A2AE74-1BB6-4750-17BC-07A4B95AFE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49" y="13912"/>
                <a:ext cx="11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3392" name="Line 17">
                <a:extLst>
                  <a:ext uri="{FF2B5EF4-FFF2-40B4-BE49-F238E27FC236}">
                    <a16:creationId xmlns:a16="http://schemas.microsoft.com/office/drawing/2014/main" id="{29A99802-843F-456E-7D85-91ADDC2464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4212" y="13963"/>
                <a:ext cx="11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</p:grpSp>
      </p:grpSp>
      <p:grpSp>
        <p:nvGrpSpPr>
          <p:cNvPr id="13343" name="Group 11">
            <a:extLst>
              <a:ext uri="{FF2B5EF4-FFF2-40B4-BE49-F238E27FC236}">
                <a16:creationId xmlns:a16="http://schemas.microsoft.com/office/drawing/2014/main" id="{297955CD-14DC-2CAF-92D2-03219C4D9DEE}"/>
              </a:ext>
            </a:extLst>
          </p:cNvPr>
          <p:cNvGrpSpPr>
            <a:grpSpLocks/>
          </p:cNvGrpSpPr>
          <p:nvPr/>
        </p:nvGrpSpPr>
        <p:grpSpPr bwMode="auto">
          <a:xfrm>
            <a:off x="7607300" y="4419600"/>
            <a:ext cx="503238" cy="481013"/>
            <a:chOff x="5149" y="13787"/>
            <a:chExt cx="239" cy="238"/>
          </a:xfrm>
        </p:grpSpPr>
        <p:sp>
          <p:nvSpPr>
            <p:cNvPr id="13384" name="Line 14">
              <a:extLst>
                <a:ext uri="{FF2B5EF4-FFF2-40B4-BE49-F238E27FC236}">
                  <a16:creationId xmlns:a16="http://schemas.microsoft.com/office/drawing/2014/main" id="{31EBFC97-B9DF-0C73-EB38-9353391527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9" y="13787"/>
              <a:ext cx="23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385" name="Line 13">
              <a:extLst>
                <a:ext uri="{FF2B5EF4-FFF2-40B4-BE49-F238E27FC236}">
                  <a16:creationId xmlns:a16="http://schemas.microsoft.com/office/drawing/2014/main" id="{A1DB786B-86DD-AA67-E3ED-1637AF6A082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5150" y="13906"/>
              <a:ext cx="23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386" name="Line 12">
              <a:extLst>
                <a:ext uri="{FF2B5EF4-FFF2-40B4-BE49-F238E27FC236}">
                  <a16:creationId xmlns:a16="http://schemas.microsoft.com/office/drawing/2014/main" id="{276C4522-5C9F-E7C6-CF14-B5867A984C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69" y="13912"/>
              <a:ext cx="11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3344" name="Group 49">
            <a:extLst>
              <a:ext uri="{FF2B5EF4-FFF2-40B4-BE49-F238E27FC236}">
                <a16:creationId xmlns:a16="http://schemas.microsoft.com/office/drawing/2014/main" id="{FA8F7AE2-9296-6F71-6A85-DCB280B9F662}"/>
              </a:ext>
            </a:extLst>
          </p:cNvPr>
          <p:cNvGrpSpPr>
            <a:grpSpLocks/>
          </p:cNvGrpSpPr>
          <p:nvPr/>
        </p:nvGrpSpPr>
        <p:grpSpPr bwMode="auto">
          <a:xfrm>
            <a:off x="965200" y="4419600"/>
            <a:ext cx="1104900" cy="484188"/>
            <a:chOff x="1033" y="13787"/>
            <a:chExt cx="525" cy="240"/>
          </a:xfrm>
        </p:grpSpPr>
        <p:grpSp>
          <p:nvGrpSpPr>
            <p:cNvPr id="13372" name="Group 56">
              <a:extLst>
                <a:ext uri="{FF2B5EF4-FFF2-40B4-BE49-F238E27FC236}">
                  <a16:creationId xmlns:a16="http://schemas.microsoft.com/office/drawing/2014/main" id="{844EA3D5-6938-3F9D-CBA6-A66F571775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33" y="13787"/>
              <a:ext cx="239" cy="240"/>
              <a:chOff x="1033" y="13787"/>
              <a:chExt cx="239" cy="240"/>
            </a:xfrm>
          </p:grpSpPr>
          <p:sp>
            <p:nvSpPr>
              <p:cNvPr id="13379" name="Line 61">
                <a:extLst>
                  <a:ext uri="{FF2B5EF4-FFF2-40B4-BE49-F238E27FC236}">
                    <a16:creationId xmlns:a16="http://schemas.microsoft.com/office/drawing/2014/main" id="{DCD979B4-0D36-F93A-A120-52F177B450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3" y="13787"/>
                <a:ext cx="23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3380" name="Line 60">
                <a:extLst>
                  <a:ext uri="{FF2B5EF4-FFF2-40B4-BE49-F238E27FC236}">
                    <a16:creationId xmlns:a16="http://schemas.microsoft.com/office/drawing/2014/main" id="{30FF9492-0AEA-D097-6EFB-C37BE65792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3" y="14027"/>
                <a:ext cx="23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3381" name="Line 59">
                <a:extLst>
                  <a:ext uri="{FF2B5EF4-FFF2-40B4-BE49-F238E27FC236}">
                    <a16:creationId xmlns:a16="http://schemas.microsoft.com/office/drawing/2014/main" id="{06B11298-743C-50CB-0229-68FF5F9E1F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1034" y="13906"/>
                <a:ext cx="23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3382" name="Line 58">
                <a:extLst>
                  <a:ext uri="{FF2B5EF4-FFF2-40B4-BE49-F238E27FC236}">
                    <a16:creationId xmlns:a16="http://schemas.microsoft.com/office/drawing/2014/main" id="{B07E34E3-2961-34B9-4ADC-18A63CA22C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3" y="13912"/>
                <a:ext cx="11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3383" name="Line 57">
                <a:extLst>
                  <a:ext uri="{FF2B5EF4-FFF2-40B4-BE49-F238E27FC236}">
                    <a16:creationId xmlns:a16="http://schemas.microsoft.com/office/drawing/2014/main" id="{46E14481-DA3F-11E8-C008-6454FC1083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1016" y="13963"/>
                <a:ext cx="11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</p:grpSp>
        <p:grpSp>
          <p:nvGrpSpPr>
            <p:cNvPr id="13373" name="Group 50">
              <a:extLst>
                <a:ext uri="{FF2B5EF4-FFF2-40B4-BE49-F238E27FC236}">
                  <a16:creationId xmlns:a16="http://schemas.microsoft.com/office/drawing/2014/main" id="{714618CC-EDAD-926E-4F67-4CD4D98697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19" y="13787"/>
              <a:ext cx="239" cy="240"/>
              <a:chOff x="1033" y="13787"/>
              <a:chExt cx="239" cy="240"/>
            </a:xfrm>
          </p:grpSpPr>
          <p:sp>
            <p:nvSpPr>
              <p:cNvPr id="13374" name="Line 55">
                <a:extLst>
                  <a:ext uri="{FF2B5EF4-FFF2-40B4-BE49-F238E27FC236}">
                    <a16:creationId xmlns:a16="http://schemas.microsoft.com/office/drawing/2014/main" id="{9CA8A6BB-0872-FF2B-BF09-082142A532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3" y="13787"/>
                <a:ext cx="23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3375" name="Line 54">
                <a:extLst>
                  <a:ext uri="{FF2B5EF4-FFF2-40B4-BE49-F238E27FC236}">
                    <a16:creationId xmlns:a16="http://schemas.microsoft.com/office/drawing/2014/main" id="{247D8D2B-1916-31D4-9BA6-0799A459F8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3" y="14027"/>
                <a:ext cx="23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3376" name="Line 53">
                <a:extLst>
                  <a:ext uri="{FF2B5EF4-FFF2-40B4-BE49-F238E27FC236}">
                    <a16:creationId xmlns:a16="http://schemas.microsoft.com/office/drawing/2014/main" id="{F6108DF0-1986-C4F0-D84C-C10805C97E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1034" y="13906"/>
                <a:ext cx="23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3377" name="Line 52">
                <a:extLst>
                  <a:ext uri="{FF2B5EF4-FFF2-40B4-BE49-F238E27FC236}">
                    <a16:creationId xmlns:a16="http://schemas.microsoft.com/office/drawing/2014/main" id="{4D03214D-02E8-EDA1-93F7-56279951E1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3" y="13912"/>
                <a:ext cx="11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3378" name="Line 51">
                <a:extLst>
                  <a:ext uri="{FF2B5EF4-FFF2-40B4-BE49-F238E27FC236}">
                    <a16:creationId xmlns:a16="http://schemas.microsoft.com/office/drawing/2014/main" id="{954BA359-CF62-A8D0-5339-E8B4F5BF3E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1016" y="13963"/>
                <a:ext cx="11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</p:grpSp>
      </p:grpSp>
      <p:grpSp>
        <p:nvGrpSpPr>
          <p:cNvPr id="13345" name="Group 27">
            <a:extLst>
              <a:ext uri="{FF2B5EF4-FFF2-40B4-BE49-F238E27FC236}">
                <a16:creationId xmlns:a16="http://schemas.microsoft.com/office/drawing/2014/main" id="{816269DC-5509-3117-2580-44DEDB82A23B}"/>
              </a:ext>
            </a:extLst>
          </p:cNvPr>
          <p:cNvGrpSpPr>
            <a:grpSpLocks/>
          </p:cNvGrpSpPr>
          <p:nvPr/>
        </p:nvGrpSpPr>
        <p:grpSpPr bwMode="auto">
          <a:xfrm>
            <a:off x="2536825" y="4413250"/>
            <a:ext cx="1141413" cy="485775"/>
            <a:chOff x="569" y="5306"/>
            <a:chExt cx="543" cy="240"/>
          </a:xfrm>
        </p:grpSpPr>
        <p:grpSp>
          <p:nvGrpSpPr>
            <p:cNvPr id="13362" name="Group 34">
              <a:extLst>
                <a:ext uri="{FF2B5EF4-FFF2-40B4-BE49-F238E27FC236}">
                  <a16:creationId xmlns:a16="http://schemas.microsoft.com/office/drawing/2014/main" id="{802F8A5B-4A33-8CAC-85E6-FDA755F18B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3" y="5306"/>
              <a:ext cx="239" cy="238"/>
              <a:chOff x="873" y="5306"/>
              <a:chExt cx="239" cy="238"/>
            </a:xfrm>
          </p:grpSpPr>
          <p:sp>
            <p:nvSpPr>
              <p:cNvPr id="13369" name="Line 37">
                <a:extLst>
                  <a:ext uri="{FF2B5EF4-FFF2-40B4-BE49-F238E27FC236}">
                    <a16:creationId xmlns:a16="http://schemas.microsoft.com/office/drawing/2014/main" id="{86EE5506-651A-E39A-5805-647F8ACC83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73" y="5306"/>
                <a:ext cx="23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3370" name="Line 36">
                <a:extLst>
                  <a:ext uri="{FF2B5EF4-FFF2-40B4-BE49-F238E27FC236}">
                    <a16:creationId xmlns:a16="http://schemas.microsoft.com/office/drawing/2014/main" id="{5E74856C-D219-679E-0DED-7D9BFC7563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874" y="5425"/>
                <a:ext cx="23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3371" name="Line 35">
                <a:extLst>
                  <a:ext uri="{FF2B5EF4-FFF2-40B4-BE49-F238E27FC236}">
                    <a16:creationId xmlns:a16="http://schemas.microsoft.com/office/drawing/2014/main" id="{A4F5A976-8E2E-B3B7-4D2E-4C65CF2420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3" y="5431"/>
                <a:ext cx="11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</p:grpSp>
        <p:grpSp>
          <p:nvGrpSpPr>
            <p:cNvPr id="13363" name="Group 28">
              <a:extLst>
                <a:ext uri="{FF2B5EF4-FFF2-40B4-BE49-F238E27FC236}">
                  <a16:creationId xmlns:a16="http://schemas.microsoft.com/office/drawing/2014/main" id="{A69A62ED-13D2-7323-0FD6-ADFFA88C49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9" y="5306"/>
              <a:ext cx="239" cy="240"/>
              <a:chOff x="569" y="5306"/>
              <a:chExt cx="239" cy="240"/>
            </a:xfrm>
          </p:grpSpPr>
          <p:sp>
            <p:nvSpPr>
              <p:cNvPr id="13364" name="Line 33">
                <a:extLst>
                  <a:ext uri="{FF2B5EF4-FFF2-40B4-BE49-F238E27FC236}">
                    <a16:creationId xmlns:a16="http://schemas.microsoft.com/office/drawing/2014/main" id="{EAF2A1C8-FE3B-D327-59D0-F4E549E1C8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5306"/>
                <a:ext cx="23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3365" name="Line 32">
                <a:extLst>
                  <a:ext uri="{FF2B5EF4-FFF2-40B4-BE49-F238E27FC236}">
                    <a16:creationId xmlns:a16="http://schemas.microsoft.com/office/drawing/2014/main" id="{C51C0980-9F95-A117-31BA-FDEFE2B725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5546"/>
                <a:ext cx="23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3366" name="Line 31">
                <a:extLst>
                  <a:ext uri="{FF2B5EF4-FFF2-40B4-BE49-F238E27FC236}">
                    <a16:creationId xmlns:a16="http://schemas.microsoft.com/office/drawing/2014/main" id="{D571164F-8370-13DC-490A-9D8B7FFFD8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570" y="5425"/>
                <a:ext cx="23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3367" name="Line 30">
                <a:extLst>
                  <a:ext uri="{FF2B5EF4-FFF2-40B4-BE49-F238E27FC236}">
                    <a16:creationId xmlns:a16="http://schemas.microsoft.com/office/drawing/2014/main" id="{8342109A-D5C3-931C-46AD-4598A1315D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9" y="5431"/>
                <a:ext cx="11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3368" name="Line 29">
                <a:extLst>
                  <a:ext uri="{FF2B5EF4-FFF2-40B4-BE49-F238E27FC236}">
                    <a16:creationId xmlns:a16="http://schemas.microsoft.com/office/drawing/2014/main" id="{A212A403-FD23-4B67-6D64-4A11BED27D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552" y="5482"/>
                <a:ext cx="11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</p:grpSp>
      </p:grpSp>
      <p:grpSp>
        <p:nvGrpSpPr>
          <p:cNvPr id="13346" name="Group 38">
            <a:extLst>
              <a:ext uri="{FF2B5EF4-FFF2-40B4-BE49-F238E27FC236}">
                <a16:creationId xmlns:a16="http://schemas.microsoft.com/office/drawing/2014/main" id="{CD092878-5D02-4D86-BAA1-01E54FAA428A}"/>
              </a:ext>
            </a:extLst>
          </p:cNvPr>
          <p:cNvGrpSpPr>
            <a:grpSpLocks/>
          </p:cNvGrpSpPr>
          <p:nvPr/>
        </p:nvGrpSpPr>
        <p:grpSpPr bwMode="auto">
          <a:xfrm>
            <a:off x="4117975" y="4433888"/>
            <a:ext cx="1139825" cy="485775"/>
            <a:chOff x="569" y="5306"/>
            <a:chExt cx="543" cy="240"/>
          </a:xfrm>
        </p:grpSpPr>
        <p:grpSp>
          <p:nvGrpSpPr>
            <p:cNvPr id="13352" name="Group 45">
              <a:extLst>
                <a:ext uri="{FF2B5EF4-FFF2-40B4-BE49-F238E27FC236}">
                  <a16:creationId xmlns:a16="http://schemas.microsoft.com/office/drawing/2014/main" id="{D6F3A1C7-8C72-ABD2-0F01-8C635E6B04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3" y="5306"/>
              <a:ext cx="239" cy="238"/>
              <a:chOff x="873" y="5306"/>
              <a:chExt cx="239" cy="238"/>
            </a:xfrm>
          </p:grpSpPr>
          <p:sp>
            <p:nvSpPr>
              <p:cNvPr id="13359" name="Line 48">
                <a:extLst>
                  <a:ext uri="{FF2B5EF4-FFF2-40B4-BE49-F238E27FC236}">
                    <a16:creationId xmlns:a16="http://schemas.microsoft.com/office/drawing/2014/main" id="{1711A250-4655-A252-B5FF-817B7373DD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73" y="5306"/>
                <a:ext cx="23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3360" name="Line 47">
                <a:extLst>
                  <a:ext uri="{FF2B5EF4-FFF2-40B4-BE49-F238E27FC236}">
                    <a16:creationId xmlns:a16="http://schemas.microsoft.com/office/drawing/2014/main" id="{27F62EBF-B4F3-83F4-D519-02967E11AE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874" y="5425"/>
                <a:ext cx="23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3361" name="Line 46">
                <a:extLst>
                  <a:ext uri="{FF2B5EF4-FFF2-40B4-BE49-F238E27FC236}">
                    <a16:creationId xmlns:a16="http://schemas.microsoft.com/office/drawing/2014/main" id="{8C34F797-4B23-6663-6F78-3A20CABFB4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3" y="5431"/>
                <a:ext cx="11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</p:grpSp>
        <p:grpSp>
          <p:nvGrpSpPr>
            <p:cNvPr id="13353" name="Group 39">
              <a:extLst>
                <a:ext uri="{FF2B5EF4-FFF2-40B4-BE49-F238E27FC236}">
                  <a16:creationId xmlns:a16="http://schemas.microsoft.com/office/drawing/2014/main" id="{8E14D9A9-4D96-1898-25D8-0779CF7AAD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9" y="5306"/>
              <a:ext cx="239" cy="240"/>
              <a:chOff x="569" y="5306"/>
              <a:chExt cx="239" cy="240"/>
            </a:xfrm>
          </p:grpSpPr>
          <p:sp>
            <p:nvSpPr>
              <p:cNvPr id="13354" name="Line 44">
                <a:extLst>
                  <a:ext uri="{FF2B5EF4-FFF2-40B4-BE49-F238E27FC236}">
                    <a16:creationId xmlns:a16="http://schemas.microsoft.com/office/drawing/2014/main" id="{A5165381-A78D-E955-3658-F858EA1BEA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5306"/>
                <a:ext cx="23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3355" name="Line 43">
                <a:extLst>
                  <a:ext uri="{FF2B5EF4-FFF2-40B4-BE49-F238E27FC236}">
                    <a16:creationId xmlns:a16="http://schemas.microsoft.com/office/drawing/2014/main" id="{15335BD5-054A-8C8F-F817-FF7ED3709C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5546"/>
                <a:ext cx="23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3356" name="Line 42">
                <a:extLst>
                  <a:ext uri="{FF2B5EF4-FFF2-40B4-BE49-F238E27FC236}">
                    <a16:creationId xmlns:a16="http://schemas.microsoft.com/office/drawing/2014/main" id="{2D1A5C61-ED65-3501-C867-65CC7D3543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570" y="5425"/>
                <a:ext cx="23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3357" name="Line 41">
                <a:extLst>
                  <a:ext uri="{FF2B5EF4-FFF2-40B4-BE49-F238E27FC236}">
                    <a16:creationId xmlns:a16="http://schemas.microsoft.com/office/drawing/2014/main" id="{8DE56A12-5E4B-2E04-4450-EC364AF7D5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9" y="5431"/>
                <a:ext cx="11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3358" name="Line 40">
                <a:extLst>
                  <a:ext uri="{FF2B5EF4-FFF2-40B4-BE49-F238E27FC236}">
                    <a16:creationId xmlns:a16="http://schemas.microsoft.com/office/drawing/2014/main" id="{A053A6F4-2138-399C-DF74-434E5AE2C0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552" y="5482"/>
                <a:ext cx="11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</p:grpSp>
      </p:grp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7A3AA920-5781-3C9B-05E5-6743756161FD}"/>
              </a:ext>
            </a:extLst>
          </p:cNvPr>
          <p:cNvSpPr txBox="1"/>
          <p:nvPr/>
        </p:nvSpPr>
        <p:spPr>
          <a:xfrm>
            <a:off x="979488" y="5438775"/>
            <a:ext cx="60960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sz="2800" kern="1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10</a:t>
            </a:r>
            <a:endParaRPr lang="zh-TW" altLang="en-US" sz="2800" kern="100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89BF0A23-CA9E-17DA-F72D-885C7486B294}"/>
              </a:ext>
            </a:extLst>
          </p:cNvPr>
          <p:cNvSpPr txBox="1"/>
          <p:nvPr/>
        </p:nvSpPr>
        <p:spPr>
          <a:xfrm>
            <a:off x="2674938" y="5410200"/>
            <a:ext cx="423862" cy="522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sz="2800" kern="1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8</a:t>
            </a:r>
            <a:endParaRPr lang="zh-TW" altLang="en-US" sz="2800" kern="100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E3472C5C-60E4-FC10-475D-FBD0339507E9}"/>
              </a:ext>
            </a:extLst>
          </p:cNvPr>
          <p:cNvSpPr txBox="1"/>
          <p:nvPr/>
        </p:nvSpPr>
        <p:spPr>
          <a:xfrm>
            <a:off x="4264025" y="5394325"/>
            <a:ext cx="423863" cy="522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sz="2800" kern="1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8</a:t>
            </a:r>
            <a:endParaRPr lang="zh-TW" altLang="en-US" sz="2800" kern="100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9A660A28-5F4F-6FC1-F775-FEA84040DB4F}"/>
              </a:ext>
            </a:extLst>
          </p:cNvPr>
          <p:cNvSpPr txBox="1"/>
          <p:nvPr/>
        </p:nvSpPr>
        <p:spPr>
          <a:xfrm>
            <a:off x="5815013" y="5392738"/>
            <a:ext cx="423862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sz="2800" kern="1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9</a:t>
            </a:r>
            <a:endParaRPr lang="zh-TW" altLang="en-US" sz="2800" kern="100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639F9D59-A19E-C342-4560-2A5F65AD7A57}"/>
              </a:ext>
            </a:extLst>
          </p:cNvPr>
          <p:cNvSpPr txBox="1"/>
          <p:nvPr/>
        </p:nvSpPr>
        <p:spPr>
          <a:xfrm>
            <a:off x="7413625" y="5392738"/>
            <a:ext cx="423863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sz="2800" kern="1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endParaRPr lang="zh-TW" altLang="en-US" sz="2800" kern="100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68" grpId="0"/>
      <p:bldP spid="70" grpId="0"/>
      <p:bldP spid="71" grpId="0"/>
      <p:bldP spid="7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4C31F19-2EB3-DB0A-2F54-518E1AB9F589}"/>
              </a:ext>
            </a:extLst>
          </p:cNvPr>
          <p:cNvSpPr/>
          <p:nvPr/>
        </p:nvSpPr>
        <p:spPr>
          <a:xfrm>
            <a:off x="6664325" y="6311900"/>
            <a:ext cx="2479675" cy="546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4339" name="標題 5">
            <a:extLst>
              <a:ext uri="{FF2B5EF4-FFF2-40B4-BE49-F238E27FC236}">
                <a16:creationId xmlns:a16="http://schemas.microsoft.com/office/drawing/2014/main" id="{32D5F280-BB50-AD9D-2F5B-F8EC38344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9063"/>
            <a:ext cx="8515350" cy="1325562"/>
          </a:xfrm>
        </p:spPr>
        <p:txBody>
          <a:bodyPr/>
          <a:lstStyle/>
          <a:p>
            <a:pPr eaLnBrk="1" hangingPunct="1"/>
            <a:r>
              <a:rPr lang="zh-TW" altLang="en-US"/>
              <a:t>練一練</a:t>
            </a:r>
          </a:p>
        </p:txBody>
      </p:sp>
      <p:sp>
        <p:nvSpPr>
          <p:cNvPr id="14340" name="Rectangle 16">
            <a:extLst>
              <a:ext uri="{FF2B5EF4-FFF2-40B4-BE49-F238E27FC236}">
                <a16:creationId xmlns:a16="http://schemas.microsoft.com/office/drawing/2014/main" id="{ACE5F1CC-E67B-B776-748B-D2792C681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613" y="4037013"/>
            <a:ext cx="9021762" cy="282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TW" sz="32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</a:t>
            </a:r>
            <a:r>
              <a:rPr lang="en-US" altLang="zh-TW" sz="3200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. (</a:t>
            </a:r>
            <a:r>
              <a:rPr lang="zh-TW" altLang="en-US" sz="3200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         </a:t>
            </a:r>
            <a:r>
              <a:rPr lang="en-US" altLang="zh-TW" sz="3200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)</a:t>
            </a:r>
            <a:r>
              <a:rPr lang="zh-TW" altLang="zh-TW" sz="3200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的票數最多</a:t>
            </a:r>
            <a:r>
              <a:rPr lang="zh-TW" altLang="en-US" sz="32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zh-TW" altLang="zh-TW" sz="320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zh-TW" sz="32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</a:t>
            </a:r>
            <a:r>
              <a:rPr lang="en-US" altLang="zh-TW" sz="3200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. (</a:t>
            </a:r>
            <a:r>
              <a:rPr lang="zh-TW" altLang="en-US" sz="3200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         </a:t>
            </a:r>
            <a:r>
              <a:rPr lang="en-US" altLang="zh-TW" sz="3200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)</a:t>
            </a:r>
            <a:r>
              <a:rPr lang="zh-TW" altLang="zh-TW" sz="3200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的票數最少</a:t>
            </a:r>
            <a:r>
              <a:rPr lang="zh-TW" altLang="en-US" sz="32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zh-TW" altLang="zh-TW" sz="320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zh-TW" sz="32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3</a:t>
            </a:r>
            <a:r>
              <a:rPr lang="en-US" altLang="zh-TW" sz="3200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. (      </a:t>
            </a:r>
            <a:r>
              <a:rPr lang="zh-TW" altLang="en-US" sz="3200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</a:t>
            </a:r>
            <a:r>
              <a:rPr lang="en-US" altLang="zh-TW" sz="3200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  )</a:t>
            </a:r>
            <a:r>
              <a:rPr lang="zh-TW" altLang="zh-TW" sz="3200"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和</a:t>
            </a:r>
            <a:r>
              <a:rPr lang="en-US" altLang="zh-TW" sz="3200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(     </a:t>
            </a:r>
            <a:r>
              <a:rPr lang="zh-TW" altLang="en-US" sz="3200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</a:t>
            </a:r>
            <a:r>
              <a:rPr lang="en-US" altLang="zh-TW" sz="3200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   )</a:t>
            </a:r>
            <a:r>
              <a:rPr lang="zh-TW" altLang="zh-TW" sz="3200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的票數</a:t>
            </a:r>
            <a:r>
              <a:rPr lang="zh-TW" altLang="zh-TW" sz="32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zh-TW" sz="3200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樣多</a:t>
            </a:r>
            <a:r>
              <a:rPr lang="zh-TW" altLang="en-US" sz="32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zh-TW" altLang="zh-TW" sz="240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zh-TW" sz="32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4</a:t>
            </a:r>
            <a:r>
              <a:rPr lang="en-US" altLang="zh-TW" sz="3200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.</a:t>
            </a:r>
            <a:r>
              <a:rPr lang="zh-TW" altLang="zh-TW" sz="3200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票數最多</a:t>
            </a:r>
            <a:r>
              <a:rPr lang="zh-TW" altLang="zh-TW" sz="3200"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和</a:t>
            </a:r>
            <a:r>
              <a:rPr lang="zh-TW" altLang="zh-TW" sz="3200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最少相差</a:t>
            </a:r>
            <a:r>
              <a:rPr lang="en-US" altLang="zh-TW" sz="3200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(</a:t>
            </a:r>
            <a:r>
              <a:rPr lang="zh-TW" altLang="en-US" sz="3200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      </a:t>
            </a:r>
            <a:r>
              <a:rPr lang="en-US" altLang="zh-TW" sz="3200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)</a:t>
            </a:r>
            <a:r>
              <a:rPr lang="zh-TW" altLang="zh-TW" sz="3200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票</a:t>
            </a:r>
            <a:r>
              <a:rPr lang="zh-TW" altLang="en-US" sz="32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zh-TW" altLang="zh-TW" sz="3200">
              <a:latin typeface="書法中楷（注音一）" panose="02010609010101010101" pitchFamily="49" charset="-120"/>
              <a:ea typeface="書法中楷（注音一）" panose="02010609010101010101" pitchFamily="49" charset="-12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zh-TW" sz="32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5</a:t>
            </a:r>
            <a:r>
              <a:rPr lang="en-US" altLang="zh-TW" sz="3200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.</a:t>
            </a:r>
            <a:r>
              <a:rPr lang="zh-TW" altLang="zh-TW" sz="3200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三年</a:t>
            </a:r>
            <a:r>
              <a:rPr lang="zh-TW" altLang="en-US" sz="3200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級</a:t>
            </a:r>
            <a:r>
              <a:rPr lang="zh-TW" altLang="zh-TW" sz="3200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學生有</a:t>
            </a:r>
            <a:r>
              <a:rPr lang="en-US" altLang="zh-TW" sz="3200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(</a:t>
            </a:r>
            <a:r>
              <a:rPr lang="zh-TW" altLang="en-US" sz="3200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      </a:t>
            </a:r>
            <a:r>
              <a:rPr lang="en-US" altLang="zh-TW" sz="3200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)</a:t>
            </a:r>
            <a:r>
              <a:rPr lang="zh-TW" altLang="en-US" sz="3200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</a:t>
            </a:r>
            <a:r>
              <a:rPr lang="zh-TW" altLang="zh-TW" sz="3200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人</a:t>
            </a:r>
            <a:r>
              <a:rPr lang="zh-TW" altLang="en-US" sz="32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zh-TW" altLang="zh-TW" sz="3200">
              <a:latin typeface="書法中楷（注音一）" panose="02010609010101010101" pitchFamily="49" charset="-120"/>
              <a:ea typeface="書法中楷（注音一）" panose="02010609010101010101" pitchFamily="49" charset="-120"/>
              <a:cs typeface="Times New Roman" panose="02020603050405020304" pitchFamily="18" charset="0"/>
            </a:endParaRPr>
          </a:p>
        </p:txBody>
      </p:sp>
      <p:sp>
        <p:nvSpPr>
          <p:cNvPr id="14341" name="Text Box 19">
            <a:extLst>
              <a:ext uri="{FF2B5EF4-FFF2-40B4-BE49-F238E27FC236}">
                <a16:creationId xmlns:a16="http://schemas.microsoft.com/office/drawing/2014/main" id="{F0BB8027-B4E7-0EB5-A109-616AD41D68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9375" y="561975"/>
            <a:ext cx="157163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TW" altLang="zh-TW" sz="180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7B9FE102-58F6-C336-B77E-F32BEC4500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963" y="3967163"/>
            <a:ext cx="12604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西瓜</a:t>
            </a:r>
            <a:r>
              <a:rPr lang="zh-TW" altLang="en-US" sz="320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DA8FA5F4-C77C-414F-FE72-6FCB102A25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8375" y="4591050"/>
            <a:ext cx="12604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香蕉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9E6B27E5-B94A-E91D-CE03-ABB8B03D18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513" y="5156200"/>
            <a:ext cx="1266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蘋果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56FA2A8A-0B73-BBE0-29E6-3F8EB1D036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0" y="5113338"/>
            <a:ext cx="12684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水梨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2E2990AE-5D13-BFE1-0651-56740CB6BFF2}"/>
              </a:ext>
            </a:extLst>
          </p:cNvPr>
          <p:cNvSpPr txBox="1"/>
          <p:nvPr/>
        </p:nvSpPr>
        <p:spPr>
          <a:xfrm>
            <a:off x="6451600" y="5730875"/>
            <a:ext cx="423863" cy="522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sz="2800" kern="1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7</a:t>
            </a:r>
            <a:endParaRPr lang="zh-TW" altLang="en-US" sz="2800" kern="100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91AE4909-1B6C-C0DF-D461-7724248FC122}"/>
              </a:ext>
            </a:extLst>
          </p:cNvPr>
          <p:cNvSpPr txBox="1"/>
          <p:nvPr/>
        </p:nvSpPr>
        <p:spPr>
          <a:xfrm>
            <a:off x="4538663" y="6311900"/>
            <a:ext cx="601662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sz="2800" kern="1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38</a:t>
            </a:r>
            <a:endParaRPr lang="zh-TW" altLang="en-US" sz="2800" kern="100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EAB626-27D4-3653-633A-C29256B2DC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7063" y="4770438"/>
            <a:ext cx="2125662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zh-TW" sz="240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zh-TW" sz="240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答案可互換</a:t>
            </a:r>
            <a:r>
              <a:rPr lang="en-US" altLang="zh-TW" sz="240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zh-TW" sz="3200">
              <a:latin typeface="書法中楷（注音一）" panose="02010609010101010101" pitchFamily="49" charset="-120"/>
              <a:ea typeface="書法中楷（注音一）" panose="02010609010101010101" pitchFamily="49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28" name="表格 27">
            <a:extLst>
              <a:ext uri="{FF2B5EF4-FFF2-40B4-BE49-F238E27FC236}">
                <a16:creationId xmlns:a16="http://schemas.microsoft.com/office/drawing/2014/main" id="{D1F8C961-9C33-79B3-C0F5-A28BD1FB2BA1}"/>
              </a:ext>
            </a:extLst>
          </p:cNvPr>
          <p:cNvGraphicFramePr>
            <a:graphicFrameLocks noGrp="1"/>
          </p:cNvGraphicFramePr>
          <p:nvPr/>
        </p:nvGraphicFramePr>
        <p:xfrm>
          <a:off x="757238" y="1320800"/>
          <a:ext cx="7912100" cy="2587625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{5EF00A0C-396C-4BD8-A62D-F509AEB4C581}</a:tableStyleId>
              </a:tblPr>
              <a:tblGrid>
                <a:gridCol w="158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2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2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2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662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240"/>
                        </a:spcAft>
                      </a:pPr>
                      <a:r>
                        <a:rPr lang="zh-TW" sz="2300" kern="1200" dirty="0">
                          <a:solidFill>
                            <a:schemeClr val="tx1"/>
                          </a:solidFill>
                          <a:latin typeface="書法中楷（注音一）" panose="02010609010101010101" pitchFamily="49" charset="-12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西瓜</a:t>
                      </a:r>
                    </a:p>
                  </a:txBody>
                  <a:tcPr marL="17780" marR="177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240"/>
                        </a:spcAft>
                      </a:pPr>
                      <a:r>
                        <a:rPr lang="zh-TW" sz="2300" kern="1200" dirty="0">
                          <a:solidFill>
                            <a:schemeClr val="tx1"/>
                          </a:solidFill>
                          <a:latin typeface="書法中楷（注音一）" panose="02010609010101010101" pitchFamily="49" charset="-12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蘋果</a:t>
                      </a:r>
                    </a:p>
                  </a:txBody>
                  <a:tcPr marL="17780" marR="177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240"/>
                        </a:spcAft>
                      </a:pPr>
                      <a:r>
                        <a:rPr lang="zh-TW" sz="2300" kern="1200" dirty="0">
                          <a:solidFill>
                            <a:schemeClr val="tx1"/>
                          </a:solidFill>
                          <a:latin typeface="書法中楷（注音一）" panose="02010609010101010101" pitchFamily="49" charset="-12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水梨</a:t>
                      </a:r>
                    </a:p>
                  </a:txBody>
                  <a:tcPr marL="17780" marR="177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240"/>
                        </a:spcAft>
                      </a:pPr>
                      <a:r>
                        <a:rPr lang="zh-TW" sz="2300" kern="1200" dirty="0">
                          <a:solidFill>
                            <a:schemeClr val="tx1"/>
                          </a:solidFill>
                          <a:latin typeface="書法中楷（注音一）" panose="02010609010101010101" pitchFamily="49" charset="-12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草莓</a:t>
                      </a:r>
                    </a:p>
                  </a:txBody>
                  <a:tcPr marL="17780" marR="177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240"/>
                        </a:spcAft>
                      </a:pPr>
                      <a:r>
                        <a:rPr lang="zh-TW" altLang="en-US" sz="2300" kern="1200" dirty="0">
                          <a:solidFill>
                            <a:schemeClr val="tx1"/>
                          </a:solidFill>
                          <a:latin typeface="書法中楷（注音一）" panose="02010609010101010101" pitchFamily="49" charset="-12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香蕉</a:t>
                      </a:r>
                      <a:endParaRPr lang="zh-TW" sz="2300" kern="1200" dirty="0">
                        <a:solidFill>
                          <a:schemeClr val="tx1"/>
                        </a:solidFill>
                        <a:latin typeface="書法中楷（注音一）" panose="02010609010101010101" pitchFamily="49" charset="-12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143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US" sz="2300" kern="1200" dirty="0">
                        <a:solidFill>
                          <a:schemeClr val="tx1"/>
                        </a:solidFill>
                        <a:latin typeface="書法中楷（注音一）" panose="02010609010101010101" pitchFamily="49" charset="-12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US" sz="2300" kern="1200" dirty="0">
                        <a:solidFill>
                          <a:schemeClr val="tx1"/>
                        </a:solidFill>
                        <a:latin typeface="書法中楷（注音一）" panose="02010609010101010101" pitchFamily="49" charset="-12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US" sz="2300" kern="1200" dirty="0">
                        <a:solidFill>
                          <a:schemeClr val="tx1"/>
                        </a:solidFill>
                        <a:latin typeface="書法中楷（注音一）" panose="02010609010101010101" pitchFamily="49" charset="-12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US" sz="2300" kern="1200" dirty="0">
                        <a:solidFill>
                          <a:schemeClr val="tx1"/>
                        </a:solidFill>
                        <a:latin typeface="書法中楷（注音一）" panose="02010609010101010101" pitchFamily="49" charset="-12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US" sz="2300" kern="1200" dirty="0">
                        <a:solidFill>
                          <a:schemeClr val="tx1"/>
                        </a:solidFill>
                        <a:latin typeface="書法中楷（注音一）" panose="02010609010101010101" pitchFamily="49" charset="-12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956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300" kern="1200" dirty="0">
                          <a:solidFill>
                            <a:schemeClr val="tx1"/>
                          </a:solidFill>
                          <a:latin typeface="書法中楷（注音一）" panose="02010609010101010101" pitchFamily="49" charset="-12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(        )</a:t>
                      </a:r>
                      <a:r>
                        <a:rPr lang="zh-TW" sz="2300" kern="1200" dirty="0">
                          <a:solidFill>
                            <a:schemeClr val="tx1"/>
                          </a:solidFill>
                          <a:latin typeface="書法中楷（注音一）" panose="02010609010101010101" pitchFamily="49" charset="-12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票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300" kern="1200" dirty="0">
                          <a:solidFill>
                            <a:schemeClr val="tx1"/>
                          </a:solidFill>
                          <a:latin typeface="書法中楷（注音一）" panose="02010609010101010101" pitchFamily="49" charset="-12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(        )</a:t>
                      </a:r>
                      <a:r>
                        <a:rPr lang="zh-TW" sz="2300" kern="1200" dirty="0">
                          <a:solidFill>
                            <a:schemeClr val="tx1"/>
                          </a:solidFill>
                          <a:latin typeface="書法中楷（注音一）" panose="02010609010101010101" pitchFamily="49" charset="-12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票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300" kern="1200" dirty="0">
                          <a:solidFill>
                            <a:schemeClr val="tx1"/>
                          </a:solidFill>
                          <a:latin typeface="書法中楷（注音一）" panose="02010609010101010101" pitchFamily="49" charset="-12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(        )</a:t>
                      </a:r>
                      <a:r>
                        <a:rPr lang="zh-TW" sz="2300" kern="1200" dirty="0">
                          <a:solidFill>
                            <a:schemeClr val="tx1"/>
                          </a:solidFill>
                          <a:latin typeface="書法中楷（注音一）" panose="02010609010101010101" pitchFamily="49" charset="-12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票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300" kern="1200" dirty="0">
                          <a:solidFill>
                            <a:schemeClr val="tx1"/>
                          </a:solidFill>
                          <a:latin typeface="書法中楷（注音一）" panose="02010609010101010101" pitchFamily="49" charset="-12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(        )</a:t>
                      </a:r>
                      <a:r>
                        <a:rPr lang="zh-TW" sz="2300" kern="1200" dirty="0">
                          <a:solidFill>
                            <a:schemeClr val="tx1"/>
                          </a:solidFill>
                          <a:latin typeface="書法中楷（注音一）" panose="02010609010101010101" pitchFamily="49" charset="-12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票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300" kern="1200" dirty="0">
                          <a:solidFill>
                            <a:schemeClr val="tx1"/>
                          </a:solidFill>
                          <a:latin typeface="書法中楷（注音一）" panose="02010609010101010101" pitchFamily="49" charset="-12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(        )</a:t>
                      </a:r>
                      <a:r>
                        <a:rPr lang="zh-TW" sz="2300" kern="1200" dirty="0">
                          <a:solidFill>
                            <a:schemeClr val="tx1"/>
                          </a:solidFill>
                          <a:latin typeface="書法中楷（注音一）" panose="02010609010101010101" pitchFamily="49" charset="-12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票</a:t>
                      </a: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4375" name="Group 15">
            <a:extLst>
              <a:ext uri="{FF2B5EF4-FFF2-40B4-BE49-F238E27FC236}">
                <a16:creationId xmlns:a16="http://schemas.microsoft.com/office/drawing/2014/main" id="{53048762-2117-E9AC-7C03-129CF84DBE52}"/>
              </a:ext>
            </a:extLst>
          </p:cNvPr>
          <p:cNvGrpSpPr>
            <a:grpSpLocks/>
          </p:cNvGrpSpPr>
          <p:nvPr/>
        </p:nvGrpSpPr>
        <p:grpSpPr bwMode="auto">
          <a:xfrm>
            <a:off x="5811838" y="2187575"/>
            <a:ext cx="1135062" cy="485775"/>
            <a:chOff x="3928" y="13787"/>
            <a:chExt cx="540" cy="240"/>
          </a:xfrm>
        </p:grpSpPr>
        <p:grpSp>
          <p:nvGrpSpPr>
            <p:cNvPr id="14420" name="Group 21">
              <a:extLst>
                <a:ext uri="{FF2B5EF4-FFF2-40B4-BE49-F238E27FC236}">
                  <a16:creationId xmlns:a16="http://schemas.microsoft.com/office/drawing/2014/main" id="{C21BE09D-1740-2F63-3598-8C6130F161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28" y="13787"/>
              <a:ext cx="239" cy="240"/>
              <a:chOff x="2179" y="5306"/>
              <a:chExt cx="239" cy="240"/>
            </a:xfrm>
          </p:grpSpPr>
          <p:sp>
            <p:nvSpPr>
              <p:cNvPr id="14426" name="Line 26">
                <a:extLst>
                  <a:ext uri="{FF2B5EF4-FFF2-40B4-BE49-F238E27FC236}">
                    <a16:creationId xmlns:a16="http://schemas.microsoft.com/office/drawing/2014/main" id="{6C5766DE-A3D4-FB88-866B-07099B5C44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79" y="5306"/>
                <a:ext cx="23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427" name="Line 25">
                <a:extLst>
                  <a:ext uri="{FF2B5EF4-FFF2-40B4-BE49-F238E27FC236}">
                    <a16:creationId xmlns:a16="http://schemas.microsoft.com/office/drawing/2014/main" id="{6BA1031D-BB62-A22C-205F-F0857F77CC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79" y="5546"/>
                <a:ext cx="23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428" name="Line 24">
                <a:extLst>
                  <a:ext uri="{FF2B5EF4-FFF2-40B4-BE49-F238E27FC236}">
                    <a16:creationId xmlns:a16="http://schemas.microsoft.com/office/drawing/2014/main" id="{F2D68342-69E9-6A0F-9E5B-BDED6C6345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2180" y="5425"/>
                <a:ext cx="23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429" name="Line 23">
                <a:extLst>
                  <a:ext uri="{FF2B5EF4-FFF2-40B4-BE49-F238E27FC236}">
                    <a16:creationId xmlns:a16="http://schemas.microsoft.com/office/drawing/2014/main" id="{9FB009E1-84FE-6438-DCDD-02DE77C4B3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99" y="5431"/>
                <a:ext cx="11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430" name="Line 22">
                <a:extLst>
                  <a:ext uri="{FF2B5EF4-FFF2-40B4-BE49-F238E27FC236}">
                    <a16:creationId xmlns:a16="http://schemas.microsoft.com/office/drawing/2014/main" id="{FEBBF12F-6DE5-D46B-2386-A2C8110B91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2162" y="5482"/>
                <a:ext cx="11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</p:grpSp>
        <p:grpSp>
          <p:nvGrpSpPr>
            <p:cNvPr id="14421" name="Group 16">
              <a:extLst>
                <a:ext uri="{FF2B5EF4-FFF2-40B4-BE49-F238E27FC236}">
                  <a16:creationId xmlns:a16="http://schemas.microsoft.com/office/drawing/2014/main" id="{D909E450-CC98-4BB4-FD2A-961EB2518E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9" y="13787"/>
              <a:ext cx="239" cy="238"/>
              <a:chOff x="4229" y="13787"/>
              <a:chExt cx="239" cy="238"/>
            </a:xfrm>
          </p:grpSpPr>
          <p:sp>
            <p:nvSpPr>
              <p:cNvPr id="14422" name="Line 20">
                <a:extLst>
                  <a:ext uri="{FF2B5EF4-FFF2-40B4-BE49-F238E27FC236}">
                    <a16:creationId xmlns:a16="http://schemas.microsoft.com/office/drawing/2014/main" id="{EB1D6CC9-866D-48B7-1D6C-3BD09A083F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9" y="13787"/>
                <a:ext cx="23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423" name="Line 19">
                <a:extLst>
                  <a:ext uri="{FF2B5EF4-FFF2-40B4-BE49-F238E27FC236}">
                    <a16:creationId xmlns:a16="http://schemas.microsoft.com/office/drawing/2014/main" id="{DE048410-E407-868C-3DB7-9EA43E7BC1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4230" y="13906"/>
                <a:ext cx="23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424" name="Line 18">
                <a:extLst>
                  <a:ext uri="{FF2B5EF4-FFF2-40B4-BE49-F238E27FC236}">
                    <a16:creationId xmlns:a16="http://schemas.microsoft.com/office/drawing/2014/main" id="{87103B42-DC62-76D0-0ED2-432FC6A3FD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49" y="13912"/>
                <a:ext cx="11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425" name="Line 17">
                <a:extLst>
                  <a:ext uri="{FF2B5EF4-FFF2-40B4-BE49-F238E27FC236}">
                    <a16:creationId xmlns:a16="http://schemas.microsoft.com/office/drawing/2014/main" id="{CC4D7E14-EB90-8EDA-A7EE-99C14BBDFB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4212" y="13963"/>
                <a:ext cx="11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</p:grpSp>
      </p:grpSp>
      <p:grpSp>
        <p:nvGrpSpPr>
          <p:cNvPr id="14376" name="Group 11">
            <a:extLst>
              <a:ext uri="{FF2B5EF4-FFF2-40B4-BE49-F238E27FC236}">
                <a16:creationId xmlns:a16="http://schemas.microsoft.com/office/drawing/2014/main" id="{512D2613-1EBD-3D54-ADFD-26AA723C311E}"/>
              </a:ext>
            </a:extLst>
          </p:cNvPr>
          <p:cNvGrpSpPr>
            <a:grpSpLocks/>
          </p:cNvGrpSpPr>
          <p:nvPr/>
        </p:nvGrpSpPr>
        <p:grpSpPr bwMode="auto">
          <a:xfrm>
            <a:off x="7640638" y="2193925"/>
            <a:ext cx="503237" cy="481013"/>
            <a:chOff x="5149" y="13787"/>
            <a:chExt cx="239" cy="238"/>
          </a:xfrm>
        </p:grpSpPr>
        <p:sp>
          <p:nvSpPr>
            <p:cNvPr id="14417" name="Line 14">
              <a:extLst>
                <a:ext uri="{FF2B5EF4-FFF2-40B4-BE49-F238E27FC236}">
                  <a16:creationId xmlns:a16="http://schemas.microsoft.com/office/drawing/2014/main" id="{B984AB02-DCB4-1E46-F6CD-1348CBAF89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9" y="13787"/>
              <a:ext cx="23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418" name="Line 13">
              <a:extLst>
                <a:ext uri="{FF2B5EF4-FFF2-40B4-BE49-F238E27FC236}">
                  <a16:creationId xmlns:a16="http://schemas.microsoft.com/office/drawing/2014/main" id="{B31F581A-B145-4E23-F6A7-15FB15CBDB9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5150" y="13906"/>
              <a:ext cx="23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419" name="Line 12">
              <a:extLst>
                <a:ext uri="{FF2B5EF4-FFF2-40B4-BE49-F238E27FC236}">
                  <a16:creationId xmlns:a16="http://schemas.microsoft.com/office/drawing/2014/main" id="{72C54A50-992C-A4F2-9B60-F616190AA6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69" y="13912"/>
              <a:ext cx="11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4377" name="Group 49">
            <a:extLst>
              <a:ext uri="{FF2B5EF4-FFF2-40B4-BE49-F238E27FC236}">
                <a16:creationId xmlns:a16="http://schemas.microsoft.com/office/drawing/2014/main" id="{6C82F569-C6A3-E1EC-8F4D-A6AAB36554AF}"/>
              </a:ext>
            </a:extLst>
          </p:cNvPr>
          <p:cNvGrpSpPr>
            <a:grpSpLocks/>
          </p:cNvGrpSpPr>
          <p:nvPr/>
        </p:nvGrpSpPr>
        <p:grpSpPr bwMode="auto">
          <a:xfrm>
            <a:off x="998538" y="2193925"/>
            <a:ext cx="1104900" cy="484188"/>
            <a:chOff x="1033" y="13787"/>
            <a:chExt cx="525" cy="240"/>
          </a:xfrm>
        </p:grpSpPr>
        <p:grpSp>
          <p:nvGrpSpPr>
            <p:cNvPr id="14405" name="Group 56">
              <a:extLst>
                <a:ext uri="{FF2B5EF4-FFF2-40B4-BE49-F238E27FC236}">
                  <a16:creationId xmlns:a16="http://schemas.microsoft.com/office/drawing/2014/main" id="{C3ACEEE8-189D-39F6-4C4B-B4C0044451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33" y="13787"/>
              <a:ext cx="239" cy="240"/>
              <a:chOff x="1033" y="13787"/>
              <a:chExt cx="239" cy="240"/>
            </a:xfrm>
          </p:grpSpPr>
          <p:sp>
            <p:nvSpPr>
              <p:cNvPr id="14412" name="Line 61">
                <a:extLst>
                  <a:ext uri="{FF2B5EF4-FFF2-40B4-BE49-F238E27FC236}">
                    <a16:creationId xmlns:a16="http://schemas.microsoft.com/office/drawing/2014/main" id="{D49E79EA-4B41-F9F6-93D2-81040B6131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3" y="13787"/>
                <a:ext cx="23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413" name="Line 60">
                <a:extLst>
                  <a:ext uri="{FF2B5EF4-FFF2-40B4-BE49-F238E27FC236}">
                    <a16:creationId xmlns:a16="http://schemas.microsoft.com/office/drawing/2014/main" id="{4D001115-C049-5BF8-E8A2-1D6C1077E9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3" y="14027"/>
                <a:ext cx="23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414" name="Line 59">
                <a:extLst>
                  <a:ext uri="{FF2B5EF4-FFF2-40B4-BE49-F238E27FC236}">
                    <a16:creationId xmlns:a16="http://schemas.microsoft.com/office/drawing/2014/main" id="{39E42B06-FF6B-2229-E2FF-4369AA3B89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1034" y="13906"/>
                <a:ext cx="23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415" name="Line 58">
                <a:extLst>
                  <a:ext uri="{FF2B5EF4-FFF2-40B4-BE49-F238E27FC236}">
                    <a16:creationId xmlns:a16="http://schemas.microsoft.com/office/drawing/2014/main" id="{E719DBB5-94D3-C903-83CE-B53F4689FF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3" y="13912"/>
                <a:ext cx="11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416" name="Line 57">
                <a:extLst>
                  <a:ext uri="{FF2B5EF4-FFF2-40B4-BE49-F238E27FC236}">
                    <a16:creationId xmlns:a16="http://schemas.microsoft.com/office/drawing/2014/main" id="{F73D6F08-9081-B9B6-FB74-ADE4CFB103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1016" y="13963"/>
                <a:ext cx="11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</p:grpSp>
        <p:grpSp>
          <p:nvGrpSpPr>
            <p:cNvPr id="14406" name="Group 50">
              <a:extLst>
                <a:ext uri="{FF2B5EF4-FFF2-40B4-BE49-F238E27FC236}">
                  <a16:creationId xmlns:a16="http://schemas.microsoft.com/office/drawing/2014/main" id="{FD7CA1BA-F445-8FDA-AF2D-9874C81FB4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19" y="13787"/>
              <a:ext cx="239" cy="240"/>
              <a:chOff x="1033" y="13787"/>
              <a:chExt cx="239" cy="240"/>
            </a:xfrm>
          </p:grpSpPr>
          <p:sp>
            <p:nvSpPr>
              <p:cNvPr id="14407" name="Line 55">
                <a:extLst>
                  <a:ext uri="{FF2B5EF4-FFF2-40B4-BE49-F238E27FC236}">
                    <a16:creationId xmlns:a16="http://schemas.microsoft.com/office/drawing/2014/main" id="{F40E2213-E42A-70DE-0A4D-2C40EAE8A8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3" y="13787"/>
                <a:ext cx="23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408" name="Line 54">
                <a:extLst>
                  <a:ext uri="{FF2B5EF4-FFF2-40B4-BE49-F238E27FC236}">
                    <a16:creationId xmlns:a16="http://schemas.microsoft.com/office/drawing/2014/main" id="{E19DA320-B787-105C-A31D-2EAAB311EA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3" y="14027"/>
                <a:ext cx="23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409" name="Line 53">
                <a:extLst>
                  <a:ext uri="{FF2B5EF4-FFF2-40B4-BE49-F238E27FC236}">
                    <a16:creationId xmlns:a16="http://schemas.microsoft.com/office/drawing/2014/main" id="{F936528D-3951-03D4-AC02-64C32EE388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1034" y="13906"/>
                <a:ext cx="23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410" name="Line 52">
                <a:extLst>
                  <a:ext uri="{FF2B5EF4-FFF2-40B4-BE49-F238E27FC236}">
                    <a16:creationId xmlns:a16="http://schemas.microsoft.com/office/drawing/2014/main" id="{9416C7F0-64CB-FB5D-DDA3-E56204DBF7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3" y="13912"/>
                <a:ext cx="11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411" name="Line 51">
                <a:extLst>
                  <a:ext uri="{FF2B5EF4-FFF2-40B4-BE49-F238E27FC236}">
                    <a16:creationId xmlns:a16="http://schemas.microsoft.com/office/drawing/2014/main" id="{231CB41B-0D11-004A-E795-7757D41A96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1016" y="13963"/>
                <a:ext cx="11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</p:grpSp>
      </p:grpSp>
      <p:grpSp>
        <p:nvGrpSpPr>
          <p:cNvPr id="14378" name="Group 27">
            <a:extLst>
              <a:ext uri="{FF2B5EF4-FFF2-40B4-BE49-F238E27FC236}">
                <a16:creationId xmlns:a16="http://schemas.microsoft.com/office/drawing/2014/main" id="{CF2F48D5-C96C-8582-A810-633BA44BDF49}"/>
              </a:ext>
            </a:extLst>
          </p:cNvPr>
          <p:cNvGrpSpPr>
            <a:grpSpLocks/>
          </p:cNvGrpSpPr>
          <p:nvPr/>
        </p:nvGrpSpPr>
        <p:grpSpPr bwMode="auto">
          <a:xfrm>
            <a:off x="2570163" y="2187575"/>
            <a:ext cx="1141412" cy="485775"/>
            <a:chOff x="569" y="5306"/>
            <a:chExt cx="543" cy="240"/>
          </a:xfrm>
        </p:grpSpPr>
        <p:grpSp>
          <p:nvGrpSpPr>
            <p:cNvPr id="14395" name="Group 34">
              <a:extLst>
                <a:ext uri="{FF2B5EF4-FFF2-40B4-BE49-F238E27FC236}">
                  <a16:creationId xmlns:a16="http://schemas.microsoft.com/office/drawing/2014/main" id="{9BDC6FA7-56D2-6E39-EB03-D95EBBCED7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3" y="5306"/>
              <a:ext cx="239" cy="238"/>
              <a:chOff x="873" y="5306"/>
              <a:chExt cx="239" cy="238"/>
            </a:xfrm>
          </p:grpSpPr>
          <p:sp>
            <p:nvSpPr>
              <p:cNvPr id="14402" name="Line 37">
                <a:extLst>
                  <a:ext uri="{FF2B5EF4-FFF2-40B4-BE49-F238E27FC236}">
                    <a16:creationId xmlns:a16="http://schemas.microsoft.com/office/drawing/2014/main" id="{BA991CDF-EC53-E45D-A8B9-A70301493D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73" y="5306"/>
                <a:ext cx="23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403" name="Line 36">
                <a:extLst>
                  <a:ext uri="{FF2B5EF4-FFF2-40B4-BE49-F238E27FC236}">
                    <a16:creationId xmlns:a16="http://schemas.microsoft.com/office/drawing/2014/main" id="{1D64BFC1-50A5-BE04-7003-1840BDFB82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874" y="5425"/>
                <a:ext cx="23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404" name="Line 35">
                <a:extLst>
                  <a:ext uri="{FF2B5EF4-FFF2-40B4-BE49-F238E27FC236}">
                    <a16:creationId xmlns:a16="http://schemas.microsoft.com/office/drawing/2014/main" id="{3323BB06-AD9B-D6F0-0536-FA33B2C887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3" y="5431"/>
                <a:ext cx="11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</p:grpSp>
        <p:grpSp>
          <p:nvGrpSpPr>
            <p:cNvPr id="14396" name="Group 28">
              <a:extLst>
                <a:ext uri="{FF2B5EF4-FFF2-40B4-BE49-F238E27FC236}">
                  <a16:creationId xmlns:a16="http://schemas.microsoft.com/office/drawing/2014/main" id="{41AD0CEE-7A0F-9021-9C66-5C8543DAED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9" y="5306"/>
              <a:ext cx="239" cy="240"/>
              <a:chOff x="569" y="5306"/>
              <a:chExt cx="239" cy="240"/>
            </a:xfrm>
          </p:grpSpPr>
          <p:sp>
            <p:nvSpPr>
              <p:cNvPr id="14397" name="Line 33">
                <a:extLst>
                  <a:ext uri="{FF2B5EF4-FFF2-40B4-BE49-F238E27FC236}">
                    <a16:creationId xmlns:a16="http://schemas.microsoft.com/office/drawing/2014/main" id="{90B13EE5-3071-322F-A23B-3A147B7119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5306"/>
                <a:ext cx="23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398" name="Line 32">
                <a:extLst>
                  <a:ext uri="{FF2B5EF4-FFF2-40B4-BE49-F238E27FC236}">
                    <a16:creationId xmlns:a16="http://schemas.microsoft.com/office/drawing/2014/main" id="{A9D210B4-6027-2536-ED43-58C81D0097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5546"/>
                <a:ext cx="23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399" name="Line 31">
                <a:extLst>
                  <a:ext uri="{FF2B5EF4-FFF2-40B4-BE49-F238E27FC236}">
                    <a16:creationId xmlns:a16="http://schemas.microsoft.com/office/drawing/2014/main" id="{9D51EF41-931B-FFD4-A251-8716C79F33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570" y="5425"/>
                <a:ext cx="23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400" name="Line 30">
                <a:extLst>
                  <a:ext uri="{FF2B5EF4-FFF2-40B4-BE49-F238E27FC236}">
                    <a16:creationId xmlns:a16="http://schemas.microsoft.com/office/drawing/2014/main" id="{43ABEC1A-CD14-39FE-D6E5-19B0CF0B90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9" y="5431"/>
                <a:ext cx="11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401" name="Line 29">
                <a:extLst>
                  <a:ext uri="{FF2B5EF4-FFF2-40B4-BE49-F238E27FC236}">
                    <a16:creationId xmlns:a16="http://schemas.microsoft.com/office/drawing/2014/main" id="{158781CA-DBE3-1D0C-6C49-C4F8C36848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552" y="5482"/>
                <a:ext cx="11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</p:grpSp>
      </p:grpSp>
      <p:grpSp>
        <p:nvGrpSpPr>
          <p:cNvPr id="14379" name="Group 38">
            <a:extLst>
              <a:ext uri="{FF2B5EF4-FFF2-40B4-BE49-F238E27FC236}">
                <a16:creationId xmlns:a16="http://schemas.microsoft.com/office/drawing/2014/main" id="{073196DB-AD17-8C8A-3EAE-F01E050F2578}"/>
              </a:ext>
            </a:extLst>
          </p:cNvPr>
          <p:cNvGrpSpPr>
            <a:grpSpLocks/>
          </p:cNvGrpSpPr>
          <p:nvPr/>
        </p:nvGrpSpPr>
        <p:grpSpPr bwMode="auto">
          <a:xfrm>
            <a:off x="4151313" y="2208213"/>
            <a:ext cx="1139825" cy="485775"/>
            <a:chOff x="569" y="5306"/>
            <a:chExt cx="543" cy="240"/>
          </a:xfrm>
        </p:grpSpPr>
        <p:grpSp>
          <p:nvGrpSpPr>
            <p:cNvPr id="14385" name="Group 45">
              <a:extLst>
                <a:ext uri="{FF2B5EF4-FFF2-40B4-BE49-F238E27FC236}">
                  <a16:creationId xmlns:a16="http://schemas.microsoft.com/office/drawing/2014/main" id="{13B1D322-1034-60BA-C536-C8A0666FD2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3" y="5306"/>
              <a:ext cx="239" cy="238"/>
              <a:chOff x="873" y="5306"/>
              <a:chExt cx="239" cy="238"/>
            </a:xfrm>
          </p:grpSpPr>
          <p:sp>
            <p:nvSpPr>
              <p:cNvPr id="14392" name="Line 48">
                <a:extLst>
                  <a:ext uri="{FF2B5EF4-FFF2-40B4-BE49-F238E27FC236}">
                    <a16:creationId xmlns:a16="http://schemas.microsoft.com/office/drawing/2014/main" id="{4E34FE2C-2A2F-07BB-363D-37D8EE844E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73" y="5306"/>
                <a:ext cx="23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393" name="Line 47">
                <a:extLst>
                  <a:ext uri="{FF2B5EF4-FFF2-40B4-BE49-F238E27FC236}">
                    <a16:creationId xmlns:a16="http://schemas.microsoft.com/office/drawing/2014/main" id="{D16F42C4-5BE3-7E95-CF92-A2B43068F6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874" y="5425"/>
                <a:ext cx="23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394" name="Line 46">
                <a:extLst>
                  <a:ext uri="{FF2B5EF4-FFF2-40B4-BE49-F238E27FC236}">
                    <a16:creationId xmlns:a16="http://schemas.microsoft.com/office/drawing/2014/main" id="{7B38D082-3651-B464-7DE2-0DCBA17779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3" y="5431"/>
                <a:ext cx="11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</p:grpSp>
        <p:grpSp>
          <p:nvGrpSpPr>
            <p:cNvPr id="14386" name="Group 39">
              <a:extLst>
                <a:ext uri="{FF2B5EF4-FFF2-40B4-BE49-F238E27FC236}">
                  <a16:creationId xmlns:a16="http://schemas.microsoft.com/office/drawing/2014/main" id="{04CD7B34-DECD-352F-62B9-3DC1E5F8B2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9" y="5306"/>
              <a:ext cx="239" cy="240"/>
              <a:chOff x="569" y="5306"/>
              <a:chExt cx="239" cy="240"/>
            </a:xfrm>
          </p:grpSpPr>
          <p:sp>
            <p:nvSpPr>
              <p:cNvPr id="14387" name="Line 44">
                <a:extLst>
                  <a:ext uri="{FF2B5EF4-FFF2-40B4-BE49-F238E27FC236}">
                    <a16:creationId xmlns:a16="http://schemas.microsoft.com/office/drawing/2014/main" id="{A8BC27F2-32D0-3A83-DA87-F88CD8447A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5306"/>
                <a:ext cx="23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388" name="Line 43">
                <a:extLst>
                  <a:ext uri="{FF2B5EF4-FFF2-40B4-BE49-F238E27FC236}">
                    <a16:creationId xmlns:a16="http://schemas.microsoft.com/office/drawing/2014/main" id="{E76CFF3F-6CF9-8786-B63F-E653A2D22A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5546"/>
                <a:ext cx="23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389" name="Line 42">
                <a:extLst>
                  <a:ext uri="{FF2B5EF4-FFF2-40B4-BE49-F238E27FC236}">
                    <a16:creationId xmlns:a16="http://schemas.microsoft.com/office/drawing/2014/main" id="{EF77B980-04CE-9FB7-4AA0-0E737C0AC0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570" y="5425"/>
                <a:ext cx="23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390" name="Line 41">
                <a:extLst>
                  <a:ext uri="{FF2B5EF4-FFF2-40B4-BE49-F238E27FC236}">
                    <a16:creationId xmlns:a16="http://schemas.microsoft.com/office/drawing/2014/main" id="{344C6530-6E0A-77D6-BDF8-4DD6B3F044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9" y="5431"/>
                <a:ext cx="11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391" name="Line 40">
                <a:extLst>
                  <a:ext uri="{FF2B5EF4-FFF2-40B4-BE49-F238E27FC236}">
                    <a16:creationId xmlns:a16="http://schemas.microsoft.com/office/drawing/2014/main" id="{8C02FC53-56FA-2925-BF9E-19094C9A14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552" y="5482"/>
                <a:ext cx="11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</p:grpSp>
      </p:grpSp>
      <p:sp>
        <p:nvSpPr>
          <p:cNvPr id="80" name="文字方塊 79">
            <a:extLst>
              <a:ext uri="{FF2B5EF4-FFF2-40B4-BE49-F238E27FC236}">
                <a16:creationId xmlns:a16="http://schemas.microsoft.com/office/drawing/2014/main" id="{F9C05F3B-D32B-19E7-0D38-5EE4E8197D4B}"/>
              </a:ext>
            </a:extLst>
          </p:cNvPr>
          <p:cNvSpPr txBox="1"/>
          <p:nvPr/>
        </p:nvSpPr>
        <p:spPr>
          <a:xfrm>
            <a:off x="1035050" y="3130550"/>
            <a:ext cx="60960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sz="2800" kern="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10</a:t>
            </a:r>
            <a:endParaRPr lang="zh-TW" altLang="en-US" sz="2800" kern="1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1" name="文字方塊 80">
            <a:extLst>
              <a:ext uri="{FF2B5EF4-FFF2-40B4-BE49-F238E27FC236}">
                <a16:creationId xmlns:a16="http://schemas.microsoft.com/office/drawing/2014/main" id="{702715D6-B46A-DE24-DB1C-A597A559C1A9}"/>
              </a:ext>
            </a:extLst>
          </p:cNvPr>
          <p:cNvSpPr txBox="1"/>
          <p:nvPr/>
        </p:nvSpPr>
        <p:spPr>
          <a:xfrm>
            <a:off x="2708275" y="3170238"/>
            <a:ext cx="423863" cy="5222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sz="2800" kern="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8</a:t>
            </a:r>
            <a:endParaRPr lang="zh-TW" altLang="en-US" sz="2800" kern="1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2" name="文字方塊 81">
            <a:extLst>
              <a:ext uri="{FF2B5EF4-FFF2-40B4-BE49-F238E27FC236}">
                <a16:creationId xmlns:a16="http://schemas.microsoft.com/office/drawing/2014/main" id="{4EA7C14E-2D3E-DFB8-6182-F25297FDFC92}"/>
              </a:ext>
            </a:extLst>
          </p:cNvPr>
          <p:cNvSpPr txBox="1"/>
          <p:nvPr/>
        </p:nvSpPr>
        <p:spPr>
          <a:xfrm>
            <a:off x="4297363" y="3154363"/>
            <a:ext cx="423862" cy="5222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sz="2800" kern="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8</a:t>
            </a:r>
            <a:endParaRPr lang="zh-TW" altLang="en-US" sz="2800" kern="1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3" name="文字方塊 82">
            <a:extLst>
              <a:ext uri="{FF2B5EF4-FFF2-40B4-BE49-F238E27FC236}">
                <a16:creationId xmlns:a16="http://schemas.microsoft.com/office/drawing/2014/main" id="{22430855-B8DA-7B8F-3652-ACFED8062972}"/>
              </a:ext>
            </a:extLst>
          </p:cNvPr>
          <p:cNvSpPr txBox="1"/>
          <p:nvPr/>
        </p:nvSpPr>
        <p:spPr>
          <a:xfrm>
            <a:off x="5848350" y="3152775"/>
            <a:ext cx="423863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sz="2800" kern="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9</a:t>
            </a:r>
            <a:endParaRPr lang="zh-TW" altLang="en-US" sz="2800" kern="1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4" name="文字方塊 83">
            <a:extLst>
              <a:ext uri="{FF2B5EF4-FFF2-40B4-BE49-F238E27FC236}">
                <a16:creationId xmlns:a16="http://schemas.microsoft.com/office/drawing/2014/main" id="{0A5CC546-28FF-CA23-F1B8-893CA508B96D}"/>
              </a:ext>
            </a:extLst>
          </p:cNvPr>
          <p:cNvSpPr txBox="1"/>
          <p:nvPr/>
        </p:nvSpPr>
        <p:spPr>
          <a:xfrm>
            <a:off x="7446963" y="3152775"/>
            <a:ext cx="423862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sz="2800" kern="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endParaRPr lang="zh-TW" altLang="en-US" sz="2800" kern="1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9" grpId="0"/>
      <p:bldP spid="20" grpId="0"/>
      <p:bldP spid="21" grpId="0"/>
      <p:bldP spid="22" grpId="0"/>
      <p:bldP spid="80" grpId="0"/>
      <p:bldP spid="81" grpId="0"/>
      <p:bldP spid="82" grpId="0"/>
      <p:bldP spid="83" grpId="0"/>
      <p:bldP spid="8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15">
            <a:extLst>
              <a:ext uri="{FF2B5EF4-FFF2-40B4-BE49-F238E27FC236}">
                <a16:creationId xmlns:a16="http://schemas.microsoft.com/office/drawing/2014/main" id="{8B79F15D-D079-FBE4-4A05-303DBBEFF3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-9525"/>
            <a:ext cx="6848476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363" name="文字方塊 4">
            <a:extLst>
              <a:ext uri="{FF2B5EF4-FFF2-40B4-BE49-F238E27FC236}">
                <a16:creationId xmlns:a16="http://schemas.microsoft.com/office/drawing/2014/main" id="{0DCF3F69-8197-FEEA-D59D-AB95E3C176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8325" y="590550"/>
            <a:ext cx="220186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TW" altLang="en-US" sz="1800"/>
          </a:p>
        </p:txBody>
      </p:sp>
      <p:sp>
        <p:nvSpPr>
          <p:cNvPr id="15364" name="矩形 4">
            <a:extLst>
              <a:ext uri="{FF2B5EF4-FFF2-40B4-BE49-F238E27FC236}">
                <a16:creationId xmlns:a16="http://schemas.microsoft.com/office/drawing/2014/main" id="{1AA3D962-EF3F-69B2-4B4C-00CB7A7E41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9875" y="2063750"/>
            <a:ext cx="9032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快來</a:t>
            </a:r>
            <a:r>
              <a:rPr lang="zh-TW" altLang="en-US" sz="1400">
                <a:latin typeface="DFYuanStd-W3"/>
              </a:rPr>
              <a:t>～</a:t>
            </a:r>
            <a:endParaRPr lang="zh-TW" altLang="en-US" sz="1400"/>
          </a:p>
        </p:txBody>
      </p:sp>
      <p:sp>
        <p:nvSpPr>
          <p:cNvPr id="15365" name="矩形 7">
            <a:extLst>
              <a:ext uri="{FF2B5EF4-FFF2-40B4-BE49-F238E27FC236}">
                <a16:creationId xmlns:a16="http://schemas.microsoft.com/office/drawing/2014/main" id="{B8930C61-F8DD-FC05-12A2-C3A0B627BE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6263" y="5410200"/>
            <a:ext cx="12604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2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310</a:t>
            </a:r>
            <a:r>
              <a:rPr lang="zh-TW" altLang="en-US" sz="12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可以到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2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陽明山</a:t>
            </a:r>
            <a:r>
              <a:rPr lang="zh-TW" altLang="en-US" sz="12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嗎</a:t>
            </a:r>
            <a:r>
              <a:rPr lang="zh-TW" alt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15366" name="矩形 8">
            <a:extLst>
              <a:ext uri="{FF2B5EF4-FFF2-40B4-BE49-F238E27FC236}">
                <a16:creationId xmlns:a16="http://schemas.microsoft.com/office/drawing/2014/main" id="{1E27F2F6-7BAF-7694-4AC6-3057E5BDFF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2975" y="876300"/>
            <a:ext cx="5791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800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陽明山</a:t>
            </a: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有</a:t>
            </a:r>
            <a:r>
              <a:rPr lang="zh-TW" altLang="en-US" sz="18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一</a:t>
            </a: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個漂亮的花鐘</a:t>
            </a:r>
            <a:r>
              <a:rPr lang="zh-TW" altLang="en-US" sz="1800">
                <a:latin typeface="DFYuanStd-W3"/>
              </a:rPr>
              <a:t>，</a:t>
            </a:r>
            <a:r>
              <a:rPr lang="zh-TW" altLang="en-US" sz="1800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妙妙</a:t>
            </a: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跟</a:t>
            </a:r>
            <a:r>
              <a:rPr lang="zh-TW" altLang="en-US" sz="1800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妮妮</a:t>
            </a: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先出發了</a:t>
            </a:r>
            <a:r>
              <a:rPr lang="zh-TW" altLang="en-US" sz="1800">
                <a:latin typeface="DFYuanStd-W3"/>
              </a:rPr>
              <a:t>，</a:t>
            </a: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我們趕快去集合</a:t>
            </a:r>
            <a:r>
              <a:rPr lang="en-US" altLang="zh-TW" sz="1800">
                <a:latin typeface="DFYuanStd-W3"/>
              </a:rPr>
              <a:t>……</a:t>
            </a:r>
            <a:endParaRPr lang="zh-TW" altLang="en-US" sz="1800"/>
          </a:p>
        </p:txBody>
      </p:sp>
      <p:sp>
        <p:nvSpPr>
          <p:cNvPr id="15367" name="矩形 9">
            <a:extLst>
              <a:ext uri="{FF2B5EF4-FFF2-40B4-BE49-F238E27FC236}">
                <a16:creationId xmlns:a16="http://schemas.microsoft.com/office/drawing/2014/main" id="{667C8D3C-9E2D-5065-6750-FA9A170976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7250" y="306388"/>
            <a:ext cx="22256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32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統計表</a:t>
            </a:r>
            <a:endParaRPr lang="zh-TW" altLang="en-US" sz="320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6308A9F-BAEA-CBA8-85A3-ED596710F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1513" y="0"/>
            <a:ext cx="2122487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哪</a:t>
            </a:r>
            <a:r>
              <a:rPr lang="zh-TW" altLang="en-US" sz="18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班公車可以搭到</a:t>
            </a:r>
            <a:r>
              <a:rPr lang="zh-TW" altLang="en-US" sz="1800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陽明山</a:t>
            </a:r>
            <a:r>
              <a:rPr lang="zh-TW" altLang="en-US" sz="1800">
                <a:latin typeface="DFYuanStd-W3"/>
              </a:rPr>
              <a:t>？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B6E340C-6626-A53C-5499-498E9D5EE6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7813" y="-1588"/>
            <a:ext cx="431800" cy="377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E3B5EA15-FCB4-24A6-1C70-A2FC89FDB4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3588" y="1238250"/>
            <a:ext cx="1968500" cy="130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00E40C5-E74E-33CD-ABFB-3A2C1EEC95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950" y="2860675"/>
            <a:ext cx="191135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92423B80-4C1C-FFED-A44E-E539EF5DCEE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3588" y="4668838"/>
            <a:ext cx="1997075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B846975A-D13D-38F8-64B0-C09A728CA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6563" y="561975"/>
            <a:ext cx="3381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endParaRPr kumimoji="1"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標題 1">
            <a:extLst>
              <a:ext uri="{FF2B5EF4-FFF2-40B4-BE49-F238E27FC236}">
                <a16:creationId xmlns:a16="http://schemas.microsoft.com/office/drawing/2014/main" id="{31D3F365-41DE-6913-CCE3-150CD04156FA}"/>
              </a:ext>
            </a:extLst>
          </p:cNvPr>
          <p:cNvSpPr txBox="1">
            <a:spLocks/>
          </p:cNvSpPr>
          <p:nvPr/>
        </p:nvSpPr>
        <p:spPr bwMode="auto">
          <a:xfrm>
            <a:off x="606425" y="3681413"/>
            <a:ext cx="8161338" cy="132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第</a:t>
            </a:r>
            <a:r>
              <a:rPr lang="en-US" altLang="zh-TW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9</a:t>
            </a: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單元</a:t>
            </a:r>
            <a:endParaRPr lang="en-US" altLang="zh-TW" sz="5500" b="1">
              <a:solidFill>
                <a:srgbClr val="0099CC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Arial" panose="020B0604020202020204" pitchFamily="34" charset="0"/>
            </a:endParaRPr>
          </a:p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統計表</a:t>
            </a:r>
            <a:endParaRPr lang="en-US" altLang="zh-TW" sz="5500" b="1">
              <a:solidFill>
                <a:srgbClr val="0099CC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Arial" panose="020B0604020202020204" pitchFamily="34" charset="0"/>
            </a:endParaRPr>
          </a:p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活動１ 報讀一維表格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矩形 11">
            <a:extLst>
              <a:ext uri="{FF2B5EF4-FFF2-40B4-BE49-F238E27FC236}">
                <a16:creationId xmlns:a16="http://schemas.microsoft.com/office/drawing/2014/main" id="{D18E0B61-D13E-8958-E3BF-CDAE04286D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388" y="-7938"/>
            <a:ext cx="871855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7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早餐是</a:t>
            </a:r>
            <a:r>
              <a:rPr lang="zh-TW" altLang="en-US" sz="27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 sz="27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天的活力泉源</a:t>
            </a:r>
            <a:r>
              <a:rPr lang="zh-TW" altLang="en-US" sz="27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7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要吃得營養又健康</a:t>
            </a:r>
            <a:r>
              <a:rPr lang="zh-TW" altLang="en-US" sz="2700">
                <a:latin typeface="標楷體" panose="03000509000000000000" pitchFamily="65" charset="-120"/>
                <a:ea typeface="標楷體" panose="03000509000000000000" pitchFamily="65" charset="-120"/>
              </a:rPr>
              <a:t>！</a:t>
            </a:r>
            <a:r>
              <a:rPr lang="zh-TW" altLang="en-US" sz="27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下面是</a:t>
            </a:r>
            <a:r>
              <a:rPr lang="zh-TW" altLang="en-US" sz="2700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快樂早餐店</a:t>
            </a:r>
            <a:r>
              <a:rPr lang="zh-TW" altLang="en-US" sz="27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的價目表</a:t>
            </a:r>
            <a:r>
              <a:rPr lang="zh-TW" altLang="en-US" sz="27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pic>
        <p:nvPicPr>
          <p:cNvPr id="17411" name="圖片 1">
            <a:extLst>
              <a:ext uri="{FF2B5EF4-FFF2-40B4-BE49-F238E27FC236}">
                <a16:creationId xmlns:a16="http://schemas.microsoft.com/office/drawing/2014/main" id="{1409EF8E-6126-AC82-4E52-21DCD5533E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22225"/>
            <a:ext cx="441325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2" name="圖片 1">
            <a:extLst>
              <a:ext uri="{FF2B5EF4-FFF2-40B4-BE49-F238E27FC236}">
                <a16:creationId xmlns:a16="http://schemas.microsoft.com/office/drawing/2014/main" id="{DDC3FD8D-A83B-A688-1743-D69EE22D40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813" y="930275"/>
            <a:ext cx="8588375" cy="353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3" name="圖片 15">
            <a:extLst>
              <a:ext uri="{FF2B5EF4-FFF2-40B4-BE49-F238E27FC236}">
                <a16:creationId xmlns:a16="http://schemas.microsoft.com/office/drawing/2014/main" id="{F17836FA-DF1F-F242-84A5-A3BBEDC52F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825" y="4564063"/>
            <a:ext cx="366713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4" name="矩形 17">
            <a:extLst>
              <a:ext uri="{FF2B5EF4-FFF2-40B4-BE49-F238E27FC236}">
                <a16:creationId xmlns:a16="http://schemas.microsoft.com/office/drawing/2014/main" id="{A8047A61-5498-70D4-C4A9-3ADEE7AEBE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1538" y="4243388"/>
            <a:ext cx="4419600" cy="219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三明治類中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endParaRPr lang="en-US" altLang="zh-TW" sz="240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哪</a:t>
            </a:r>
            <a:r>
              <a:rPr lang="zh-TW" altLang="en-US" sz="24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種最貴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  <a:endParaRPr lang="en-US" altLang="zh-TW" sz="240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哪</a:t>
            </a:r>
            <a:r>
              <a:rPr lang="zh-TW" altLang="en-US" sz="24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種最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便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宜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30E5B63-61CC-F845-B89E-F5C27B2ECB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7150" y="5588000"/>
            <a:ext cx="17224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總匯三明治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7B1EB1F-8109-D1FC-C541-C27D3D8D59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9175" y="6319838"/>
            <a:ext cx="25019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玉米蛋三明治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41D4EED-EAFF-8D96-42F1-021E2BA157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5975" y="5373688"/>
            <a:ext cx="708025" cy="148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圓角矩形圖說文字 20">
            <a:extLst>
              <a:ext uri="{FF2B5EF4-FFF2-40B4-BE49-F238E27FC236}">
                <a16:creationId xmlns:a16="http://schemas.microsoft.com/office/drawing/2014/main" id="{A3D0BB16-BADF-F969-9EFC-6703F47B60DD}"/>
              </a:ext>
            </a:extLst>
          </p:cNvPr>
          <p:cNvSpPr/>
          <p:nvPr/>
        </p:nvSpPr>
        <p:spPr bwMode="auto">
          <a:xfrm>
            <a:off x="4716463" y="4538663"/>
            <a:ext cx="3544887" cy="2095500"/>
          </a:xfrm>
          <a:prstGeom prst="wedgeRoundRectCallout">
            <a:avLst>
              <a:gd name="adj1" fmla="val 56212"/>
              <a:gd name="adj2" fmla="val -7252"/>
              <a:gd name="adj3" fmla="val 16667"/>
            </a:avLst>
          </a:prstGeom>
          <a:solidFill>
            <a:schemeClr val="bg1"/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TW" altLang="en-US" sz="20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我先看三明治類</a:t>
            </a:r>
            <a:r>
              <a:rPr lang="zh-TW" altLang="en-US" sz="2000" dirty="0">
                <a:solidFill>
                  <a:schemeClr val="tx1"/>
                </a:solidFill>
                <a:latin typeface="DFYuanStd-W3"/>
              </a:rPr>
              <a:t>，</a:t>
            </a:r>
            <a:r>
              <a:rPr lang="zh-TW" altLang="en-US" sz="20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再比較</a:t>
            </a:r>
            <a:r>
              <a:rPr lang="en-US" altLang="zh-TW" sz="2000" dirty="0">
                <a:solidFill>
                  <a:schemeClr val="tx1"/>
                </a:solidFill>
                <a:latin typeface="DFYuanStd-W3"/>
              </a:rPr>
              <a:t>……</a:t>
            </a:r>
          </a:p>
          <a:p>
            <a:pPr>
              <a:defRPr/>
            </a:pPr>
            <a:endParaRPr lang="en-US" altLang="zh-TW" sz="2000" dirty="0">
              <a:solidFill>
                <a:schemeClr val="tx1"/>
              </a:solidFill>
              <a:latin typeface="DFYuanStd-W3"/>
            </a:endParaRPr>
          </a:p>
          <a:p>
            <a:pPr>
              <a:defRPr/>
            </a:pPr>
            <a:endParaRPr lang="en-US" altLang="zh-TW" sz="2000" dirty="0">
              <a:solidFill>
                <a:schemeClr val="tx1"/>
              </a:solidFill>
              <a:latin typeface="DFYuanStd-W3"/>
            </a:endParaRPr>
          </a:p>
          <a:p>
            <a:pPr>
              <a:defRPr/>
            </a:pPr>
            <a:endParaRPr lang="en-US" altLang="zh-TW" sz="2000" dirty="0">
              <a:solidFill>
                <a:schemeClr val="tx1"/>
              </a:solidFill>
              <a:latin typeface="DFYuanStd-W3"/>
            </a:endParaRPr>
          </a:p>
          <a:p>
            <a:pPr>
              <a:defRPr/>
            </a:pPr>
            <a:endParaRPr lang="zh-TW" altLang="en-US" sz="2000" dirty="0">
              <a:solidFill>
                <a:schemeClr val="tx1"/>
              </a:solidFill>
              <a:latin typeface="DFYuanStd-W3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9F14052-4A4A-E065-7699-DEC04E1836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3638" y="5295900"/>
            <a:ext cx="3017837" cy="125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矩形 11">
            <a:extLst>
              <a:ext uri="{FF2B5EF4-FFF2-40B4-BE49-F238E27FC236}">
                <a16:creationId xmlns:a16="http://schemas.microsoft.com/office/drawing/2014/main" id="{157A63AF-0A16-B122-6E0A-C048FF5D45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388" y="-7938"/>
            <a:ext cx="871855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7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早餐是</a:t>
            </a:r>
            <a:r>
              <a:rPr lang="zh-TW" altLang="en-US" sz="27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 sz="27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天的活力泉源</a:t>
            </a:r>
            <a:r>
              <a:rPr lang="zh-TW" altLang="en-US" sz="27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7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要吃得營養又健康</a:t>
            </a:r>
            <a:r>
              <a:rPr lang="zh-TW" altLang="en-US" sz="2700">
                <a:latin typeface="標楷體" panose="03000509000000000000" pitchFamily="65" charset="-120"/>
                <a:ea typeface="標楷體" panose="03000509000000000000" pitchFamily="65" charset="-120"/>
              </a:rPr>
              <a:t>！</a:t>
            </a:r>
            <a:r>
              <a:rPr lang="zh-TW" altLang="en-US" sz="27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下面是</a:t>
            </a:r>
            <a:r>
              <a:rPr lang="zh-TW" altLang="en-US" sz="2700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快樂早餐店</a:t>
            </a:r>
            <a:r>
              <a:rPr lang="zh-TW" altLang="en-US" sz="27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的價目表</a:t>
            </a:r>
            <a:r>
              <a:rPr lang="zh-TW" altLang="en-US" sz="27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pic>
        <p:nvPicPr>
          <p:cNvPr id="18435" name="圖片 1">
            <a:extLst>
              <a:ext uri="{FF2B5EF4-FFF2-40B4-BE49-F238E27FC236}">
                <a16:creationId xmlns:a16="http://schemas.microsoft.com/office/drawing/2014/main" id="{3EAD97AD-C390-C2F3-FF28-3C75734A68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22225"/>
            <a:ext cx="441325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6" name="圖片 1">
            <a:extLst>
              <a:ext uri="{FF2B5EF4-FFF2-40B4-BE49-F238E27FC236}">
                <a16:creationId xmlns:a16="http://schemas.microsoft.com/office/drawing/2014/main" id="{BDDD4228-3873-5991-A1BD-EF40932249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8" y="930275"/>
            <a:ext cx="8588375" cy="353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7" name="矩形 17">
            <a:extLst>
              <a:ext uri="{FF2B5EF4-FFF2-40B4-BE49-F238E27FC236}">
                <a16:creationId xmlns:a16="http://schemas.microsoft.com/office/drawing/2014/main" id="{CC987DFF-EFE3-6BF3-AC28-AAB232CDF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1538" y="4243388"/>
            <a:ext cx="8272462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哪</a:t>
            </a:r>
            <a:r>
              <a:rPr lang="zh-TW" altLang="en-US" sz="24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種餐點的價格</a:t>
            </a:r>
            <a:r>
              <a:rPr lang="zh-TW" altLang="en-US" sz="24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和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起司蔬菜堡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一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樣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E05FEC4-D69B-2A12-EBE8-25A7B788FD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1638" y="4946650"/>
            <a:ext cx="203041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肉鬆蛋三明治</a:t>
            </a:r>
          </a:p>
        </p:txBody>
      </p:sp>
      <p:pic>
        <p:nvPicPr>
          <p:cNvPr id="18439" name="圖片 16">
            <a:extLst>
              <a:ext uri="{FF2B5EF4-FFF2-40B4-BE49-F238E27FC236}">
                <a16:creationId xmlns:a16="http://schemas.microsoft.com/office/drawing/2014/main" id="{0A84FAED-5EBD-2AC4-FFD4-D56552995A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50" y="4516438"/>
            <a:ext cx="366713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矩形 11">
            <a:extLst>
              <a:ext uri="{FF2B5EF4-FFF2-40B4-BE49-F238E27FC236}">
                <a16:creationId xmlns:a16="http://schemas.microsoft.com/office/drawing/2014/main" id="{0E7B9371-8881-7634-959E-9164A21DCB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388" y="-7938"/>
            <a:ext cx="871855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7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早餐是</a:t>
            </a:r>
            <a:r>
              <a:rPr lang="zh-TW" altLang="en-US" sz="27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 sz="27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天的活力泉源</a:t>
            </a:r>
            <a:r>
              <a:rPr lang="zh-TW" altLang="en-US" sz="27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7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要吃得營養又健康</a:t>
            </a:r>
            <a:r>
              <a:rPr lang="zh-TW" altLang="en-US" sz="2700">
                <a:latin typeface="標楷體" panose="03000509000000000000" pitchFamily="65" charset="-120"/>
                <a:ea typeface="標楷體" panose="03000509000000000000" pitchFamily="65" charset="-120"/>
              </a:rPr>
              <a:t>！</a:t>
            </a:r>
            <a:r>
              <a:rPr lang="zh-TW" altLang="en-US" sz="27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下面是</a:t>
            </a:r>
            <a:r>
              <a:rPr lang="zh-TW" altLang="en-US" sz="2700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快樂早餐店</a:t>
            </a:r>
            <a:r>
              <a:rPr lang="zh-TW" altLang="en-US" sz="27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的價目表</a:t>
            </a:r>
            <a:r>
              <a:rPr lang="zh-TW" altLang="en-US" sz="27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pic>
        <p:nvPicPr>
          <p:cNvPr id="19459" name="圖片 1">
            <a:extLst>
              <a:ext uri="{FF2B5EF4-FFF2-40B4-BE49-F238E27FC236}">
                <a16:creationId xmlns:a16="http://schemas.microsoft.com/office/drawing/2014/main" id="{4C17CE4D-33AF-6B78-35FF-90DBCC1586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22225"/>
            <a:ext cx="441325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0" name="圖片 1">
            <a:extLst>
              <a:ext uri="{FF2B5EF4-FFF2-40B4-BE49-F238E27FC236}">
                <a16:creationId xmlns:a16="http://schemas.microsoft.com/office/drawing/2014/main" id="{B6DEDA2D-4DEF-9498-782C-5340B34781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813" y="930275"/>
            <a:ext cx="8588375" cy="353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1" name="矩形 17">
            <a:extLst>
              <a:ext uri="{FF2B5EF4-FFF2-40B4-BE49-F238E27FC236}">
                <a16:creationId xmlns:a16="http://schemas.microsoft.com/office/drawing/2014/main" id="{9838CED5-6A4B-932C-5077-842181B9EE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1538" y="4478338"/>
            <a:ext cx="8272462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品妍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買 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 </a:t>
            </a:r>
            <a:r>
              <a:rPr lang="en-US" altLang="zh-TW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 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份鮪魚蛋三明治</a:t>
            </a:r>
            <a:r>
              <a:rPr lang="zh-TW" altLang="en-US" sz="24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和 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1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 </a:t>
            </a:r>
            <a:r>
              <a:rPr lang="en-US" altLang="zh-TW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 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杯牛奶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endParaRPr lang="en-US" altLang="zh-TW" sz="240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共要付多少元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870364F-7E3B-B48D-3B5C-649992AE8A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2725" y="4848225"/>
            <a:ext cx="17240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45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＋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25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70</a:t>
            </a:r>
            <a:endParaRPr kumimoji="1"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9463" name="圖片 5">
            <a:extLst>
              <a:ext uri="{FF2B5EF4-FFF2-40B4-BE49-F238E27FC236}">
                <a16:creationId xmlns:a16="http://schemas.microsoft.com/office/drawing/2014/main" id="{D192E0C8-BD6F-4936-6CD3-9C82D6D7A9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100" y="4533900"/>
            <a:ext cx="352425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B9D28844-C0AD-3AA9-B29E-1C17A2BC2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2188" y="5310188"/>
            <a:ext cx="14160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答：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70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元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矩形 11">
            <a:extLst>
              <a:ext uri="{FF2B5EF4-FFF2-40B4-BE49-F238E27FC236}">
                <a16:creationId xmlns:a16="http://schemas.microsoft.com/office/drawing/2014/main" id="{BCB4CADB-C1BC-A241-79C5-3BE85C753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388" y="-7938"/>
            <a:ext cx="871855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7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早餐是</a:t>
            </a:r>
            <a:r>
              <a:rPr lang="zh-TW" altLang="en-US" sz="27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 sz="27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天的活力泉源</a:t>
            </a:r>
            <a:r>
              <a:rPr lang="zh-TW" altLang="en-US" sz="27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7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要吃得營養又健康</a:t>
            </a:r>
            <a:r>
              <a:rPr lang="zh-TW" altLang="en-US" sz="2700">
                <a:latin typeface="標楷體" panose="03000509000000000000" pitchFamily="65" charset="-120"/>
                <a:ea typeface="標楷體" panose="03000509000000000000" pitchFamily="65" charset="-120"/>
              </a:rPr>
              <a:t>！</a:t>
            </a:r>
            <a:r>
              <a:rPr lang="zh-TW" altLang="en-US" sz="27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下面是</a:t>
            </a:r>
            <a:r>
              <a:rPr lang="zh-TW" altLang="en-US" sz="2700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快樂早餐店</a:t>
            </a:r>
            <a:r>
              <a:rPr lang="zh-TW" altLang="en-US" sz="27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的價目表</a:t>
            </a:r>
            <a:r>
              <a:rPr lang="zh-TW" altLang="en-US" sz="27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pic>
        <p:nvPicPr>
          <p:cNvPr id="20483" name="圖片 1">
            <a:extLst>
              <a:ext uri="{FF2B5EF4-FFF2-40B4-BE49-F238E27FC236}">
                <a16:creationId xmlns:a16="http://schemas.microsoft.com/office/drawing/2014/main" id="{C8AFCE1A-2DB9-32A7-98EB-83967A3BC0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22225"/>
            <a:ext cx="441325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4" name="圖片 1">
            <a:extLst>
              <a:ext uri="{FF2B5EF4-FFF2-40B4-BE49-F238E27FC236}">
                <a16:creationId xmlns:a16="http://schemas.microsoft.com/office/drawing/2014/main" id="{14D9E5F2-11D4-9145-695E-CC976E44B4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813" y="930275"/>
            <a:ext cx="8588375" cy="353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5" name="矩形 17">
            <a:extLst>
              <a:ext uri="{FF2B5EF4-FFF2-40B4-BE49-F238E27FC236}">
                <a16:creationId xmlns:a16="http://schemas.microsoft.com/office/drawing/2014/main" id="{4A723179-6736-AB5E-F3B0-C24B7C10F4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1538" y="4478338"/>
            <a:ext cx="8272462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如果你帶 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100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元去買早餐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想要買 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份三明治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 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 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份漢堡</a:t>
            </a:r>
            <a:r>
              <a:rPr lang="zh-TW" altLang="en-US" sz="2400">
                <a:latin typeface="Times New Roman" panose="02020603050405020304" pitchFamily="18" charset="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和 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 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杯飲料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你會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怎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麼買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pic>
        <p:nvPicPr>
          <p:cNvPr id="20486" name="圖片 2">
            <a:extLst>
              <a:ext uri="{FF2B5EF4-FFF2-40B4-BE49-F238E27FC236}">
                <a16:creationId xmlns:a16="http://schemas.microsoft.com/office/drawing/2014/main" id="{C41764BD-6ECB-4B1A-5394-9BC995E090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275" y="4522788"/>
            <a:ext cx="354013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173B2025-246D-2482-C5B7-11E7D82DF3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27650"/>
            <a:ext cx="1081088" cy="153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7" name="矩形 11">
            <a:extLst>
              <a:ext uri="{FF2B5EF4-FFF2-40B4-BE49-F238E27FC236}">
                <a16:creationId xmlns:a16="http://schemas.microsoft.com/office/drawing/2014/main" id="{995E8AE9-3A66-5F81-E4AC-19672FADD3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38" y="77788"/>
            <a:ext cx="871855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7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下面是</a:t>
            </a:r>
            <a:r>
              <a:rPr lang="zh-TW" altLang="en-US" sz="2700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科博館</a:t>
            </a:r>
            <a:r>
              <a:rPr lang="zh-TW" altLang="en-US" sz="27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展示</a:t>
            </a:r>
            <a:r>
              <a:rPr lang="zh-TW" altLang="en-US" sz="27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場</a:t>
            </a:r>
            <a:r>
              <a:rPr lang="zh-TW" altLang="en-US" sz="27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的票價表</a:t>
            </a:r>
            <a:r>
              <a:rPr lang="zh-TW" altLang="en-US" sz="27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pic>
        <p:nvPicPr>
          <p:cNvPr id="21508" name="圖片 2">
            <a:extLst>
              <a:ext uri="{FF2B5EF4-FFF2-40B4-BE49-F238E27FC236}">
                <a16:creationId xmlns:a16="http://schemas.microsoft.com/office/drawing/2014/main" id="{294DF7A8-E370-6FE0-D1A8-3834451D3F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" y="92075"/>
            <a:ext cx="446088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9798531-DA7D-5D2E-89E2-F85782E6A189}"/>
              </a:ext>
            </a:extLst>
          </p:cNvPr>
          <p:cNvGraphicFramePr>
            <a:graphicFrameLocks noGrp="1"/>
          </p:cNvGraphicFramePr>
          <p:nvPr/>
        </p:nvGraphicFramePr>
        <p:xfrm>
          <a:off x="34925" y="641350"/>
          <a:ext cx="6753225" cy="3338513"/>
        </p:xfrm>
        <a:graphic>
          <a:graphicData uri="http://schemas.openxmlformats.org/drawingml/2006/table">
            <a:tbl>
              <a:tblPr firstRow="1" bandRow="1">
                <a:tableStyleId>{5EF00A0C-396C-4BD8-A62D-F509AEB4C581}</a:tableStyleId>
              </a:tblPr>
              <a:tblGrid>
                <a:gridCol w="3376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6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票種</a:t>
                      </a:r>
                    </a:p>
                  </a:txBody>
                  <a:tcPr marT="45733" marB="45733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票價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T="45733" marB="45733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書法中楷（破音三）" panose="02010609010101010101" pitchFamily="49" charset="-120"/>
                          <a:ea typeface="書法中楷（破音三）" panose="02010609010101010101" pitchFamily="49" charset="-120"/>
                          <a:cs typeface="Times New Roman" panose="02020603050405020304" pitchFamily="18" charset="0"/>
                        </a:rPr>
                        <a:t>一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般觀眾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100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元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12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歲以上學生</a:t>
                      </a:r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 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70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元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歲以上未滿</a:t>
                      </a:r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12 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歲兒童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50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元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未滿</a:t>
                      </a:r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6 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歲兒童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免費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個人以上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書法中楷（破音三）" panose="02010609010101010101" pitchFamily="49" charset="-120"/>
                          <a:ea typeface="書法中楷（破音三）" panose="02010609010101010101" pitchFamily="49" charset="-120"/>
                          <a:cs typeface="Times New Roman" panose="02020603050405020304" pitchFamily="18" charset="0"/>
                        </a:rPr>
                        <a:t>一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般團體 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70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元</a:t>
                      </a:r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人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個人以上學生團體 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50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元</a:t>
                      </a:r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人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滿</a:t>
                      </a:r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65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歲以上</a:t>
                      </a:r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書法中楷（破音二）" panose="02010609010101010101" pitchFamily="49" charset="-120"/>
                          <a:ea typeface="書法中楷（破音二）" panose="02010609010101010101" pitchFamily="49" charset="-120"/>
                          <a:cs typeface="Times New Roman" panose="02020603050405020304" pitchFamily="18" charset="0"/>
                        </a:rPr>
                        <a:t>假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日</a:t>
                      </a:r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) 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50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元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滿</a:t>
                      </a:r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65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歲以上</a:t>
                      </a:r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平日</a:t>
                      </a:r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) 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免費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21541" name="圖片 1">
            <a:extLst>
              <a:ext uri="{FF2B5EF4-FFF2-40B4-BE49-F238E27FC236}">
                <a16:creationId xmlns:a16="http://schemas.microsoft.com/office/drawing/2014/main" id="{BAA0569D-23B3-1A07-33F0-0450CAA327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4675" y="2416175"/>
            <a:ext cx="1204913" cy="1497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圓角矩形圖說文字 9">
            <a:extLst>
              <a:ext uri="{FF2B5EF4-FFF2-40B4-BE49-F238E27FC236}">
                <a16:creationId xmlns:a16="http://schemas.microsoft.com/office/drawing/2014/main" id="{203FFEDD-83EA-FB25-77E7-B124D50D95F9}"/>
              </a:ext>
            </a:extLst>
          </p:cNvPr>
          <p:cNvSpPr/>
          <p:nvPr/>
        </p:nvSpPr>
        <p:spPr bwMode="auto">
          <a:xfrm>
            <a:off x="6842125" y="549275"/>
            <a:ext cx="2241550" cy="1524000"/>
          </a:xfrm>
          <a:prstGeom prst="wedgeRoundRectCallout">
            <a:avLst>
              <a:gd name="adj1" fmla="val -21786"/>
              <a:gd name="adj2" fmla="val 63164"/>
              <a:gd name="adj3" fmla="val 16667"/>
            </a:avLst>
          </a:prstGeom>
          <a:solidFill>
            <a:srgbClr val="FFE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70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元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人表示</a:t>
            </a:r>
          </a:p>
          <a:p>
            <a:pPr>
              <a:defRPr/>
            </a:pPr>
            <a:r>
              <a:rPr lang="zh-TW" altLang="en-US" sz="2000" dirty="0">
                <a:solidFill>
                  <a:schemeClr val="tx1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個人的票價是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70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元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21543" name="圖片 15">
            <a:extLst>
              <a:ext uri="{FF2B5EF4-FFF2-40B4-BE49-F238E27FC236}">
                <a16:creationId xmlns:a16="http://schemas.microsoft.com/office/drawing/2014/main" id="{345959AB-CE94-A404-AF06-0E60AD5E4D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763" y="4089400"/>
            <a:ext cx="366712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44" name="矩形 13">
            <a:extLst>
              <a:ext uri="{FF2B5EF4-FFF2-40B4-BE49-F238E27FC236}">
                <a16:creationId xmlns:a16="http://schemas.microsoft.com/office/drawing/2014/main" id="{B9A8EACC-FECC-B987-B660-922F8A8D1A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75" y="3989388"/>
            <a:ext cx="8718550" cy="92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7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就讀國小三年級的</a:t>
            </a:r>
            <a:r>
              <a:rPr lang="zh-TW" altLang="en-US" sz="2700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品妍</a:t>
            </a:r>
            <a:r>
              <a:rPr lang="zh-TW" altLang="en-US" sz="27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和</a:t>
            </a:r>
            <a:r>
              <a:rPr lang="zh-TW" altLang="en-US" sz="27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爸</a:t>
            </a:r>
            <a:r>
              <a:rPr lang="zh-TW" altLang="en-US" sz="27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爸</a:t>
            </a:r>
            <a:r>
              <a:rPr lang="zh-TW" altLang="en-US" sz="270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sz="27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媽</a:t>
            </a:r>
            <a:r>
              <a:rPr lang="zh-TW" altLang="en-US" sz="27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媽</a:t>
            </a:r>
            <a:r>
              <a:rPr lang="zh-TW" altLang="en-US" sz="27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去參觀</a:t>
            </a:r>
            <a:r>
              <a:rPr lang="zh-TW" altLang="en-US" sz="27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7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票價</a:t>
            </a:r>
            <a:r>
              <a:rPr lang="zh-TW" altLang="en-US" sz="27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一</a:t>
            </a:r>
            <a:r>
              <a:rPr lang="zh-TW" altLang="en-US" sz="27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共是</a:t>
            </a:r>
            <a:r>
              <a:rPr lang="zh-TW" altLang="en-US" sz="27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幾</a:t>
            </a:r>
            <a:r>
              <a:rPr lang="zh-TW" altLang="en-US" sz="27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元</a:t>
            </a:r>
            <a:r>
              <a:rPr lang="zh-TW" altLang="en-US" sz="27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F8D24BB-F042-460A-1D58-C038078A5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338" y="4843463"/>
            <a:ext cx="40322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100</a:t>
            </a:r>
            <a:r>
              <a:rPr kumimoji="1" lang="en-US" altLang="zh-TW" sz="2400">
                <a:solidFill>
                  <a:srgbClr val="FF33CC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×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200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200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＋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50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250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39FDD48-BE84-2CF2-F203-1FFC0AED71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8188" y="4799013"/>
            <a:ext cx="15684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答：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250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元</a:t>
            </a:r>
            <a:endParaRPr kumimoji="1" lang="en-US" altLang="zh-TW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7" name="圓角矩形圖說文字 16">
            <a:extLst>
              <a:ext uri="{FF2B5EF4-FFF2-40B4-BE49-F238E27FC236}">
                <a16:creationId xmlns:a16="http://schemas.microsoft.com/office/drawing/2014/main" id="{1AB7A311-1B14-F829-8220-EC4A2C9D3B95}"/>
              </a:ext>
            </a:extLst>
          </p:cNvPr>
          <p:cNvSpPr/>
          <p:nvPr/>
        </p:nvSpPr>
        <p:spPr bwMode="auto">
          <a:xfrm>
            <a:off x="1409700" y="5335588"/>
            <a:ext cx="7673975" cy="1304925"/>
          </a:xfrm>
          <a:prstGeom prst="wedgeRoundRectCallout">
            <a:avLst>
              <a:gd name="adj1" fmla="val -56004"/>
              <a:gd name="adj2" fmla="val -21670"/>
              <a:gd name="adj3" fmla="val 16667"/>
            </a:avLst>
          </a:prstGeom>
          <a:solidFill>
            <a:schemeClr val="bg1"/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TW" altLang="en-US" sz="20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品妍是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6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歲以上未滿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12 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歲兒童</a:t>
            </a:r>
            <a:r>
              <a:rPr lang="zh-TW" altLang="en-US" sz="20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</a:p>
          <a:p>
            <a:pPr>
              <a:defRPr/>
            </a:pPr>
            <a:r>
              <a:rPr lang="zh-TW" altLang="en-US" sz="20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品妍的爸</a:t>
            </a:r>
            <a:r>
              <a:rPr lang="zh-TW" altLang="en-US" sz="2000" dirty="0">
                <a:solidFill>
                  <a:schemeClr val="tx1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爸</a:t>
            </a:r>
            <a:r>
              <a:rPr lang="zh-TW" altLang="en-US" sz="20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sz="20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媽</a:t>
            </a:r>
            <a:r>
              <a:rPr lang="zh-TW" altLang="en-US" sz="2000" dirty="0">
                <a:solidFill>
                  <a:schemeClr val="tx1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媽</a:t>
            </a:r>
            <a:r>
              <a:rPr lang="zh-TW" altLang="en-US" sz="20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是</a:t>
            </a:r>
            <a:r>
              <a:rPr lang="zh-TW" altLang="en-US" sz="2000" dirty="0">
                <a:solidFill>
                  <a:schemeClr val="tx1"/>
                </a:solidFill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 sz="20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般觀眾</a:t>
            </a:r>
            <a:r>
              <a:rPr lang="zh-TW" altLang="en-US" sz="20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</a:p>
          <a:p>
            <a:pPr>
              <a:defRPr/>
            </a:pPr>
            <a:r>
              <a:rPr lang="zh-TW" altLang="en-US" sz="20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所以他們的票價分別是</a:t>
            </a:r>
            <a:r>
              <a:rPr lang="en-US" altLang="zh-TW" sz="20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……</a:t>
            </a:r>
          </a:p>
          <a:p>
            <a:pPr>
              <a:defRPr/>
            </a:pPr>
            <a:r>
              <a:rPr kumimoji="1" lang="en-US" altLang="zh-TW" sz="2000" dirty="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50</a:t>
            </a:r>
            <a:r>
              <a:rPr kumimoji="1" lang="zh-TW" altLang="en-US" sz="2000" dirty="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元，</a:t>
            </a:r>
            <a:r>
              <a:rPr kumimoji="1" lang="en-US" altLang="zh-TW" sz="2000" dirty="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100</a:t>
            </a:r>
            <a:r>
              <a:rPr kumimoji="1" lang="zh-TW" altLang="en-US" sz="2000" dirty="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元，</a:t>
            </a:r>
            <a:r>
              <a:rPr kumimoji="1" lang="en-US" altLang="zh-TW" sz="2000" dirty="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100</a:t>
            </a:r>
            <a:r>
              <a:rPr kumimoji="1" lang="zh-TW" altLang="en-US" sz="2000" dirty="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元</a:t>
            </a:r>
          </a:p>
        </p:txBody>
      </p:sp>
      <p:pic>
        <p:nvPicPr>
          <p:cNvPr id="23597" name="Picture 45">
            <a:extLst>
              <a:ext uri="{FF2B5EF4-FFF2-40B4-BE49-F238E27FC236}">
                <a16:creationId xmlns:a16="http://schemas.microsoft.com/office/drawing/2014/main" id="{0E8E49DC-CADF-5E28-C6CA-F8DDD494F9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6550" y="5403850"/>
            <a:ext cx="2251075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矩形 11">
            <a:extLst>
              <a:ext uri="{FF2B5EF4-FFF2-40B4-BE49-F238E27FC236}">
                <a16:creationId xmlns:a16="http://schemas.microsoft.com/office/drawing/2014/main" id="{CF02CF31-64FB-838B-DF2B-44CF09A97F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38" y="77788"/>
            <a:ext cx="871855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7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下面是</a:t>
            </a:r>
            <a:r>
              <a:rPr lang="zh-TW" altLang="en-US" sz="2700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科博館</a:t>
            </a:r>
            <a:r>
              <a:rPr lang="zh-TW" altLang="en-US" sz="27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展示</a:t>
            </a:r>
            <a:r>
              <a:rPr lang="zh-TW" altLang="en-US" sz="27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場</a:t>
            </a:r>
            <a:r>
              <a:rPr lang="zh-TW" altLang="en-US" sz="27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的票價表</a:t>
            </a:r>
            <a:r>
              <a:rPr lang="zh-TW" altLang="en-US" sz="27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pic>
        <p:nvPicPr>
          <p:cNvPr id="22531" name="圖片 2">
            <a:extLst>
              <a:ext uri="{FF2B5EF4-FFF2-40B4-BE49-F238E27FC236}">
                <a16:creationId xmlns:a16="http://schemas.microsoft.com/office/drawing/2014/main" id="{5EAE16C2-8242-B76E-3373-C485505DDA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" y="92075"/>
            <a:ext cx="446088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2" name="矩形 13">
            <a:extLst>
              <a:ext uri="{FF2B5EF4-FFF2-40B4-BE49-F238E27FC236}">
                <a16:creationId xmlns:a16="http://schemas.microsoft.com/office/drawing/2014/main" id="{05367C38-7E4F-B308-A986-B5A1A6358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013" y="4117975"/>
            <a:ext cx="8718550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7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爺</a:t>
            </a:r>
            <a:r>
              <a:rPr lang="zh-TW" altLang="en-US" sz="27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爺</a:t>
            </a:r>
            <a:r>
              <a:rPr lang="zh-TW" altLang="en-US" sz="27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和</a:t>
            </a:r>
            <a:r>
              <a:rPr lang="zh-TW" altLang="en-US" sz="27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奶</a:t>
            </a:r>
            <a:r>
              <a:rPr lang="zh-TW" altLang="en-US" sz="27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奶</a:t>
            </a:r>
            <a:r>
              <a:rPr lang="zh-TW" altLang="en-US" sz="27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這星期日要去</a:t>
            </a:r>
            <a:r>
              <a:rPr lang="zh-TW" altLang="en-US" sz="2700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科博館</a:t>
            </a:r>
            <a:r>
              <a:rPr lang="zh-TW" altLang="en-US" sz="27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7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票價</a:t>
            </a:r>
            <a:r>
              <a:rPr lang="zh-TW" altLang="en-US" sz="27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一</a:t>
            </a:r>
            <a:r>
              <a:rPr lang="zh-TW" altLang="en-US" sz="27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共是</a:t>
            </a:r>
            <a:r>
              <a:rPr lang="zh-TW" altLang="en-US" sz="27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幾</a:t>
            </a:r>
            <a:r>
              <a:rPr lang="zh-TW" altLang="en-US" sz="27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元</a:t>
            </a:r>
            <a:r>
              <a:rPr lang="zh-TW" altLang="en-US" sz="27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BB16650-96D7-E96B-B1C3-6700C5C49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013" y="5040313"/>
            <a:ext cx="18780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50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＋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50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100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3E51A90-B927-A4E3-5CDB-F3279D8D01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1538" y="5975350"/>
            <a:ext cx="15700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答：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100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元</a:t>
            </a:r>
            <a:endParaRPr kumimoji="1" lang="en-US" altLang="zh-TW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22535" name="圖片 16">
            <a:extLst>
              <a:ext uri="{FF2B5EF4-FFF2-40B4-BE49-F238E27FC236}">
                <a16:creationId xmlns:a16="http://schemas.microsoft.com/office/drawing/2014/main" id="{313607F8-6A08-6D1E-98D7-210ED27802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863" y="4197350"/>
            <a:ext cx="366712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6" name="圖片 1">
            <a:extLst>
              <a:ext uri="{FF2B5EF4-FFF2-40B4-BE49-F238E27FC236}">
                <a16:creationId xmlns:a16="http://schemas.microsoft.com/office/drawing/2014/main" id="{D17B4890-1A06-9172-053A-BB605968D3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0550" y="4584700"/>
            <a:ext cx="3409950" cy="2195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圓角矩形圖說文字 11">
            <a:extLst>
              <a:ext uri="{FF2B5EF4-FFF2-40B4-BE49-F238E27FC236}">
                <a16:creationId xmlns:a16="http://schemas.microsoft.com/office/drawing/2014/main" id="{AE4A2F34-4578-24CE-0B1E-7A151C4C7052}"/>
              </a:ext>
            </a:extLst>
          </p:cNvPr>
          <p:cNvSpPr/>
          <p:nvPr/>
        </p:nvSpPr>
        <p:spPr bwMode="auto">
          <a:xfrm>
            <a:off x="6842125" y="549275"/>
            <a:ext cx="2241550" cy="1524000"/>
          </a:xfrm>
          <a:prstGeom prst="wedgeRoundRectCallout">
            <a:avLst>
              <a:gd name="adj1" fmla="val -21786"/>
              <a:gd name="adj2" fmla="val 63164"/>
              <a:gd name="adj3" fmla="val 16667"/>
            </a:avLst>
          </a:prstGeom>
          <a:solidFill>
            <a:srgbClr val="FFE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70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元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人表示</a:t>
            </a:r>
          </a:p>
          <a:p>
            <a:pPr>
              <a:defRPr/>
            </a:pPr>
            <a:r>
              <a:rPr lang="zh-TW" altLang="en-US" sz="2000" dirty="0">
                <a:solidFill>
                  <a:schemeClr val="tx1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個人的票價是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70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元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49D40AD-3FEA-18C5-89BF-C85102DC8EB8}"/>
              </a:ext>
            </a:extLst>
          </p:cNvPr>
          <p:cNvGraphicFramePr>
            <a:graphicFrameLocks noGrp="1"/>
          </p:cNvGraphicFramePr>
          <p:nvPr/>
        </p:nvGraphicFramePr>
        <p:xfrm>
          <a:off x="34925" y="654050"/>
          <a:ext cx="6753225" cy="3336925"/>
        </p:xfrm>
        <a:graphic>
          <a:graphicData uri="http://schemas.openxmlformats.org/drawingml/2006/table">
            <a:tbl>
              <a:tblPr firstRow="1" bandRow="1">
                <a:tableStyleId>{5EF00A0C-396C-4BD8-A62D-F509AEB4C581}</a:tableStyleId>
              </a:tblPr>
              <a:tblGrid>
                <a:gridCol w="3376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6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票種</a:t>
                      </a:r>
                    </a:p>
                  </a:txBody>
                  <a:tcPr marT="45711" marB="45711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票價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T="45711" marB="45711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書法中楷（破音三）" panose="02010609010101010101" pitchFamily="49" charset="-120"/>
                          <a:ea typeface="書法中楷（破音三）" panose="02010609010101010101" pitchFamily="49" charset="-120"/>
                          <a:cs typeface="Times New Roman" panose="02020603050405020304" pitchFamily="18" charset="0"/>
                        </a:rPr>
                        <a:t>一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般觀眾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100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元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12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歲以上學生</a:t>
                      </a:r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 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70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元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歲以上未滿</a:t>
                      </a:r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12 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歲兒童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50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元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未滿</a:t>
                      </a:r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6 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歲兒童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免費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個人以上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書法中楷（破音三）" panose="02010609010101010101" pitchFamily="49" charset="-120"/>
                          <a:ea typeface="書法中楷（破音三）" panose="02010609010101010101" pitchFamily="49" charset="-120"/>
                          <a:cs typeface="Times New Roman" panose="02020603050405020304" pitchFamily="18" charset="0"/>
                        </a:rPr>
                        <a:t>一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般團體 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70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元</a:t>
                      </a:r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人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個人以上學生團體 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50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元</a:t>
                      </a:r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人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滿</a:t>
                      </a:r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65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歲以上</a:t>
                      </a:r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書法中楷（破音二）" panose="02010609010101010101" pitchFamily="49" charset="-120"/>
                          <a:ea typeface="書法中楷（破音二）" panose="02010609010101010101" pitchFamily="49" charset="-120"/>
                          <a:cs typeface="Times New Roman" panose="02020603050405020304" pitchFamily="18" charset="0"/>
                        </a:rPr>
                        <a:t>假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日</a:t>
                      </a:r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) 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50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元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滿</a:t>
                      </a:r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65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歲以上</a:t>
                      </a:r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平日</a:t>
                      </a:r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) 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免費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22570" name="圖片 1">
            <a:extLst>
              <a:ext uri="{FF2B5EF4-FFF2-40B4-BE49-F238E27FC236}">
                <a16:creationId xmlns:a16="http://schemas.microsoft.com/office/drawing/2014/main" id="{C8013791-5633-E947-D2EE-C516CDD6F4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4675" y="2416175"/>
            <a:ext cx="1204913" cy="1497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B70168F7-0DFC-B0D3-151A-8E8EBA7F6D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5338" y="5330825"/>
            <a:ext cx="1041400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5" name="矩形 11">
            <a:extLst>
              <a:ext uri="{FF2B5EF4-FFF2-40B4-BE49-F238E27FC236}">
                <a16:creationId xmlns:a16="http://schemas.microsoft.com/office/drawing/2014/main" id="{6E7CCCAD-89FC-F3CB-2E0A-E91C8CB55E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38" y="77788"/>
            <a:ext cx="871855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7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下面是</a:t>
            </a:r>
            <a:r>
              <a:rPr lang="zh-TW" altLang="en-US" sz="2700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科博館</a:t>
            </a:r>
            <a:r>
              <a:rPr lang="zh-TW" altLang="en-US" sz="27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展示</a:t>
            </a:r>
            <a:r>
              <a:rPr lang="zh-TW" altLang="en-US" sz="27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場</a:t>
            </a:r>
            <a:r>
              <a:rPr lang="zh-TW" altLang="en-US" sz="27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的票價表</a:t>
            </a:r>
            <a:r>
              <a:rPr lang="zh-TW" altLang="en-US" sz="27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pic>
        <p:nvPicPr>
          <p:cNvPr id="23556" name="圖片 2">
            <a:extLst>
              <a:ext uri="{FF2B5EF4-FFF2-40B4-BE49-F238E27FC236}">
                <a16:creationId xmlns:a16="http://schemas.microsoft.com/office/drawing/2014/main" id="{7E7E04FC-1898-9376-37C3-CD25E4D2B8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" y="92075"/>
            <a:ext cx="446088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7" name="矩形 13">
            <a:extLst>
              <a:ext uri="{FF2B5EF4-FFF2-40B4-BE49-F238E27FC236}">
                <a16:creationId xmlns:a16="http://schemas.microsoft.com/office/drawing/2014/main" id="{BF3AB1A5-8631-1DD2-49EB-63A4CFB63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013" y="3913188"/>
            <a:ext cx="8718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7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15</a:t>
            </a:r>
            <a:r>
              <a:rPr lang="zh-TW" altLang="en-US" sz="27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700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歲的表哥</a:t>
            </a:r>
            <a:r>
              <a:rPr lang="zh-TW" altLang="en-US" sz="2700"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和</a:t>
            </a:r>
            <a:r>
              <a:rPr lang="zh-TW" altLang="en-US" sz="2700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班上同學共</a:t>
            </a:r>
            <a:r>
              <a:rPr lang="zh-TW" altLang="en-US" sz="27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7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23</a:t>
            </a:r>
            <a:r>
              <a:rPr lang="zh-TW" altLang="en-US" sz="27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7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個人</a:t>
            </a:r>
            <a:r>
              <a:rPr lang="zh-TW" altLang="en-US" sz="27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7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 sz="27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起去參觀</a:t>
            </a:r>
            <a:r>
              <a:rPr lang="zh-TW" altLang="en-US" sz="2700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科博館</a:t>
            </a:r>
            <a:r>
              <a:rPr lang="zh-TW" altLang="en-US" sz="27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7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一</a:t>
            </a:r>
            <a:r>
              <a:rPr lang="zh-TW" altLang="en-US" sz="27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個人的票價是</a:t>
            </a:r>
            <a:r>
              <a:rPr lang="zh-TW" altLang="en-US" sz="27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幾</a:t>
            </a:r>
            <a:r>
              <a:rPr lang="zh-TW" altLang="en-US" sz="27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元</a:t>
            </a:r>
            <a:r>
              <a:rPr lang="zh-TW" altLang="en-US" sz="27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pic>
        <p:nvPicPr>
          <p:cNvPr id="23558" name="圖片 5">
            <a:extLst>
              <a:ext uri="{FF2B5EF4-FFF2-40B4-BE49-F238E27FC236}">
                <a16:creationId xmlns:a16="http://schemas.microsoft.com/office/drawing/2014/main" id="{8E6CF232-DB32-755D-7BC3-C8615FE9CC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88" y="4014788"/>
            <a:ext cx="352425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圓角矩形圖說文字 19">
            <a:extLst>
              <a:ext uri="{FF2B5EF4-FFF2-40B4-BE49-F238E27FC236}">
                <a16:creationId xmlns:a16="http://schemas.microsoft.com/office/drawing/2014/main" id="{C9C5883D-4577-BBBA-B484-AD09069EAA94}"/>
              </a:ext>
            </a:extLst>
          </p:cNvPr>
          <p:cNvSpPr/>
          <p:nvPr/>
        </p:nvSpPr>
        <p:spPr bwMode="auto">
          <a:xfrm>
            <a:off x="1803400" y="5181600"/>
            <a:ext cx="4946650" cy="1365250"/>
          </a:xfrm>
          <a:prstGeom prst="wedgeRoundRectCallout">
            <a:avLst>
              <a:gd name="adj1" fmla="val 58067"/>
              <a:gd name="adj2" fmla="val -6222"/>
              <a:gd name="adj3" fmla="val 16667"/>
            </a:avLst>
          </a:prstGeom>
          <a:solidFill>
            <a:srgbClr val="FFE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9pPr>
          </a:lstStyle>
          <a:p>
            <a:pPr>
              <a:lnSpc>
                <a:spcPct val="200000"/>
              </a:lnSpc>
              <a:spcBef>
                <a:spcPct val="0"/>
              </a:spcBef>
              <a:buFontTx/>
              <a:buNone/>
              <a:defRPr/>
            </a:pPr>
            <a:endParaRPr lang="zh-TW" altLang="en-US" sz="1800" dirty="0">
              <a:latin typeface="標楷體" panose="03000509000000000000" pitchFamily="65" charset="-120"/>
              <a:ea typeface="標楷體" panose="03000509000000000000" pitchFamily="65" charset="-120"/>
              <a:cs typeface="Times New Roman" pitchFamily="18" charset="0"/>
            </a:endParaRPr>
          </a:p>
        </p:txBody>
      </p:sp>
      <p:pic>
        <p:nvPicPr>
          <p:cNvPr id="21" name="Picture 3">
            <a:extLst>
              <a:ext uri="{FF2B5EF4-FFF2-40B4-BE49-F238E27FC236}">
                <a16:creationId xmlns:a16="http://schemas.microsoft.com/office/drawing/2014/main" id="{30A092EE-E5E9-47B8-437D-7906CFEF0A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8413" y="5857875"/>
            <a:ext cx="611187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圓角矩形圖說文字 14">
            <a:extLst>
              <a:ext uri="{FF2B5EF4-FFF2-40B4-BE49-F238E27FC236}">
                <a16:creationId xmlns:a16="http://schemas.microsoft.com/office/drawing/2014/main" id="{F5C93F8D-7929-560D-8E97-CD08F87778AF}"/>
              </a:ext>
            </a:extLst>
          </p:cNvPr>
          <p:cNvSpPr/>
          <p:nvPr/>
        </p:nvSpPr>
        <p:spPr bwMode="auto">
          <a:xfrm>
            <a:off x="6842125" y="549275"/>
            <a:ext cx="2241550" cy="1524000"/>
          </a:xfrm>
          <a:prstGeom prst="wedgeRoundRectCallout">
            <a:avLst>
              <a:gd name="adj1" fmla="val -21786"/>
              <a:gd name="adj2" fmla="val 63164"/>
              <a:gd name="adj3" fmla="val 16667"/>
            </a:avLst>
          </a:prstGeom>
          <a:solidFill>
            <a:srgbClr val="FFE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70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元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人表示</a:t>
            </a:r>
          </a:p>
          <a:p>
            <a:pPr>
              <a:defRPr/>
            </a:pPr>
            <a:r>
              <a:rPr lang="zh-TW" altLang="en-US" sz="2000" dirty="0">
                <a:solidFill>
                  <a:schemeClr val="tx1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個人的票價是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70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元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06C9D66-D0B3-21E3-0673-80097A546AB0}"/>
              </a:ext>
            </a:extLst>
          </p:cNvPr>
          <p:cNvGraphicFramePr>
            <a:graphicFrameLocks noGrp="1"/>
          </p:cNvGraphicFramePr>
          <p:nvPr/>
        </p:nvGraphicFramePr>
        <p:xfrm>
          <a:off x="34925" y="577850"/>
          <a:ext cx="6753225" cy="3338513"/>
        </p:xfrm>
        <a:graphic>
          <a:graphicData uri="http://schemas.openxmlformats.org/drawingml/2006/table">
            <a:tbl>
              <a:tblPr firstRow="1" bandRow="1">
                <a:tableStyleId>{5EF00A0C-396C-4BD8-A62D-F509AEB4C581}</a:tableStyleId>
              </a:tblPr>
              <a:tblGrid>
                <a:gridCol w="3376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6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票種</a:t>
                      </a:r>
                    </a:p>
                  </a:txBody>
                  <a:tcPr marT="45733" marB="45733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票價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T="45733" marB="45733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書法中楷（破音三）" panose="02010609010101010101" pitchFamily="49" charset="-120"/>
                          <a:ea typeface="書法中楷（破音三）" panose="02010609010101010101" pitchFamily="49" charset="-120"/>
                          <a:cs typeface="Times New Roman" panose="02020603050405020304" pitchFamily="18" charset="0"/>
                        </a:rPr>
                        <a:t>一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般觀眾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100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元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12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歲以上學生</a:t>
                      </a:r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 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70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元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歲以上未滿</a:t>
                      </a:r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12 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歲兒童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50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元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未滿</a:t>
                      </a:r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6 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歲兒童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免費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個人以上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書法中楷（破音三）" panose="02010609010101010101" pitchFamily="49" charset="-120"/>
                          <a:ea typeface="書法中楷（破音三）" panose="02010609010101010101" pitchFamily="49" charset="-120"/>
                          <a:cs typeface="Times New Roman" panose="02020603050405020304" pitchFamily="18" charset="0"/>
                        </a:rPr>
                        <a:t>一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般團體 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70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元</a:t>
                      </a:r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人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個人以上學生團體 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50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元</a:t>
                      </a:r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人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滿</a:t>
                      </a:r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65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歲以上</a:t>
                      </a:r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書法中楷（破音二）" panose="02010609010101010101" pitchFamily="49" charset="-120"/>
                          <a:ea typeface="書法中楷（破音二）" panose="02010609010101010101" pitchFamily="49" charset="-120"/>
                          <a:cs typeface="Times New Roman" panose="02020603050405020304" pitchFamily="18" charset="0"/>
                        </a:rPr>
                        <a:t>假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日</a:t>
                      </a:r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) 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50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元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滿</a:t>
                      </a:r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65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歲以上</a:t>
                      </a:r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平日</a:t>
                      </a:r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) 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免費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AE9D218B-637B-A96D-FAF8-3FCE8E958732}"/>
              </a:ext>
            </a:extLst>
          </p:cNvPr>
          <p:cNvSpPr/>
          <p:nvPr/>
        </p:nvSpPr>
        <p:spPr>
          <a:xfrm>
            <a:off x="3687763" y="5413375"/>
            <a:ext cx="1544637" cy="384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5644" name="矩形 3">
            <a:extLst>
              <a:ext uri="{FF2B5EF4-FFF2-40B4-BE49-F238E27FC236}">
                <a16:creationId xmlns:a16="http://schemas.microsoft.com/office/drawing/2014/main" id="{714A62B0-7CCD-8EF1-BAAD-9A4F36F718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3250" y="5221288"/>
            <a:ext cx="4778375" cy="1201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zh-TW" altLang="en-US" sz="18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參觀的人數 </a:t>
            </a:r>
            <a:r>
              <a:rPr lang="en-US" altLang="zh-TW" sz="1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 </a:t>
            </a:r>
            <a:r>
              <a:rPr lang="zh-TW" altLang="en-US" sz="1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＞ ，＝，＜ </a:t>
            </a:r>
            <a:r>
              <a:rPr lang="en-US" altLang="zh-TW" sz="1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</a:t>
            </a:r>
            <a:r>
              <a:rPr lang="en-US" altLang="zh-TW" sz="18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20</a:t>
            </a:r>
            <a:r>
              <a:rPr lang="zh-TW" altLang="en-US" sz="18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個人</a:t>
            </a:r>
            <a:r>
              <a:rPr lang="zh-TW" altLang="en-US" sz="18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18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所以</a:t>
            </a:r>
            <a:r>
              <a:rPr lang="zh-TW" altLang="en-US" sz="18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 sz="18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個人的票價是           元</a:t>
            </a:r>
            <a:r>
              <a:rPr lang="zh-TW" altLang="en-US" sz="18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DE4BDF66-7847-E2FA-68E8-6F41E93B82A6}"/>
              </a:ext>
            </a:extLst>
          </p:cNvPr>
          <p:cNvSpPr/>
          <p:nvPr/>
        </p:nvSpPr>
        <p:spPr>
          <a:xfrm>
            <a:off x="3798888" y="5446713"/>
            <a:ext cx="333375" cy="333375"/>
          </a:xfrm>
          <a:prstGeom prst="ellipse">
            <a:avLst/>
          </a:prstGeom>
          <a:noFill/>
          <a:ln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EC22869-7EB1-5E47-D174-A3FDCB83F0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7150" y="5913438"/>
            <a:ext cx="4937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50</a:t>
            </a:r>
          </a:p>
        </p:txBody>
      </p:sp>
      <p:pic>
        <p:nvPicPr>
          <p:cNvPr id="23598" name="圖片 1">
            <a:extLst>
              <a:ext uri="{FF2B5EF4-FFF2-40B4-BE49-F238E27FC236}">
                <a16:creationId xmlns:a16="http://schemas.microsoft.com/office/drawing/2014/main" id="{84F61D9C-1C23-AF48-CDF5-25237CC573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4675" y="2416175"/>
            <a:ext cx="1204913" cy="1497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5644" grpId="0"/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標題 1">
            <a:extLst>
              <a:ext uri="{FF2B5EF4-FFF2-40B4-BE49-F238E27FC236}">
                <a16:creationId xmlns:a16="http://schemas.microsoft.com/office/drawing/2014/main" id="{21E18E50-C96C-814F-F7FC-0973AAC66F69}"/>
              </a:ext>
            </a:extLst>
          </p:cNvPr>
          <p:cNvSpPr txBox="1">
            <a:spLocks/>
          </p:cNvSpPr>
          <p:nvPr/>
        </p:nvSpPr>
        <p:spPr bwMode="auto">
          <a:xfrm>
            <a:off x="606425" y="3681413"/>
            <a:ext cx="8161338" cy="132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第</a:t>
            </a:r>
            <a:r>
              <a:rPr lang="en-US" altLang="zh-TW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9</a:t>
            </a: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單元</a:t>
            </a:r>
            <a:endParaRPr lang="en-US" altLang="zh-TW" sz="5500" b="1">
              <a:solidFill>
                <a:srgbClr val="0099CC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Arial" panose="020B0604020202020204" pitchFamily="34" charset="0"/>
            </a:endParaRPr>
          </a:p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統計表</a:t>
            </a:r>
            <a:endParaRPr lang="en-US" altLang="zh-TW" sz="5500" b="1">
              <a:solidFill>
                <a:srgbClr val="0099CC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Arial" panose="020B0604020202020204" pitchFamily="34" charset="0"/>
            </a:endParaRPr>
          </a:p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活動</a:t>
            </a:r>
            <a:r>
              <a:rPr lang="en-US" altLang="zh-TW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2</a:t>
            </a: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 報讀二維表格</a:t>
            </a: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79">
            <a:extLst>
              <a:ext uri="{FF2B5EF4-FFF2-40B4-BE49-F238E27FC236}">
                <a16:creationId xmlns:a16="http://schemas.microsoft.com/office/drawing/2014/main" id="{FAE3F9C6-759B-304F-975F-7617D099B9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263"/>
          <a:stretch>
            <a:fillRect/>
          </a:stretch>
        </p:blipFill>
        <p:spPr bwMode="auto">
          <a:xfrm>
            <a:off x="241300" y="461963"/>
            <a:ext cx="8859838" cy="6351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603" name="矩形 11">
            <a:extLst>
              <a:ext uri="{FF2B5EF4-FFF2-40B4-BE49-F238E27FC236}">
                <a16:creationId xmlns:a16="http://schemas.microsoft.com/office/drawing/2014/main" id="{C1828896-E5FC-C32C-863D-7578090C52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388" y="-7938"/>
            <a:ext cx="8718550" cy="508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7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這是三年一班的功課表</a:t>
            </a:r>
            <a:r>
              <a:rPr lang="zh-TW" altLang="en-US" sz="27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pic>
        <p:nvPicPr>
          <p:cNvPr id="25604" name="圖片 1">
            <a:extLst>
              <a:ext uri="{FF2B5EF4-FFF2-40B4-BE49-F238E27FC236}">
                <a16:creationId xmlns:a16="http://schemas.microsoft.com/office/drawing/2014/main" id="{DBF26B6B-36EC-A456-2F13-F1E02B17B5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22225"/>
            <a:ext cx="441325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FC30F34F-1FB9-5233-23E7-6E360F641DB6}"/>
              </a:ext>
            </a:extLst>
          </p:cNvPr>
          <p:cNvGraphicFramePr>
            <a:graphicFrameLocks noGrp="1"/>
          </p:cNvGraphicFramePr>
          <p:nvPr/>
        </p:nvGraphicFramePr>
        <p:xfrm>
          <a:off x="433388" y="1189038"/>
          <a:ext cx="8324850" cy="5365750"/>
        </p:xfrm>
        <a:graphic>
          <a:graphicData uri="http://schemas.openxmlformats.org/drawingml/2006/table">
            <a:tbl>
              <a:tblPr firstRow="1" bandRow="1">
                <a:tableStyleId>{5EF00A0C-396C-4BD8-A62D-F509AEB4C581}</a:tableStyleId>
              </a:tblPr>
              <a:tblGrid>
                <a:gridCol w="1387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7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7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7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7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87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7617">
                <a:tc>
                  <a:txBody>
                    <a:bodyPr/>
                    <a:lstStyle/>
                    <a:p>
                      <a:pPr algn="r"/>
                      <a:r>
                        <a:rPr lang="zh-TW" altLang="en-US" sz="13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星期</a:t>
                      </a:r>
                      <a:endParaRPr lang="en-US" altLang="zh-TW" sz="13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r>
                        <a:rPr lang="zh-TW" altLang="en-US" sz="13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節次</a:t>
                      </a:r>
                    </a:p>
                  </a:txBody>
                  <a:tcPr marT="45704" marB="4570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一</a:t>
                      </a:r>
                    </a:p>
                  </a:txBody>
                  <a:tcPr marT="45704" marB="45704" anchor="ctr">
                    <a:solidFill>
                      <a:srgbClr val="C2DE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二</a:t>
                      </a:r>
                    </a:p>
                  </a:txBody>
                  <a:tcPr marT="45704" marB="45704" anchor="ctr">
                    <a:solidFill>
                      <a:srgbClr val="C2DE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三</a:t>
                      </a:r>
                    </a:p>
                  </a:txBody>
                  <a:tcPr marT="45704" marB="45704" anchor="ctr">
                    <a:solidFill>
                      <a:srgbClr val="C2DE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四</a:t>
                      </a:r>
                    </a:p>
                  </a:txBody>
                  <a:tcPr marT="45704" marB="45704" anchor="ctr">
                    <a:solidFill>
                      <a:srgbClr val="C2DE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五</a:t>
                      </a:r>
                    </a:p>
                  </a:txBody>
                  <a:tcPr marT="45704" marB="45704" anchor="ctr">
                    <a:solidFill>
                      <a:srgbClr val="C2DE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82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節</a:t>
                      </a:r>
                    </a:p>
                  </a:txBody>
                  <a:tcPr marT="45704" marB="45704" anchor="ctr">
                    <a:solidFill>
                      <a:srgbClr val="FFFC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國語</a:t>
                      </a:r>
                    </a:p>
                  </a:txBody>
                  <a:tcPr marT="45704" marB="45704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國語</a:t>
                      </a:r>
                    </a:p>
                  </a:txBody>
                  <a:tcPr marT="45704" marB="45704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數學</a:t>
                      </a:r>
                    </a:p>
                  </a:txBody>
                  <a:tcPr marT="45704" marB="45704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自然</a:t>
                      </a:r>
                    </a:p>
                  </a:txBody>
                  <a:tcPr marT="45704" marB="45704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社會</a:t>
                      </a:r>
                    </a:p>
                  </a:txBody>
                  <a:tcPr marT="45704" marB="45704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05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節</a:t>
                      </a:r>
                    </a:p>
                  </a:txBody>
                  <a:tcPr marT="45704" marB="45704" anchor="ctr">
                    <a:solidFill>
                      <a:srgbClr val="FFFC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國語</a:t>
                      </a:r>
                    </a:p>
                  </a:txBody>
                  <a:tcPr marT="45704" marB="45704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數學</a:t>
                      </a:r>
                    </a:p>
                  </a:txBody>
                  <a:tcPr marT="45704" marB="45704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國語</a:t>
                      </a:r>
                    </a:p>
                  </a:txBody>
                  <a:tcPr marT="45704" marB="45704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電腦</a:t>
                      </a:r>
                    </a:p>
                  </a:txBody>
                  <a:tcPr marT="45704" marB="45704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彈性</a:t>
                      </a:r>
                      <a:b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</a:br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學習</a:t>
                      </a:r>
                    </a:p>
                  </a:txBody>
                  <a:tcPr marT="45704" marB="45704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82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節</a:t>
                      </a:r>
                    </a:p>
                  </a:txBody>
                  <a:tcPr marT="45704" marB="45704" anchor="ctr">
                    <a:solidFill>
                      <a:srgbClr val="FFFC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社會</a:t>
                      </a:r>
                    </a:p>
                  </a:txBody>
                  <a:tcPr marT="45704" marB="45704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自然</a:t>
                      </a:r>
                    </a:p>
                  </a:txBody>
                  <a:tcPr marT="45704" marB="45704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健康</a:t>
                      </a:r>
                    </a:p>
                  </a:txBody>
                  <a:tcPr marT="45704" marB="45704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數學</a:t>
                      </a:r>
                    </a:p>
                  </a:txBody>
                  <a:tcPr marT="45704" marB="45704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數學</a:t>
                      </a:r>
                    </a:p>
                  </a:txBody>
                  <a:tcPr marT="45704" marB="45704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0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節</a:t>
                      </a:r>
                    </a:p>
                  </a:txBody>
                  <a:tcPr marT="45704" marB="45704" anchor="ctr">
                    <a:solidFill>
                      <a:srgbClr val="FFFC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英語</a:t>
                      </a:r>
                    </a:p>
                  </a:txBody>
                  <a:tcPr marT="45704" marB="45704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自然</a:t>
                      </a:r>
                    </a:p>
                  </a:txBody>
                  <a:tcPr marT="45704" marB="45704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社會</a:t>
                      </a:r>
                    </a:p>
                  </a:txBody>
                  <a:tcPr marT="45704" marB="45704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國語</a:t>
                      </a:r>
                    </a:p>
                  </a:txBody>
                  <a:tcPr marT="45704" marB="45704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綜合</a:t>
                      </a:r>
                      <a:b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</a:br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活動</a:t>
                      </a:r>
                    </a:p>
                  </a:txBody>
                  <a:tcPr marT="45704" marB="45704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07">
                <a:tc gridSpan="6"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午休時間</a:t>
                      </a:r>
                    </a:p>
                  </a:txBody>
                  <a:tcPr marT="45704" marB="45704" anchor="ctr">
                    <a:solidFill>
                      <a:srgbClr val="D2D3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0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節</a:t>
                      </a:r>
                    </a:p>
                  </a:txBody>
                  <a:tcPr marT="45704" marB="45704" anchor="ctr">
                    <a:solidFill>
                      <a:srgbClr val="FFFC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體育</a:t>
                      </a:r>
                    </a:p>
                  </a:txBody>
                  <a:tcPr marT="45704" marB="45704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陶藝</a:t>
                      </a:r>
                    </a:p>
                  </a:txBody>
                  <a:tcPr marT="45704" marB="45704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T="45704" marB="45704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藝術</a:t>
                      </a:r>
                      <a:b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</a:br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音樂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T="45704" marB="45704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T="45704" marB="45704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000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節</a:t>
                      </a:r>
                    </a:p>
                  </a:txBody>
                  <a:tcPr marT="45704" marB="45704" anchor="ctr">
                    <a:solidFill>
                      <a:srgbClr val="FFFC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藝術</a:t>
                      </a:r>
                    </a:p>
                  </a:txBody>
                  <a:tcPr marT="45704" marB="45704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彈性</a:t>
                      </a:r>
                      <a:b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</a:br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學習</a:t>
                      </a:r>
                    </a:p>
                  </a:txBody>
                  <a:tcPr marT="45704" marB="45704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T="45704" marB="45704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本土</a:t>
                      </a:r>
                      <a:endParaRPr lang="en-US" altLang="zh-TW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語文</a:t>
                      </a:r>
                    </a:p>
                  </a:txBody>
                  <a:tcPr marT="45704" marB="45704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T="45704" marB="45704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000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節</a:t>
                      </a:r>
                    </a:p>
                  </a:txBody>
                  <a:tcPr marT="45704" marB="45704" anchor="ctr">
                    <a:solidFill>
                      <a:srgbClr val="FFFC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藝術</a:t>
                      </a:r>
                    </a:p>
                  </a:txBody>
                  <a:tcPr marT="45704" marB="45704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綜合</a:t>
                      </a:r>
                      <a:b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</a:br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活動</a:t>
                      </a:r>
                    </a:p>
                  </a:txBody>
                  <a:tcPr marT="45704" marB="45704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T="45704" marB="45704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體育</a:t>
                      </a:r>
                    </a:p>
                  </a:txBody>
                  <a:tcPr marT="45704" marB="45704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T="45704" marB="45704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07">
                <a:tc gridSpan="6"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導師時間</a:t>
                      </a:r>
                    </a:p>
                  </a:txBody>
                  <a:tcPr marT="45704" marB="45704" anchor="ctr">
                    <a:solidFill>
                      <a:srgbClr val="D2D3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F1996C3C-98B2-604F-7C35-E44BEB7D75AA}"/>
              </a:ext>
            </a:extLst>
          </p:cNvPr>
          <p:cNvCxnSpPr/>
          <p:nvPr/>
        </p:nvCxnSpPr>
        <p:spPr>
          <a:xfrm>
            <a:off x="436563" y="1181100"/>
            <a:ext cx="1379537" cy="493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圖片 15">
            <a:extLst>
              <a:ext uri="{FF2B5EF4-FFF2-40B4-BE49-F238E27FC236}">
                <a16:creationId xmlns:a16="http://schemas.microsoft.com/office/drawing/2014/main" id="{2C5B7EDA-3BFD-2CF6-7556-8742A0DFB2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625" y="5588000"/>
            <a:ext cx="36671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7" name="矩形 11">
            <a:extLst>
              <a:ext uri="{FF2B5EF4-FFF2-40B4-BE49-F238E27FC236}">
                <a16:creationId xmlns:a16="http://schemas.microsoft.com/office/drawing/2014/main" id="{94D7C5E2-223D-97C8-2F37-BC14111DE9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063" y="5518150"/>
            <a:ext cx="48498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星期五要上哪些課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45B6401-1C0A-37A6-16BE-890F9587BF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0913" y="5886450"/>
            <a:ext cx="4800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社會、彈性學習、數學、綜合活動</a:t>
            </a:r>
            <a:endParaRPr kumimoji="1" lang="en-US" altLang="zh-TW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AF547BCD-18C7-FE67-EBD1-0802FF0EAA8E}"/>
              </a:ext>
            </a:extLst>
          </p:cNvPr>
          <p:cNvGraphicFramePr>
            <a:graphicFrameLocks noGrp="1"/>
          </p:cNvGraphicFramePr>
          <p:nvPr/>
        </p:nvGraphicFramePr>
        <p:xfrm>
          <a:off x="301625" y="38100"/>
          <a:ext cx="8324850" cy="5365750"/>
        </p:xfrm>
        <a:graphic>
          <a:graphicData uri="http://schemas.openxmlformats.org/drawingml/2006/table">
            <a:tbl>
              <a:tblPr firstRow="1" bandRow="1">
                <a:tableStyleId>{5EF00A0C-396C-4BD8-A62D-F509AEB4C581}</a:tableStyleId>
              </a:tblPr>
              <a:tblGrid>
                <a:gridCol w="1387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7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7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7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7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87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7626">
                <a:tc>
                  <a:txBody>
                    <a:bodyPr/>
                    <a:lstStyle/>
                    <a:p>
                      <a:pPr algn="r"/>
                      <a:r>
                        <a:rPr lang="zh-TW" altLang="en-US" sz="13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星期</a:t>
                      </a:r>
                      <a:endParaRPr lang="en-US" altLang="zh-TW" sz="13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r>
                        <a:rPr lang="zh-TW" altLang="en-US" sz="13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節次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一</a:t>
                      </a:r>
                    </a:p>
                  </a:txBody>
                  <a:tcPr marT="45700" marB="45700" anchor="ctr">
                    <a:solidFill>
                      <a:srgbClr val="C2DE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二</a:t>
                      </a:r>
                    </a:p>
                  </a:txBody>
                  <a:tcPr marT="45700" marB="45700" anchor="ctr">
                    <a:solidFill>
                      <a:srgbClr val="C2DE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三</a:t>
                      </a:r>
                    </a:p>
                  </a:txBody>
                  <a:tcPr marT="45700" marB="45700" anchor="ctr">
                    <a:solidFill>
                      <a:srgbClr val="C2DE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四</a:t>
                      </a:r>
                    </a:p>
                  </a:txBody>
                  <a:tcPr marT="45700" marB="45700" anchor="ctr">
                    <a:solidFill>
                      <a:srgbClr val="C2DE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五</a:t>
                      </a:r>
                    </a:p>
                  </a:txBody>
                  <a:tcPr marT="45700" marB="45700" anchor="ctr">
                    <a:solidFill>
                      <a:srgbClr val="C2DE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77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節</a:t>
                      </a:r>
                    </a:p>
                  </a:txBody>
                  <a:tcPr marT="45700" marB="45700" anchor="ctr">
                    <a:solidFill>
                      <a:srgbClr val="FFFC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國語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國語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數學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自然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社會</a:t>
                      </a:r>
                    </a:p>
                  </a:txBody>
                  <a:tcPr marT="45700" marB="457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06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節</a:t>
                      </a:r>
                    </a:p>
                  </a:txBody>
                  <a:tcPr marT="45700" marB="45700" anchor="ctr">
                    <a:solidFill>
                      <a:srgbClr val="FFFC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國語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數學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國語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電腦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彈性</a:t>
                      </a:r>
                      <a:b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</a:br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學習</a:t>
                      </a:r>
                    </a:p>
                  </a:txBody>
                  <a:tcPr marT="45700" marB="457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77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節</a:t>
                      </a:r>
                    </a:p>
                  </a:txBody>
                  <a:tcPr marT="45700" marB="45700" anchor="ctr">
                    <a:solidFill>
                      <a:srgbClr val="FFFC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社會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自然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健康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數學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數學</a:t>
                      </a:r>
                    </a:p>
                  </a:txBody>
                  <a:tcPr marT="45700" marB="457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2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節</a:t>
                      </a:r>
                    </a:p>
                  </a:txBody>
                  <a:tcPr marT="45700" marB="45700" anchor="ctr">
                    <a:solidFill>
                      <a:srgbClr val="FFFC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英語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自然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社會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國語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綜合</a:t>
                      </a:r>
                      <a:b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</a:br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活動</a:t>
                      </a:r>
                    </a:p>
                  </a:txBody>
                  <a:tcPr marT="45700" marB="457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11">
                <a:tc gridSpan="6"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午休時間</a:t>
                      </a:r>
                    </a:p>
                  </a:txBody>
                  <a:tcPr marT="45700" marB="45700" anchor="ctr">
                    <a:solidFill>
                      <a:srgbClr val="D2D3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2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節</a:t>
                      </a:r>
                    </a:p>
                  </a:txBody>
                  <a:tcPr marT="45700" marB="45700" anchor="ctr">
                    <a:solidFill>
                      <a:srgbClr val="FFFC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體育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陶藝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藝術</a:t>
                      </a:r>
                      <a:b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</a:br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音樂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T="45700" marB="457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002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節</a:t>
                      </a:r>
                    </a:p>
                  </a:txBody>
                  <a:tcPr marT="45700" marB="45700" anchor="ctr">
                    <a:solidFill>
                      <a:srgbClr val="FFFC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藝術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彈性</a:t>
                      </a:r>
                      <a:b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</a:br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學習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本土</a:t>
                      </a:r>
                      <a:endParaRPr lang="en-US" altLang="zh-TW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語文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T="45700" marB="457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002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節</a:t>
                      </a:r>
                    </a:p>
                  </a:txBody>
                  <a:tcPr marT="45700" marB="45700" anchor="ctr">
                    <a:solidFill>
                      <a:srgbClr val="FFFC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藝術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綜合</a:t>
                      </a:r>
                      <a:b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</a:br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活動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體育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T="45700" marB="4570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11">
                <a:tc gridSpan="6"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導師時間</a:t>
                      </a:r>
                    </a:p>
                  </a:txBody>
                  <a:tcPr marT="45700" marB="45700" anchor="ctr">
                    <a:solidFill>
                      <a:srgbClr val="D2D3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3281AB65-FF66-5697-D0C5-7F60C16D8E61}"/>
              </a:ext>
            </a:extLst>
          </p:cNvPr>
          <p:cNvCxnSpPr/>
          <p:nvPr/>
        </p:nvCxnSpPr>
        <p:spPr>
          <a:xfrm>
            <a:off x="301625" y="38100"/>
            <a:ext cx="1379538" cy="4921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5BFC4525-272B-CAAE-B474-E676941CD6AA}"/>
              </a:ext>
            </a:extLst>
          </p:cNvPr>
          <p:cNvGraphicFramePr>
            <a:graphicFrameLocks noGrp="1"/>
          </p:cNvGraphicFramePr>
          <p:nvPr/>
        </p:nvGraphicFramePr>
        <p:xfrm>
          <a:off x="301625" y="38100"/>
          <a:ext cx="8324850" cy="5365750"/>
        </p:xfrm>
        <a:graphic>
          <a:graphicData uri="http://schemas.openxmlformats.org/drawingml/2006/table">
            <a:tbl>
              <a:tblPr firstRow="1" bandRow="1">
                <a:tableStyleId>{5EF00A0C-396C-4BD8-A62D-F509AEB4C581}</a:tableStyleId>
              </a:tblPr>
              <a:tblGrid>
                <a:gridCol w="1387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7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7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7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7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87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7626">
                <a:tc>
                  <a:txBody>
                    <a:bodyPr/>
                    <a:lstStyle/>
                    <a:p>
                      <a:pPr algn="r"/>
                      <a:r>
                        <a:rPr lang="zh-TW" altLang="en-US" sz="13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星期</a:t>
                      </a:r>
                      <a:endParaRPr lang="en-US" altLang="zh-TW" sz="13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r>
                        <a:rPr lang="zh-TW" altLang="en-US" sz="13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節次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一</a:t>
                      </a:r>
                    </a:p>
                  </a:txBody>
                  <a:tcPr marT="45700" marB="45700" anchor="ctr">
                    <a:solidFill>
                      <a:srgbClr val="C2DE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二</a:t>
                      </a:r>
                    </a:p>
                  </a:txBody>
                  <a:tcPr marT="45700" marB="45700" anchor="ctr">
                    <a:solidFill>
                      <a:srgbClr val="C2DE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三</a:t>
                      </a:r>
                    </a:p>
                  </a:txBody>
                  <a:tcPr marT="45700" marB="45700" anchor="ctr">
                    <a:solidFill>
                      <a:srgbClr val="C2DE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四</a:t>
                      </a:r>
                    </a:p>
                  </a:txBody>
                  <a:tcPr marT="45700" marB="45700" anchor="ctr">
                    <a:solidFill>
                      <a:srgbClr val="C2DE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五</a:t>
                      </a:r>
                    </a:p>
                  </a:txBody>
                  <a:tcPr marT="45700" marB="45700" anchor="ctr">
                    <a:solidFill>
                      <a:srgbClr val="C2DE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77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節</a:t>
                      </a:r>
                    </a:p>
                  </a:txBody>
                  <a:tcPr marT="45700" marB="45700" anchor="ctr">
                    <a:solidFill>
                      <a:srgbClr val="FFFC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國語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國語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數學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自然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社會</a:t>
                      </a:r>
                    </a:p>
                  </a:txBody>
                  <a:tcPr marT="45700" marB="457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06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節</a:t>
                      </a:r>
                    </a:p>
                  </a:txBody>
                  <a:tcPr marT="45700" marB="45700" anchor="ctr">
                    <a:solidFill>
                      <a:srgbClr val="FFFC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國語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數學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國語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電腦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彈性</a:t>
                      </a:r>
                      <a:b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</a:br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學習</a:t>
                      </a:r>
                    </a:p>
                  </a:txBody>
                  <a:tcPr marT="45700" marB="457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77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節</a:t>
                      </a:r>
                    </a:p>
                  </a:txBody>
                  <a:tcPr marT="45700" marB="45700" anchor="ctr">
                    <a:solidFill>
                      <a:srgbClr val="FFFC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社會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自然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健康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數學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數學</a:t>
                      </a:r>
                    </a:p>
                  </a:txBody>
                  <a:tcPr marT="45700" marB="457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2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節</a:t>
                      </a:r>
                    </a:p>
                  </a:txBody>
                  <a:tcPr marT="45700" marB="45700" anchor="ctr">
                    <a:solidFill>
                      <a:srgbClr val="FFFC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英語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自然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社會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國語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綜合</a:t>
                      </a:r>
                      <a:b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</a:br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活動</a:t>
                      </a:r>
                    </a:p>
                  </a:txBody>
                  <a:tcPr marT="45700" marB="457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11">
                <a:tc gridSpan="6"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午休時間</a:t>
                      </a:r>
                    </a:p>
                  </a:txBody>
                  <a:tcPr marT="45700" marB="45700" anchor="ctr">
                    <a:solidFill>
                      <a:srgbClr val="D2D3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2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節</a:t>
                      </a:r>
                    </a:p>
                  </a:txBody>
                  <a:tcPr marT="45700" marB="45700" anchor="ctr">
                    <a:solidFill>
                      <a:srgbClr val="FFFC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體育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陶藝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藝術</a:t>
                      </a:r>
                      <a:b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</a:br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音樂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T="45700" marB="457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002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節</a:t>
                      </a:r>
                    </a:p>
                  </a:txBody>
                  <a:tcPr marT="45700" marB="45700" anchor="ctr">
                    <a:solidFill>
                      <a:srgbClr val="FFFC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藝術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彈性</a:t>
                      </a:r>
                      <a:b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</a:br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學習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本土</a:t>
                      </a:r>
                      <a:endParaRPr lang="en-US" altLang="zh-TW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語文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T="45700" marB="457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002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節</a:t>
                      </a:r>
                    </a:p>
                  </a:txBody>
                  <a:tcPr marT="45700" marB="45700" anchor="ctr">
                    <a:solidFill>
                      <a:srgbClr val="FFFC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藝術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綜合</a:t>
                      </a:r>
                      <a:b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</a:br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活動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體育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T="45700" marB="4570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11">
                <a:tc gridSpan="6"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導師時間</a:t>
                      </a:r>
                    </a:p>
                  </a:txBody>
                  <a:tcPr marT="45700" marB="45700" anchor="ctr">
                    <a:solidFill>
                      <a:srgbClr val="D2D3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F5AC4D21-57F1-A0F1-18AE-909A7E77E246}"/>
              </a:ext>
            </a:extLst>
          </p:cNvPr>
          <p:cNvCxnSpPr/>
          <p:nvPr/>
        </p:nvCxnSpPr>
        <p:spPr>
          <a:xfrm>
            <a:off x="301625" y="38100"/>
            <a:ext cx="1379538" cy="4921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725" name="矩形 11">
            <a:extLst>
              <a:ext uri="{FF2B5EF4-FFF2-40B4-BE49-F238E27FC236}">
                <a16:creationId xmlns:a16="http://schemas.microsoft.com/office/drawing/2014/main" id="{4C02805C-F37B-812B-7E02-181A530CB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" y="5430838"/>
            <a:ext cx="6645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星期二的第 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5</a:t>
            </a:r>
            <a:r>
              <a:rPr lang="en-US" altLang="zh-TW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 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節要上</a:t>
            </a:r>
            <a:r>
              <a:rPr lang="zh-TW" altLang="en-US" sz="24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什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麼課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C49F639-96C9-DEEA-2840-E1296D2AF4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3838" y="5441950"/>
            <a:ext cx="8001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陶藝</a:t>
            </a:r>
            <a:endParaRPr kumimoji="1" lang="en-US" altLang="zh-TW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27727" name="圖片 16">
            <a:extLst>
              <a:ext uri="{FF2B5EF4-FFF2-40B4-BE49-F238E27FC236}">
                <a16:creationId xmlns:a16="http://schemas.microsoft.com/office/drawing/2014/main" id="{F7552C51-1947-AC99-435D-C6F476E983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5532438"/>
            <a:ext cx="366713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矩形: 圓角 2">
            <a:extLst>
              <a:ext uri="{FF2B5EF4-FFF2-40B4-BE49-F238E27FC236}">
                <a16:creationId xmlns:a16="http://schemas.microsoft.com/office/drawing/2014/main" id="{DC89D296-5604-1D84-B633-BD4B7BD61AFF}"/>
              </a:ext>
            </a:extLst>
          </p:cNvPr>
          <p:cNvSpPr/>
          <p:nvPr/>
        </p:nvSpPr>
        <p:spPr>
          <a:xfrm>
            <a:off x="3278188" y="77788"/>
            <a:ext cx="920750" cy="433387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 dirty="0"/>
          </a:p>
        </p:txBody>
      </p:sp>
      <p:sp>
        <p:nvSpPr>
          <p:cNvPr id="14" name="矩形: 圓角 14">
            <a:extLst>
              <a:ext uri="{FF2B5EF4-FFF2-40B4-BE49-F238E27FC236}">
                <a16:creationId xmlns:a16="http://schemas.microsoft.com/office/drawing/2014/main" id="{8DC0004B-7545-5BAF-706A-6812CCC727D0}"/>
              </a:ext>
            </a:extLst>
          </p:cNvPr>
          <p:cNvSpPr/>
          <p:nvPr/>
        </p:nvSpPr>
        <p:spPr>
          <a:xfrm>
            <a:off x="379413" y="3251200"/>
            <a:ext cx="1308100" cy="433388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50DFCF1D-028E-6AC8-2BF8-7DDF5E1ED6D2}"/>
              </a:ext>
            </a:extLst>
          </p:cNvPr>
          <p:cNvCxnSpPr/>
          <p:nvPr/>
        </p:nvCxnSpPr>
        <p:spPr>
          <a:xfrm>
            <a:off x="3789363" y="523875"/>
            <a:ext cx="0" cy="266223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74F24AC2-93CA-D3C0-8D43-C99FC1EEF7FC}"/>
              </a:ext>
            </a:extLst>
          </p:cNvPr>
          <p:cNvCxnSpPr/>
          <p:nvPr/>
        </p:nvCxnSpPr>
        <p:spPr>
          <a:xfrm>
            <a:off x="1687513" y="3459163"/>
            <a:ext cx="1439862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: 圓角 3">
            <a:extLst>
              <a:ext uri="{FF2B5EF4-FFF2-40B4-BE49-F238E27FC236}">
                <a16:creationId xmlns:a16="http://schemas.microsoft.com/office/drawing/2014/main" id="{2E4891C0-A83C-5E63-F873-492BEEBCC177}"/>
              </a:ext>
            </a:extLst>
          </p:cNvPr>
          <p:cNvSpPr/>
          <p:nvPr/>
        </p:nvSpPr>
        <p:spPr>
          <a:xfrm>
            <a:off x="3149600" y="3235325"/>
            <a:ext cx="1308100" cy="433388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1ACD8736-B266-1878-1F08-99AE3B8B2518}"/>
              </a:ext>
            </a:extLst>
          </p:cNvPr>
          <p:cNvGraphicFramePr>
            <a:graphicFrameLocks noGrp="1"/>
          </p:cNvGraphicFramePr>
          <p:nvPr/>
        </p:nvGraphicFramePr>
        <p:xfrm>
          <a:off x="301625" y="38100"/>
          <a:ext cx="8324850" cy="5365750"/>
        </p:xfrm>
        <a:graphic>
          <a:graphicData uri="http://schemas.openxmlformats.org/drawingml/2006/table">
            <a:tbl>
              <a:tblPr firstRow="1" bandRow="1">
                <a:tableStyleId>{5EF00A0C-396C-4BD8-A62D-F509AEB4C581}</a:tableStyleId>
              </a:tblPr>
              <a:tblGrid>
                <a:gridCol w="1387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7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7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7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7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87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7626">
                <a:tc>
                  <a:txBody>
                    <a:bodyPr/>
                    <a:lstStyle/>
                    <a:p>
                      <a:pPr algn="r"/>
                      <a:r>
                        <a:rPr lang="zh-TW" altLang="en-US" sz="13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星期</a:t>
                      </a:r>
                      <a:endParaRPr lang="en-US" altLang="zh-TW" sz="13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r>
                        <a:rPr lang="zh-TW" altLang="en-US" sz="13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節次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一</a:t>
                      </a:r>
                    </a:p>
                  </a:txBody>
                  <a:tcPr marT="45700" marB="45700" anchor="ctr">
                    <a:solidFill>
                      <a:srgbClr val="C2DE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二</a:t>
                      </a:r>
                    </a:p>
                  </a:txBody>
                  <a:tcPr marT="45700" marB="45700" anchor="ctr">
                    <a:solidFill>
                      <a:srgbClr val="C2DE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三</a:t>
                      </a:r>
                    </a:p>
                  </a:txBody>
                  <a:tcPr marT="45700" marB="45700" anchor="ctr">
                    <a:solidFill>
                      <a:srgbClr val="C2DE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四</a:t>
                      </a:r>
                    </a:p>
                  </a:txBody>
                  <a:tcPr marT="45700" marB="45700" anchor="ctr">
                    <a:solidFill>
                      <a:srgbClr val="C2DE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五</a:t>
                      </a:r>
                    </a:p>
                  </a:txBody>
                  <a:tcPr marT="45700" marB="45700" anchor="ctr">
                    <a:solidFill>
                      <a:srgbClr val="C2DE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77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節</a:t>
                      </a:r>
                    </a:p>
                  </a:txBody>
                  <a:tcPr marT="45700" marB="45700" anchor="ctr">
                    <a:solidFill>
                      <a:srgbClr val="FFFC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國語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國語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數學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自然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社會</a:t>
                      </a:r>
                    </a:p>
                  </a:txBody>
                  <a:tcPr marT="45700" marB="457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06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節</a:t>
                      </a:r>
                    </a:p>
                  </a:txBody>
                  <a:tcPr marT="45700" marB="45700" anchor="ctr">
                    <a:solidFill>
                      <a:srgbClr val="FFFC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國語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數學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國語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電腦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彈性</a:t>
                      </a:r>
                      <a:b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</a:br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學習</a:t>
                      </a:r>
                    </a:p>
                  </a:txBody>
                  <a:tcPr marT="45700" marB="457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77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節</a:t>
                      </a:r>
                    </a:p>
                  </a:txBody>
                  <a:tcPr marT="45700" marB="45700" anchor="ctr">
                    <a:solidFill>
                      <a:srgbClr val="FFFC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社會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自然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健康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數學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數學</a:t>
                      </a:r>
                    </a:p>
                  </a:txBody>
                  <a:tcPr marT="45700" marB="457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2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節</a:t>
                      </a:r>
                    </a:p>
                  </a:txBody>
                  <a:tcPr marT="45700" marB="45700" anchor="ctr">
                    <a:solidFill>
                      <a:srgbClr val="FFFC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英語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自然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社會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國語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綜合</a:t>
                      </a:r>
                      <a:b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</a:br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活動</a:t>
                      </a:r>
                    </a:p>
                  </a:txBody>
                  <a:tcPr marT="45700" marB="457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11">
                <a:tc gridSpan="6"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午休時間</a:t>
                      </a:r>
                    </a:p>
                  </a:txBody>
                  <a:tcPr marT="45700" marB="45700" anchor="ctr">
                    <a:solidFill>
                      <a:srgbClr val="D2D3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2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節</a:t>
                      </a:r>
                    </a:p>
                  </a:txBody>
                  <a:tcPr marT="45700" marB="45700" anchor="ctr">
                    <a:solidFill>
                      <a:srgbClr val="FFFC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體育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陶藝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藝術</a:t>
                      </a:r>
                      <a:b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</a:br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音樂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T="45700" marB="457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002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節</a:t>
                      </a:r>
                    </a:p>
                  </a:txBody>
                  <a:tcPr marT="45700" marB="45700" anchor="ctr">
                    <a:solidFill>
                      <a:srgbClr val="FFFC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藝術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彈性</a:t>
                      </a:r>
                      <a:b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</a:br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學習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本土</a:t>
                      </a:r>
                      <a:endParaRPr lang="en-US" altLang="zh-TW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語文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T="45700" marB="457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002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節</a:t>
                      </a:r>
                    </a:p>
                  </a:txBody>
                  <a:tcPr marT="45700" marB="45700" anchor="ctr">
                    <a:solidFill>
                      <a:srgbClr val="FFFC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藝術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綜合</a:t>
                      </a:r>
                      <a:b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</a:br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活動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體育</a:t>
                      </a:r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T="45700" marB="4570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11">
                <a:tc gridSpan="6"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導師時間</a:t>
                      </a:r>
                    </a:p>
                  </a:txBody>
                  <a:tcPr marT="45700" marB="45700" anchor="ctr">
                    <a:solidFill>
                      <a:srgbClr val="D2D3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7EC87070-5E16-A1F4-DF15-357B33619A02}"/>
              </a:ext>
            </a:extLst>
          </p:cNvPr>
          <p:cNvCxnSpPr/>
          <p:nvPr/>
        </p:nvCxnSpPr>
        <p:spPr>
          <a:xfrm>
            <a:off x="301625" y="38100"/>
            <a:ext cx="1379538" cy="4921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749" name="矩形 11">
            <a:extLst>
              <a:ext uri="{FF2B5EF4-FFF2-40B4-BE49-F238E27FC236}">
                <a16:creationId xmlns:a16="http://schemas.microsoft.com/office/drawing/2014/main" id="{60BD2C7F-B0E1-771E-2096-7AC0CCCA72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" y="5430838"/>
            <a:ext cx="73025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一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個星期有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幾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節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「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體育課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」？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分別是在星期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幾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的第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幾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節上課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3C66A84-7D8D-D3AB-D1CF-B67316DB6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8438" y="5441950"/>
            <a:ext cx="6461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節</a:t>
            </a:r>
            <a:endParaRPr kumimoji="1" lang="en-US" altLang="zh-TW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28751" name="圖片 5">
            <a:extLst>
              <a:ext uri="{FF2B5EF4-FFF2-40B4-BE49-F238E27FC236}">
                <a16:creationId xmlns:a16="http://schemas.microsoft.com/office/drawing/2014/main" id="{B3716345-10AB-5E6F-8DC4-EE4B567B52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275" y="5532438"/>
            <a:ext cx="352425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01C6DC93-F390-744F-5CBB-673965E40E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513" y="6216650"/>
            <a:ext cx="41211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星期一第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節、星期四第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節</a:t>
            </a:r>
            <a:endParaRPr kumimoji="1" lang="en-US" altLang="zh-TW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: 圓角 3">
            <a:extLst>
              <a:ext uri="{FF2B5EF4-FFF2-40B4-BE49-F238E27FC236}">
                <a16:creationId xmlns:a16="http://schemas.microsoft.com/office/drawing/2014/main" id="{1086D319-474D-17F7-8BED-120BEE436304}"/>
              </a:ext>
            </a:extLst>
          </p:cNvPr>
          <p:cNvSpPr/>
          <p:nvPr/>
        </p:nvSpPr>
        <p:spPr>
          <a:xfrm>
            <a:off x="1725613" y="3238500"/>
            <a:ext cx="1308100" cy="433388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9" name="矩形: 圓角 3">
            <a:extLst>
              <a:ext uri="{FF2B5EF4-FFF2-40B4-BE49-F238E27FC236}">
                <a16:creationId xmlns:a16="http://schemas.microsoft.com/office/drawing/2014/main" id="{47B82B8D-DEFD-FA35-571C-556E854E695E}"/>
              </a:ext>
            </a:extLst>
          </p:cNvPr>
          <p:cNvSpPr/>
          <p:nvPr/>
        </p:nvSpPr>
        <p:spPr>
          <a:xfrm>
            <a:off x="5888038" y="4483100"/>
            <a:ext cx="1308100" cy="433388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矩形 4">
            <a:extLst>
              <a:ext uri="{FF2B5EF4-FFF2-40B4-BE49-F238E27FC236}">
                <a16:creationId xmlns:a16="http://schemas.microsoft.com/office/drawing/2014/main" id="{38A28542-8BC2-8D2E-BD66-419D82FA89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8375" y="1517650"/>
            <a:ext cx="52736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星期二共要上</a:t>
            </a:r>
            <a:r>
              <a:rPr lang="en-US" altLang="zh-TW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(         )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節課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pic>
        <p:nvPicPr>
          <p:cNvPr id="29699" name="圖片 1">
            <a:extLst>
              <a:ext uri="{FF2B5EF4-FFF2-40B4-BE49-F238E27FC236}">
                <a16:creationId xmlns:a16="http://schemas.microsoft.com/office/drawing/2014/main" id="{584609B9-591E-DC3F-6FFF-5DF5ED6CF6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" y="76200"/>
            <a:ext cx="8931275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0" name="矩形 4">
            <a:extLst>
              <a:ext uri="{FF2B5EF4-FFF2-40B4-BE49-F238E27FC236}">
                <a16:creationId xmlns:a16="http://schemas.microsoft.com/office/drawing/2014/main" id="{C7308036-9BD0-4A37-A464-2C88C567E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625" y="704850"/>
            <a:ext cx="77247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觀察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122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頁三年一班的功課表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填填看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29701" name="矩形 4">
            <a:extLst>
              <a:ext uri="{FF2B5EF4-FFF2-40B4-BE49-F238E27FC236}">
                <a16:creationId xmlns:a16="http://schemas.microsoft.com/office/drawing/2014/main" id="{81556B1F-7982-281F-4873-AEDFE657F7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700" y="2874963"/>
            <a:ext cx="61880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星期四的第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6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節上</a:t>
            </a:r>
            <a:r>
              <a:rPr lang="en-US" altLang="zh-TW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(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       </a:t>
            </a:r>
            <a:r>
              <a:rPr lang="en-US" altLang="zh-TW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  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         </a:t>
            </a:r>
            <a:r>
              <a:rPr lang="en-US" altLang="zh-TW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  )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課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pic>
        <p:nvPicPr>
          <p:cNvPr id="29702" name="圖片 6">
            <a:extLst>
              <a:ext uri="{FF2B5EF4-FFF2-40B4-BE49-F238E27FC236}">
                <a16:creationId xmlns:a16="http://schemas.microsoft.com/office/drawing/2014/main" id="{EBACC3F2-16B2-CED3-AF89-A7E18754EF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3" b="943"/>
          <a:stretch>
            <a:fillRect/>
          </a:stretch>
        </p:blipFill>
        <p:spPr bwMode="auto">
          <a:xfrm>
            <a:off x="519113" y="43830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3" name="圖片 7">
            <a:extLst>
              <a:ext uri="{FF2B5EF4-FFF2-40B4-BE49-F238E27FC236}">
                <a16:creationId xmlns:a16="http://schemas.microsoft.com/office/drawing/2014/main" id="{1DB147B6-17A1-5E59-9F35-2A71372689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7" r="7407"/>
          <a:stretch>
            <a:fillRect/>
          </a:stretch>
        </p:blipFill>
        <p:spPr bwMode="auto">
          <a:xfrm>
            <a:off x="560388" y="5749925"/>
            <a:ext cx="388937" cy="38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4" name="圖片 10">
            <a:extLst>
              <a:ext uri="{FF2B5EF4-FFF2-40B4-BE49-F238E27FC236}">
                <a16:creationId xmlns:a16="http://schemas.microsoft.com/office/drawing/2014/main" id="{9D0461E2-5C87-6FF0-DD6E-66037F6B24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" r="169"/>
          <a:stretch>
            <a:fillRect/>
          </a:stretch>
        </p:blipFill>
        <p:spPr bwMode="auto">
          <a:xfrm>
            <a:off x="522288" y="2903538"/>
            <a:ext cx="466725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5" name="圖片 11">
            <a:extLst>
              <a:ext uri="{FF2B5EF4-FFF2-40B4-BE49-F238E27FC236}">
                <a16:creationId xmlns:a16="http://schemas.microsoft.com/office/drawing/2014/main" id="{5B796150-7060-7691-04DC-B6A1A9212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2" b="2632"/>
          <a:stretch>
            <a:fillRect/>
          </a:stretch>
        </p:blipFill>
        <p:spPr bwMode="auto">
          <a:xfrm>
            <a:off x="477838" y="1490663"/>
            <a:ext cx="490537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6" name="矩形 15">
            <a:extLst>
              <a:ext uri="{FF2B5EF4-FFF2-40B4-BE49-F238E27FC236}">
                <a16:creationId xmlns:a16="http://schemas.microsoft.com/office/drawing/2014/main" id="{A423B626-F9D5-3E72-E82D-7ABC1755BA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325" y="4344988"/>
            <a:ext cx="57515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一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個星期有</a:t>
            </a:r>
            <a:r>
              <a:rPr lang="en-US" altLang="zh-TW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(   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     </a:t>
            </a:r>
            <a:r>
              <a:rPr lang="en-US" altLang="zh-TW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   )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節數學課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29707" name="矩形 16">
            <a:extLst>
              <a:ext uri="{FF2B5EF4-FFF2-40B4-BE49-F238E27FC236}">
                <a16:creationId xmlns:a16="http://schemas.microsoft.com/office/drawing/2014/main" id="{3C23C656-D618-A2DF-3D52-600D2CB05C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700" y="5718175"/>
            <a:ext cx="73548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英語課是在星期</a:t>
            </a:r>
            <a:r>
              <a:rPr lang="en-US" altLang="zh-TW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(   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     </a:t>
            </a:r>
            <a:r>
              <a:rPr lang="en-US" altLang="zh-TW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 )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的第</a:t>
            </a:r>
            <a:r>
              <a:rPr lang="en-US" altLang="zh-TW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(  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    </a:t>
            </a:r>
            <a:r>
              <a:rPr lang="en-US" altLang="zh-TW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  )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節課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07D962E-1E77-3B53-2DC4-9465F2F58E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9563" y="1498600"/>
            <a:ext cx="3492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</a:t>
            </a:r>
            <a:endParaRPr lang="zh-TW" altLang="en-US"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3589A86-C5A3-C2B3-DC95-E5CC7B5B4D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8350" y="2838450"/>
            <a:ext cx="150018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本土語文</a:t>
            </a:r>
            <a:r>
              <a:rPr lang="en-US" altLang="zh-TW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</a:t>
            </a:r>
            <a:endParaRPr lang="zh-TW" altLang="en-US" sz="2400"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5BA2C14-96D2-7E92-43C5-F6156251D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7925" y="4313238"/>
            <a:ext cx="3651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endParaRPr lang="zh-TW" altLang="en-US"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3626B2D-3B97-1BFF-6934-A8A316F6DD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5950" y="5683250"/>
            <a:ext cx="5429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一</a:t>
            </a:r>
            <a:endParaRPr lang="zh-TW" altLang="en-US"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C6669C2-5FFA-29C1-2C18-44C851F943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0150" y="5667375"/>
            <a:ext cx="3651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4</a:t>
            </a:r>
            <a:endParaRPr lang="zh-TW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矩形 11">
            <a:extLst>
              <a:ext uri="{FF2B5EF4-FFF2-40B4-BE49-F238E27FC236}">
                <a16:creationId xmlns:a16="http://schemas.microsoft.com/office/drawing/2014/main" id="{50BFE24B-1A9B-0EB0-4B33-B351D372CB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388" y="-7938"/>
            <a:ext cx="8718550" cy="508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7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下面是高鐵部</a:t>
            </a:r>
            <a:r>
              <a:rPr lang="zh-TW" altLang="en-US" sz="27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分</a:t>
            </a:r>
            <a:r>
              <a:rPr lang="zh-TW" altLang="en-US" sz="27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車次時</a:t>
            </a:r>
            <a:r>
              <a:rPr lang="zh-TW" altLang="en-US" sz="27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刻</a:t>
            </a:r>
            <a:r>
              <a:rPr lang="zh-TW" altLang="en-US" sz="27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表</a:t>
            </a:r>
            <a:r>
              <a:rPr lang="zh-TW" altLang="en-US" sz="27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9" name="矩形 11">
            <a:extLst>
              <a:ext uri="{FF2B5EF4-FFF2-40B4-BE49-F238E27FC236}">
                <a16:creationId xmlns:a16="http://schemas.microsoft.com/office/drawing/2014/main" id="{6C8E6646-75C7-C3F2-8B2D-1C3E664C0A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8700" y="5097463"/>
            <a:ext cx="8324850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667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車次的列車下午</a:t>
            </a:r>
            <a:r>
              <a:rPr lang="zh-TW" altLang="en-US" sz="2400">
                <a:latin typeface="Times New Roman" panose="02020603050405020304" pitchFamily="18" charset="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  <a:r>
              <a:rPr lang="zh-TW" altLang="en-US" sz="2400">
                <a:latin typeface="Times New Roman" panose="02020603050405020304" pitchFamily="18" charset="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分從</a:t>
            </a:r>
            <a:r>
              <a:rPr lang="zh-TW" altLang="en-US" sz="2400" u="sng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臺中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站離開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這班列車在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18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50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分會從哪</a:t>
            </a:r>
            <a:r>
              <a:rPr lang="zh-TW" altLang="en-US" sz="2400">
                <a:latin typeface="Times New Roman" panose="02020603050405020304" pitchFamily="18" charset="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站離開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19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20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分又會到達哪</a:t>
            </a:r>
            <a:r>
              <a:rPr lang="zh-TW" altLang="en-US" sz="2400">
                <a:latin typeface="Times New Roman" panose="02020603050405020304" pitchFamily="18" charset="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站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BFFAE66-E098-E66E-5FC8-8779B0E8E8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3463" y="3040063"/>
            <a:ext cx="6461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</a:t>
            </a:r>
            <a:endParaRPr kumimoji="1" lang="en-US" altLang="zh-TW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1493520-446F-2508-0D12-6B3527A99C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5650" y="4217988"/>
            <a:ext cx="17224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臺中、左營</a:t>
            </a:r>
            <a:endParaRPr kumimoji="1" lang="en-US" altLang="zh-TW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0726" name="圖片 2">
            <a:extLst>
              <a:ext uri="{FF2B5EF4-FFF2-40B4-BE49-F238E27FC236}">
                <a16:creationId xmlns:a16="http://schemas.microsoft.com/office/drawing/2014/main" id="{265580E2-03A8-858C-E012-BB6CFAD72F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0" y="50800"/>
            <a:ext cx="446088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7" name="圖片 1">
            <a:extLst>
              <a:ext uri="{FF2B5EF4-FFF2-40B4-BE49-F238E27FC236}">
                <a16:creationId xmlns:a16="http://schemas.microsoft.com/office/drawing/2014/main" id="{2C4457BD-1037-5042-4B2E-AEFC6740C8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2763"/>
            <a:ext cx="9153525" cy="2366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8" name="矩形 11">
            <a:extLst>
              <a:ext uri="{FF2B5EF4-FFF2-40B4-BE49-F238E27FC236}">
                <a16:creationId xmlns:a16="http://schemas.microsoft.com/office/drawing/2014/main" id="{F368A66A-EAFE-6B79-CEF8-0330B745F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8" y="557213"/>
            <a:ext cx="21510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時</a:t>
            </a:r>
            <a:r>
              <a:rPr lang="zh-TW" altLang="en-US" sz="18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刻</a:t>
            </a: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表</a:t>
            </a:r>
            <a:r>
              <a:rPr lang="en-US" altLang="zh-TW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/ </a:t>
            </a: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南下</a:t>
            </a:r>
            <a:endParaRPr lang="zh-TW" altLang="en-US" sz="180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0729" name="矩形 11">
            <a:extLst>
              <a:ext uri="{FF2B5EF4-FFF2-40B4-BE49-F238E27FC236}">
                <a16:creationId xmlns:a16="http://schemas.microsoft.com/office/drawing/2014/main" id="{0E46BEF9-1F37-6AA0-F69F-7992513AA3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" y="3025775"/>
            <a:ext cx="73025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149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車次的列車</a:t>
            </a:r>
            <a:r>
              <a:rPr lang="zh-TW" altLang="en-US" sz="2400">
                <a:latin typeface="Times New Roman" panose="02020603050405020304" pitchFamily="18" charset="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共停靠</a:t>
            </a:r>
            <a:r>
              <a:rPr lang="zh-TW" altLang="en-US" sz="2400">
                <a:latin typeface="Times New Roman" panose="02020603050405020304" pitchFamily="18" charset="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個站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pic>
        <p:nvPicPr>
          <p:cNvPr id="30730" name="圖片 15">
            <a:extLst>
              <a:ext uri="{FF2B5EF4-FFF2-40B4-BE49-F238E27FC236}">
                <a16:creationId xmlns:a16="http://schemas.microsoft.com/office/drawing/2014/main" id="{EF77D106-2178-4679-2941-5E01429C11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63" y="3073400"/>
            <a:ext cx="366712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圖片 16">
            <a:extLst>
              <a:ext uri="{FF2B5EF4-FFF2-40B4-BE49-F238E27FC236}">
                <a16:creationId xmlns:a16="http://schemas.microsoft.com/office/drawing/2014/main" id="{EC957394-FD8D-0A65-E732-E8FCF09909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63" y="5122863"/>
            <a:ext cx="366712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053917F4-04AE-D2C4-3861-581C1996E3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" y="3517900"/>
            <a:ext cx="730250" cy="127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圓角矩形圖說文字 19">
            <a:extLst>
              <a:ext uri="{FF2B5EF4-FFF2-40B4-BE49-F238E27FC236}">
                <a16:creationId xmlns:a16="http://schemas.microsoft.com/office/drawing/2014/main" id="{DE96105E-DADB-34FC-DF86-5C6EF4AEA0C3}"/>
              </a:ext>
            </a:extLst>
          </p:cNvPr>
          <p:cNvSpPr/>
          <p:nvPr/>
        </p:nvSpPr>
        <p:spPr bwMode="auto">
          <a:xfrm>
            <a:off x="2085975" y="3698875"/>
            <a:ext cx="5519738" cy="1047750"/>
          </a:xfrm>
          <a:prstGeom prst="wedgeRoundRectCallout">
            <a:avLst>
              <a:gd name="adj1" fmla="val -55537"/>
              <a:gd name="adj2" fmla="val -14556"/>
              <a:gd name="adj3" fmla="val 16667"/>
            </a:avLst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TW" altLang="en-US" sz="24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這班列車停靠南港</a:t>
            </a: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sz="24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臺北</a:t>
            </a: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sz="24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板橋</a:t>
            </a: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……</a:t>
            </a:r>
            <a:endParaRPr lang="zh-TW" altLang="en-US" sz="24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B74EC89-D5D4-8300-B698-D2449A765A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1663" y="5475288"/>
            <a:ext cx="18780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下午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25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</a:t>
            </a:r>
            <a:endParaRPr kumimoji="1" lang="en-US" altLang="zh-TW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65DC0C2-A6FD-C01A-20A3-4BC948EC3D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4788" y="5489575"/>
            <a:ext cx="11080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嘉義站</a:t>
            </a:r>
            <a:endParaRPr kumimoji="1" lang="en-US" altLang="zh-TW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29DCAE9-7986-C916-2E6F-02EB1061D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0850" y="6437313"/>
            <a:ext cx="11080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左營站</a:t>
            </a:r>
            <a:endParaRPr kumimoji="1" lang="en-US" altLang="zh-TW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矩形 11">
            <a:extLst>
              <a:ext uri="{FF2B5EF4-FFF2-40B4-BE49-F238E27FC236}">
                <a16:creationId xmlns:a16="http://schemas.microsoft.com/office/drawing/2014/main" id="{888518C0-DA67-BEB5-B8A8-19793230F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388" y="-7938"/>
            <a:ext cx="8718550" cy="508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7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下面是高鐵部</a:t>
            </a:r>
            <a:r>
              <a:rPr lang="zh-TW" altLang="en-US" sz="27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分</a:t>
            </a:r>
            <a:r>
              <a:rPr lang="zh-TW" altLang="en-US" sz="27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車次時</a:t>
            </a:r>
            <a:r>
              <a:rPr lang="zh-TW" altLang="en-US" sz="27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刻</a:t>
            </a:r>
            <a:r>
              <a:rPr lang="zh-TW" altLang="en-US" sz="27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表</a:t>
            </a:r>
            <a:r>
              <a:rPr lang="zh-TW" altLang="en-US" sz="27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pic>
        <p:nvPicPr>
          <p:cNvPr id="31747" name="圖片 2">
            <a:extLst>
              <a:ext uri="{FF2B5EF4-FFF2-40B4-BE49-F238E27FC236}">
                <a16:creationId xmlns:a16="http://schemas.microsoft.com/office/drawing/2014/main" id="{8C1E6292-1D88-BB9D-9B73-F611C0C8B9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0" y="50800"/>
            <a:ext cx="446088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48" name="圖片 1">
            <a:extLst>
              <a:ext uri="{FF2B5EF4-FFF2-40B4-BE49-F238E27FC236}">
                <a16:creationId xmlns:a16="http://schemas.microsoft.com/office/drawing/2014/main" id="{BEBAD395-EED6-4E73-1C06-B9B0E6B3C4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2763"/>
            <a:ext cx="9153525" cy="2366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9" name="矩形 11">
            <a:extLst>
              <a:ext uri="{FF2B5EF4-FFF2-40B4-BE49-F238E27FC236}">
                <a16:creationId xmlns:a16="http://schemas.microsoft.com/office/drawing/2014/main" id="{C650F8FD-CDBF-3D59-17DF-A44F65BDE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8" y="557213"/>
            <a:ext cx="21510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時</a:t>
            </a:r>
            <a:r>
              <a:rPr lang="zh-TW" altLang="en-US" sz="18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刻</a:t>
            </a: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表</a:t>
            </a:r>
            <a:r>
              <a:rPr lang="en-US" altLang="zh-TW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/ </a:t>
            </a: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南下</a:t>
            </a:r>
            <a:endParaRPr lang="zh-TW" altLang="en-US" sz="180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1750" name="矩形 11">
            <a:extLst>
              <a:ext uri="{FF2B5EF4-FFF2-40B4-BE49-F238E27FC236}">
                <a16:creationId xmlns:a16="http://schemas.microsoft.com/office/drawing/2014/main" id="{4F157A08-F5BA-4E5E-AB29-28305D92AC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" y="3025775"/>
            <a:ext cx="81915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搭乘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845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車次的列車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從</a:t>
            </a:r>
            <a:r>
              <a:rPr lang="zh-TW" altLang="en-US" sz="2400" u="sng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臺北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站到</a:t>
            </a:r>
            <a:r>
              <a:rPr lang="zh-TW" altLang="en-US" sz="2400" u="sng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左營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站要花多少時間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pic>
        <p:nvPicPr>
          <p:cNvPr id="31751" name="圖片 5">
            <a:extLst>
              <a:ext uri="{FF2B5EF4-FFF2-40B4-BE49-F238E27FC236}">
                <a16:creationId xmlns:a16="http://schemas.microsoft.com/office/drawing/2014/main" id="{DDA9B65F-1E79-0E73-DED2-34F2AA9B11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325" y="3073400"/>
            <a:ext cx="352425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808BA217-A0F8-6970-15F2-A5E650D05F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288" y="5767388"/>
            <a:ext cx="895351" cy="1090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圓角矩形圖說文字 22">
            <a:extLst>
              <a:ext uri="{FF2B5EF4-FFF2-40B4-BE49-F238E27FC236}">
                <a16:creationId xmlns:a16="http://schemas.microsoft.com/office/drawing/2014/main" id="{6C4EA90E-76C5-0B07-937A-488C26190D58}"/>
              </a:ext>
            </a:extLst>
          </p:cNvPr>
          <p:cNvSpPr/>
          <p:nvPr/>
        </p:nvSpPr>
        <p:spPr bwMode="auto">
          <a:xfrm>
            <a:off x="725488" y="3879850"/>
            <a:ext cx="5905500" cy="2371725"/>
          </a:xfrm>
          <a:prstGeom prst="wedgeRoundRectCallout">
            <a:avLst>
              <a:gd name="adj1" fmla="val -46421"/>
              <a:gd name="adj2" fmla="val 60035"/>
              <a:gd name="adj3" fmla="val 16667"/>
            </a:avLst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200000"/>
              </a:lnSpc>
              <a:defRPr/>
            </a:pPr>
            <a:r>
              <a:rPr lang="zh-TW" altLang="en-US" sz="24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列車在       </a:t>
            </a: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zh-TW" altLang="en-US" sz="24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       從臺北出發</a:t>
            </a: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 </a:t>
            </a:r>
          </a:p>
          <a:p>
            <a:pPr>
              <a:lnSpc>
                <a:spcPct val="200000"/>
              </a:lnSpc>
              <a:defRPr/>
            </a:pPr>
            <a:r>
              <a:rPr lang="zh-TW" altLang="en-US" sz="24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到達左營是        </a:t>
            </a: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：    ，</a:t>
            </a:r>
          </a:p>
          <a:p>
            <a:pPr>
              <a:lnSpc>
                <a:spcPct val="200000"/>
              </a:lnSpc>
              <a:defRPr/>
            </a:pPr>
            <a:r>
              <a:rPr lang="zh-TW" altLang="en-US" sz="24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所以</a:t>
            </a:r>
            <a:r>
              <a:rPr lang="zh-TW" altLang="en-US" sz="2400" dirty="0">
                <a:solidFill>
                  <a:schemeClr val="tx1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一</a:t>
            </a:r>
            <a:r>
              <a:rPr lang="zh-TW" altLang="en-US" sz="24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共要花</a:t>
            </a:r>
            <a:r>
              <a:rPr lang="en-US" altLang="zh-TW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……</a:t>
            </a:r>
            <a:endParaRPr lang="zh-TW" altLang="en-US" sz="24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8F8639D-2DC6-224A-D0F1-193570F96B48}"/>
              </a:ext>
            </a:extLst>
          </p:cNvPr>
          <p:cNvSpPr/>
          <p:nvPr/>
        </p:nvSpPr>
        <p:spPr>
          <a:xfrm>
            <a:off x="2406650" y="4121150"/>
            <a:ext cx="1358900" cy="5715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6FFEB1B-E565-3BF8-3FD6-424BE3D334D9}"/>
              </a:ext>
            </a:extLst>
          </p:cNvPr>
          <p:cNvSpPr/>
          <p:nvPr/>
        </p:nvSpPr>
        <p:spPr>
          <a:xfrm>
            <a:off x="3336925" y="4835525"/>
            <a:ext cx="1358900" cy="57308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76F7AD0-2134-0E11-0706-85F823AB9E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7138" y="4160838"/>
            <a:ext cx="11366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17    11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C6B3A17-C9C0-1293-7C1A-1DDF41C7A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9638" y="4875213"/>
            <a:ext cx="12461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19     25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46E2A61-CF4D-129E-3EDD-C7E157FEB3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6538" y="4106863"/>
            <a:ext cx="29559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19</a:t>
            </a:r>
            <a:r>
              <a:rPr kumimoji="1" lang="zh-TW" altLang="en-US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</a:t>
            </a: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25</a:t>
            </a:r>
            <a:r>
              <a:rPr kumimoji="1" lang="zh-TW" altLang="en-US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分－</a:t>
            </a: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17</a:t>
            </a:r>
            <a:r>
              <a:rPr kumimoji="1" lang="zh-TW" altLang="en-US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</a:t>
            </a: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</a:t>
            </a:r>
            <a:r>
              <a:rPr kumimoji="1" lang="zh-TW" altLang="en-US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TW" altLang="en-US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kumimoji="1" lang="zh-TW" altLang="en-US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</a:t>
            </a: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14</a:t>
            </a:r>
            <a:r>
              <a:rPr kumimoji="1" lang="zh-TW" altLang="en-US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</a:t>
            </a:r>
            <a:endParaRPr kumimoji="1" lang="en-US" altLang="zh-TW" sz="20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6EC05AE-39DF-B94F-6682-A91574D7A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0988" y="5956300"/>
            <a:ext cx="29559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TW" altLang="en-US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答：</a:t>
            </a: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kumimoji="1" lang="zh-TW" altLang="en-US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小時</a:t>
            </a: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14</a:t>
            </a:r>
            <a:r>
              <a:rPr kumimoji="1" lang="zh-TW" altLang="en-US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分鐘</a:t>
            </a:r>
            <a:endParaRPr kumimoji="1" lang="en-US" altLang="zh-TW" sz="20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5" grpId="0" animBg="1"/>
      <p:bldP spid="2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矩形 11">
            <a:extLst>
              <a:ext uri="{FF2B5EF4-FFF2-40B4-BE49-F238E27FC236}">
                <a16:creationId xmlns:a16="http://schemas.microsoft.com/office/drawing/2014/main" id="{02BA4F0E-DAA5-2005-ADA5-DDA92D4E5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388" y="-7938"/>
            <a:ext cx="8718550" cy="508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7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下面是高鐵部</a:t>
            </a:r>
            <a:r>
              <a:rPr lang="zh-TW" altLang="en-US" sz="27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分</a:t>
            </a:r>
            <a:r>
              <a:rPr lang="zh-TW" altLang="en-US" sz="27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車次時</a:t>
            </a:r>
            <a:r>
              <a:rPr lang="zh-TW" altLang="en-US" sz="27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刻</a:t>
            </a:r>
            <a:r>
              <a:rPr lang="zh-TW" altLang="en-US" sz="27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表</a:t>
            </a:r>
            <a:r>
              <a:rPr lang="zh-TW" altLang="en-US" sz="27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5F814CD-D72A-2427-9C4A-D038651A89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638" y="4303713"/>
            <a:ext cx="12620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149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車次</a:t>
            </a:r>
            <a:endParaRPr kumimoji="1" lang="en-US" altLang="zh-TW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2772" name="圖片 2">
            <a:extLst>
              <a:ext uri="{FF2B5EF4-FFF2-40B4-BE49-F238E27FC236}">
                <a16:creationId xmlns:a16="http://schemas.microsoft.com/office/drawing/2014/main" id="{02201012-12A3-BE0C-85E6-00FE2DBB5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0" y="50800"/>
            <a:ext cx="446088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3" name="圖片 1">
            <a:extLst>
              <a:ext uri="{FF2B5EF4-FFF2-40B4-BE49-F238E27FC236}">
                <a16:creationId xmlns:a16="http://schemas.microsoft.com/office/drawing/2014/main" id="{2F476348-9757-C16E-1896-E38F953FD1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2763"/>
            <a:ext cx="9153525" cy="2366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4" name="矩形 11">
            <a:extLst>
              <a:ext uri="{FF2B5EF4-FFF2-40B4-BE49-F238E27FC236}">
                <a16:creationId xmlns:a16="http://schemas.microsoft.com/office/drawing/2014/main" id="{94A47C8E-C42D-2906-0E5B-428549ADDE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8" y="557213"/>
            <a:ext cx="21510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時</a:t>
            </a:r>
            <a:r>
              <a:rPr lang="zh-TW" altLang="en-US" sz="18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刻</a:t>
            </a: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表</a:t>
            </a:r>
            <a:r>
              <a:rPr lang="en-US" altLang="zh-TW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/ </a:t>
            </a: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南下</a:t>
            </a:r>
            <a:endParaRPr lang="zh-TW" altLang="en-US" sz="180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2775" name="矩形 11">
            <a:extLst>
              <a:ext uri="{FF2B5EF4-FFF2-40B4-BE49-F238E27FC236}">
                <a16:creationId xmlns:a16="http://schemas.microsoft.com/office/drawing/2014/main" id="{939403C9-5DF9-6BF0-8E55-94C37D98C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" y="3025775"/>
            <a:ext cx="8123238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爸</a:t>
            </a:r>
            <a:r>
              <a:rPr lang="zh-TW" altLang="en-US" sz="2400">
                <a:latin typeface="Times New Roman" panose="02020603050405020304" pitchFamily="18" charset="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爸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在下午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5 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時到達</a:t>
            </a:r>
            <a:r>
              <a:rPr lang="zh-TW" altLang="en-US" sz="2400" u="sng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臺北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站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他要到</a:t>
            </a:r>
            <a:r>
              <a:rPr lang="zh-TW" altLang="en-US" sz="2400" u="sng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左營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站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他要搭乘哪</a:t>
            </a:r>
            <a:r>
              <a:rPr lang="zh-TW" altLang="en-US" sz="2400"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車次的列車才能最快到達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pic>
        <p:nvPicPr>
          <p:cNvPr id="32776" name="圖片 66">
            <a:extLst>
              <a:ext uri="{FF2B5EF4-FFF2-40B4-BE49-F238E27FC236}">
                <a16:creationId xmlns:a16="http://schemas.microsoft.com/office/drawing/2014/main" id="{2FFE19D2-CDB3-DE24-022D-F07B0398DB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688" y="3090863"/>
            <a:ext cx="354012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矩形 11">
            <a:extLst>
              <a:ext uri="{FF2B5EF4-FFF2-40B4-BE49-F238E27FC236}">
                <a16:creationId xmlns:a16="http://schemas.microsoft.com/office/drawing/2014/main" id="{A8FB9A93-6288-4DE6-2E9B-1176D7ADCF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388" y="-7938"/>
            <a:ext cx="87185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5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這是</a:t>
            </a:r>
            <a:r>
              <a:rPr lang="zh-TW" altLang="en-US" sz="2500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臺灣好行</a:t>
            </a:r>
            <a:r>
              <a:rPr lang="zh-TW" altLang="en-US" sz="25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公車在</a:t>
            </a:r>
            <a:r>
              <a:rPr lang="zh-TW" altLang="en-US" sz="2500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花蓮</a:t>
            </a:r>
            <a:r>
              <a:rPr lang="zh-TW" altLang="en-US" sz="25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的全票票價表</a:t>
            </a:r>
            <a:r>
              <a:rPr lang="zh-TW" altLang="en-US" sz="25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44816B5-CCB4-8446-A49E-BAD31C290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250" y="4000500"/>
            <a:ext cx="8001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27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元</a:t>
            </a:r>
            <a:endParaRPr kumimoji="1" lang="en-US" altLang="zh-TW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3796" name="矩形 11">
            <a:extLst>
              <a:ext uri="{FF2B5EF4-FFF2-40B4-BE49-F238E27FC236}">
                <a16:creationId xmlns:a16="http://schemas.microsoft.com/office/drawing/2014/main" id="{FF92C01D-3F5B-A705-A5AD-71020806D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475" y="4000500"/>
            <a:ext cx="81232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從</a:t>
            </a:r>
            <a:r>
              <a:rPr lang="zh-TW" altLang="en-US" sz="2400" u="sng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太魯閣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到</a:t>
            </a:r>
            <a:r>
              <a:rPr lang="zh-TW" altLang="en-US" sz="2400" u="sng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燕子</a:t>
            </a:r>
            <a:r>
              <a:rPr lang="zh-TW" altLang="en-US" sz="2400" u="sng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口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的票價是多少元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pic>
        <p:nvPicPr>
          <p:cNvPr id="33797" name="圖片 3">
            <a:extLst>
              <a:ext uri="{FF2B5EF4-FFF2-40B4-BE49-F238E27FC236}">
                <a16:creationId xmlns:a16="http://schemas.microsoft.com/office/drawing/2014/main" id="{650A5E40-2606-CB0C-5C7C-CAB4E4CDBE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288"/>
            <a:ext cx="436563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8FFDE585-60F1-21A5-C1D0-A29C748B00D0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493713"/>
          <a:ext cx="8937625" cy="3403600"/>
        </p:xfrm>
        <a:graphic>
          <a:graphicData uri="http://schemas.openxmlformats.org/drawingml/2006/table">
            <a:tbl>
              <a:tblPr firstRow="1" bandRow="1">
                <a:tableStyleId>{5EF00A0C-396C-4BD8-A62D-F509AEB4C581}</a:tableStyleId>
              </a:tblPr>
              <a:tblGrid>
                <a:gridCol w="12343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67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10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81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81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38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1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533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花蓮</a:t>
                      </a:r>
                    </a:p>
                    <a:p>
                      <a:pPr algn="ctr"/>
                      <a:r>
                        <a:rPr lang="zh-TW" altLang="en-US" sz="17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轉運站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七星潭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47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新城</a:t>
                      </a:r>
                    </a:p>
                    <a:p>
                      <a:pPr algn="ctr"/>
                      <a:r>
                        <a:rPr lang="zh-TW" altLang="en-US" sz="17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火車站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77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58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太魯閣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111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93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27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0" i="0" u="none" strike="noStrike" kern="1200" baseline="0" dirty="0">
                          <a:solidFill>
                            <a:schemeClr val="tx1"/>
                          </a:solidFill>
                          <a:latin typeface="書法中楷（破音二）" panose="02010609010101010101" pitchFamily="49" charset="-120"/>
                          <a:ea typeface="書法中楷（破音二）" panose="02010609010101010101" pitchFamily="49" charset="-120"/>
                          <a:cs typeface="Times New Roman" panose="02020603050405020304" pitchFamily="18" charset="0"/>
                        </a:rPr>
                        <a:t>燕子</a:t>
                      </a:r>
                      <a:r>
                        <a:rPr lang="zh-TW" altLang="en-US" sz="17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口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126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107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54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九曲洞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135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116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63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50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綠水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140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122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69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29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天祥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33881" name="圖片 15">
            <a:extLst>
              <a:ext uri="{FF2B5EF4-FFF2-40B4-BE49-F238E27FC236}">
                <a16:creationId xmlns:a16="http://schemas.microsoft.com/office/drawing/2014/main" id="{13B7E442-3EA3-6244-6065-44AE9C4C22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900" y="4049713"/>
            <a:ext cx="366713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圓角矩形圖說文字 15">
            <a:extLst>
              <a:ext uri="{FF2B5EF4-FFF2-40B4-BE49-F238E27FC236}">
                <a16:creationId xmlns:a16="http://schemas.microsoft.com/office/drawing/2014/main" id="{5C3F72C9-7B9F-7D7F-1B75-C5B86871C0EE}"/>
              </a:ext>
            </a:extLst>
          </p:cNvPr>
          <p:cNvSpPr/>
          <p:nvPr/>
        </p:nvSpPr>
        <p:spPr bwMode="auto">
          <a:xfrm>
            <a:off x="1654175" y="4613275"/>
            <a:ext cx="5832475" cy="1465263"/>
          </a:xfrm>
          <a:prstGeom prst="wedgeRoundRectCallout">
            <a:avLst>
              <a:gd name="adj1" fmla="val 56435"/>
              <a:gd name="adj2" fmla="val -6159"/>
              <a:gd name="adj3" fmla="val 16667"/>
            </a:avLst>
          </a:prstGeom>
          <a:solidFill>
            <a:srgbClr val="FEF0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太魯閣</a:t>
            </a:r>
            <a:r>
              <a:rPr lang="zh-TW" altLang="en-US" sz="2400" dirty="0">
                <a:solidFill>
                  <a:schemeClr val="tx1"/>
                </a:solidFill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和</a:t>
            </a:r>
            <a:r>
              <a:rPr lang="zh-TW" altLang="en-US" sz="2400" dirty="0">
                <a:solidFill>
                  <a:schemeClr val="tx1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燕子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口</a:t>
            </a:r>
            <a:endParaRPr lang="en-US" altLang="zh-TW" sz="2400" dirty="0">
              <a:solidFill>
                <a:schemeClr val="tx1"/>
              </a:solidFill>
              <a:latin typeface="Times New Roman" panose="02020603050405020304" pitchFamily="18" charset="0"/>
              <a:ea typeface="書法中楷（注音一）" panose="02010609010101010101" pitchFamily="49" charset="-12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交叉對到的數字就是票價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33883" name="圖片 6">
            <a:extLst>
              <a:ext uri="{FF2B5EF4-FFF2-40B4-BE49-F238E27FC236}">
                <a16:creationId xmlns:a16="http://schemas.microsoft.com/office/drawing/2014/main" id="{0BA89E72-CFAA-FB96-5999-1A0B74276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14" r="22382" b="21725"/>
          <a:stretch>
            <a:fillRect/>
          </a:stretch>
        </p:blipFill>
        <p:spPr bwMode="auto">
          <a:xfrm>
            <a:off x="7923213" y="5103813"/>
            <a:ext cx="1192212" cy="1131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68DCB35E-0B86-70DD-0D00-B905193FAC1A}"/>
              </a:ext>
            </a:extLst>
          </p:cNvPr>
          <p:cNvCxnSpPr/>
          <p:nvPr/>
        </p:nvCxnSpPr>
        <p:spPr>
          <a:xfrm>
            <a:off x="4354513" y="2379663"/>
            <a:ext cx="0" cy="203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C33F2B10-82E3-00CD-0110-EB6BE9FC4F3B}"/>
              </a:ext>
            </a:extLst>
          </p:cNvPr>
          <p:cNvCxnSpPr/>
          <p:nvPr/>
        </p:nvCxnSpPr>
        <p:spPr>
          <a:xfrm flipH="1">
            <a:off x="4505325" y="2636838"/>
            <a:ext cx="49212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橢圓 5">
            <a:extLst>
              <a:ext uri="{FF2B5EF4-FFF2-40B4-BE49-F238E27FC236}">
                <a16:creationId xmlns:a16="http://schemas.microsoft.com/office/drawing/2014/main" id="{0EE410C6-4DBD-89E0-F8AD-D55E813F8BD4}"/>
              </a:ext>
            </a:extLst>
          </p:cNvPr>
          <p:cNvSpPr/>
          <p:nvPr/>
        </p:nvSpPr>
        <p:spPr>
          <a:xfrm>
            <a:off x="4152900" y="2505075"/>
            <a:ext cx="433388" cy="2524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81DA656-0994-D775-BAFC-F81D5B96FBC9}"/>
              </a:ext>
            </a:extLst>
          </p:cNvPr>
          <p:cNvSpPr/>
          <p:nvPr/>
        </p:nvSpPr>
        <p:spPr>
          <a:xfrm>
            <a:off x="6673850" y="6308725"/>
            <a:ext cx="2470150" cy="5492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34819" name="矩形 11">
            <a:extLst>
              <a:ext uri="{FF2B5EF4-FFF2-40B4-BE49-F238E27FC236}">
                <a16:creationId xmlns:a16="http://schemas.microsoft.com/office/drawing/2014/main" id="{34A47D9F-D705-69E6-C6B9-9695145EE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475" y="4000500"/>
            <a:ext cx="8123238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 u="sng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陳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老師從</a:t>
            </a:r>
            <a:r>
              <a:rPr lang="zh-TW" altLang="en-US" sz="2400" u="sng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花蓮轉運站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搭到</a:t>
            </a:r>
            <a:r>
              <a:rPr lang="zh-TW" altLang="en-US" sz="2400" u="sng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天祥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的票價是多少元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來回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趟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共要付多少元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34820" name="矩形 11">
            <a:extLst>
              <a:ext uri="{FF2B5EF4-FFF2-40B4-BE49-F238E27FC236}">
                <a16:creationId xmlns:a16="http://schemas.microsoft.com/office/drawing/2014/main" id="{07A2954D-55B0-A080-6AED-C4FEF4182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388" y="-7938"/>
            <a:ext cx="87185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5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這是</a:t>
            </a:r>
            <a:r>
              <a:rPr lang="zh-TW" altLang="en-US" sz="2500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臺灣好行</a:t>
            </a:r>
            <a:r>
              <a:rPr lang="zh-TW" altLang="en-US" sz="25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公車在</a:t>
            </a:r>
            <a:r>
              <a:rPr lang="zh-TW" altLang="en-US" sz="2500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花蓮</a:t>
            </a:r>
            <a:r>
              <a:rPr lang="zh-TW" altLang="en-US" sz="25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的全票票價表</a:t>
            </a:r>
            <a:r>
              <a:rPr lang="zh-TW" altLang="en-US" sz="25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32EE812-0E8D-415E-55F3-19C645DB1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4463" y="4368800"/>
            <a:ext cx="9540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140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元</a:t>
            </a:r>
            <a:endParaRPr kumimoji="1" lang="en-US" altLang="zh-TW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4822" name="圖片 3">
            <a:extLst>
              <a:ext uri="{FF2B5EF4-FFF2-40B4-BE49-F238E27FC236}">
                <a16:creationId xmlns:a16="http://schemas.microsoft.com/office/drawing/2014/main" id="{F69E6F0A-9521-973B-0311-73DE2AA355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288"/>
            <a:ext cx="436563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圓角矩形圖說文字 15">
            <a:extLst>
              <a:ext uri="{FF2B5EF4-FFF2-40B4-BE49-F238E27FC236}">
                <a16:creationId xmlns:a16="http://schemas.microsoft.com/office/drawing/2014/main" id="{BEF7BDCA-9537-A687-C1CA-3B662A9522A9}"/>
              </a:ext>
            </a:extLst>
          </p:cNvPr>
          <p:cNvSpPr/>
          <p:nvPr/>
        </p:nvSpPr>
        <p:spPr bwMode="auto">
          <a:xfrm>
            <a:off x="2684463" y="5260975"/>
            <a:ext cx="5116512" cy="1419225"/>
          </a:xfrm>
          <a:prstGeom prst="wedgeRoundRectCallout">
            <a:avLst>
              <a:gd name="adj1" fmla="val 56435"/>
              <a:gd name="adj2" fmla="val -6159"/>
              <a:gd name="adj3" fmla="val 16667"/>
            </a:avLst>
          </a:prstGeom>
          <a:solidFill>
            <a:srgbClr val="FEF0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書法中楷（注音一）" panose="02010609010101010101" pitchFamily="49" charset="-12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書法中楷（注音一）" panose="02010609010101010101" pitchFamily="49" charset="-12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書法中楷（注音一）" panose="02010609010101010101" pitchFamily="49" charset="-12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來回</a:t>
            </a:r>
            <a:r>
              <a:rPr lang="zh-TW" altLang="en-US" sz="2000" dirty="0">
                <a:solidFill>
                  <a:schemeClr val="tx1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趟是指去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回各</a:t>
            </a:r>
            <a:r>
              <a:rPr lang="zh-TW" altLang="en-US" sz="2000" dirty="0">
                <a:solidFill>
                  <a:schemeClr val="tx1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次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34824" name="圖片 16">
            <a:extLst>
              <a:ext uri="{FF2B5EF4-FFF2-40B4-BE49-F238E27FC236}">
                <a16:creationId xmlns:a16="http://schemas.microsoft.com/office/drawing/2014/main" id="{481EAB87-7114-5561-1F5E-24DD1FE327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763" y="4049713"/>
            <a:ext cx="366712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圖片 1">
            <a:extLst>
              <a:ext uri="{FF2B5EF4-FFF2-40B4-BE49-F238E27FC236}">
                <a16:creationId xmlns:a16="http://schemas.microsoft.com/office/drawing/2014/main" id="{74670F7D-C18D-76D3-25FB-CFEBE494AD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3075" y="5551488"/>
            <a:ext cx="1050925" cy="1306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B4AD2E95-C8BE-67F2-6B8A-050648322E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275" y="5175250"/>
            <a:ext cx="22002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140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＋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140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280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54F3E9D-3F78-CED7-325D-B75CF0064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625" y="5915025"/>
            <a:ext cx="15700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答：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280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元</a:t>
            </a:r>
            <a:endParaRPr kumimoji="1" lang="en-US" altLang="zh-TW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36C3FAE1-6D1B-6DA7-A481-9B9D7DE64204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493713"/>
          <a:ext cx="8937625" cy="3403600"/>
        </p:xfrm>
        <a:graphic>
          <a:graphicData uri="http://schemas.openxmlformats.org/drawingml/2006/table">
            <a:tbl>
              <a:tblPr firstRow="1" bandRow="1">
                <a:tableStyleId>{5EF00A0C-396C-4BD8-A62D-F509AEB4C581}</a:tableStyleId>
              </a:tblPr>
              <a:tblGrid>
                <a:gridCol w="12343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67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10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81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81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38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1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533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花蓮</a:t>
                      </a:r>
                    </a:p>
                    <a:p>
                      <a:pPr algn="ctr"/>
                      <a:r>
                        <a:rPr lang="zh-TW" altLang="en-US" sz="17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轉運站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七星潭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47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新城</a:t>
                      </a:r>
                    </a:p>
                    <a:p>
                      <a:pPr algn="ctr"/>
                      <a:r>
                        <a:rPr lang="zh-TW" altLang="en-US" sz="17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火車站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77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58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太魯閣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111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93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27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0" i="0" u="none" strike="noStrike" kern="1200" baseline="0" dirty="0">
                          <a:solidFill>
                            <a:schemeClr val="tx1"/>
                          </a:solidFill>
                          <a:latin typeface="書法中楷（破音二）" panose="02010609010101010101" pitchFamily="49" charset="-120"/>
                          <a:ea typeface="書法中楷（破音二）" panose="02010609010101010101" pitchFamily="49" charset="-120"/>
                          <a:cs typeface="Times New Roman" panose="02020603050405020304" pitchFamily="18" charset="0"/>
                        </a:rPr>
                        <a:t>燕子</a:t>
                      </a:r>
                      <a:r>
                        <a:rPr lang="zh-TW" altLang="en-US" sz="17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口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126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107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54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九曲洞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135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116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63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50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綠水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140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122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69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29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天祥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36959" name="Picture 95">
            <a:extLst>
              <a:ext uri="{FF2B5EF4-FFF2-40B4-BE49-F238E27FC236}">
                <a16:creationId xmlns:a16="http://schemas.microsoft.com/office/drawing/2014/main" id="{4DBBCBD7-DCF9-A19F-0D92-14E555656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9325" y="5370513"/>
            <a:ext cx="3184525" cy="835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6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矩形 11">
            <a:extLst>
              <a:ext uri="{FF2B5EF4-FFF2-40B4-BE49-F238E27FC236}">
                <a16:creationId xmlns:a16="http://schemas.microsoft.com/office/drawing/2014/main" id="{10AB6778-2ACF-A517-60EF-4FCD09D6FB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475" y="4000500"/>
            <a:ext cx="8123238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 u="sng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宥廷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搭公車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付了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29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元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想想看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他是從哪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站搭到哪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站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35843" name="矩形 11">
            <a:extLst>
              <a:ext uri="{FF2B5EF4-FFF2-40B4-BE49-F238E27FC236}">
                <a16:creationId xmlns:a16="http://schemas.microsoft.com/office/drawing/2014/main" id="{61B6CF93-18F1-1A5E-E0C6-9093CA1503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388" y="-7938"/>
            <a:ext cx="87185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5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這是</a:t>
            </a:r>
            <a:r>
              <a:rPr lang="zh-TW" altLang="en-US" sz="2500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臺灣好行</a:t>
            </a:r>
            <a:r>
              <a:rPr lang="zh-TW" altLang="en-US" sz="25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公車在</a:t>
            </a:r>
            <a:r>
              <a:rPr lang="zh-TW" altLang="en-US" sz="2500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花蓮</a:t>
            </a:r>
            <a:r>
              <a:rPr lang="zh-TW" altLang="en-US" sz="25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的全票票價表</a:t>
            </a:r>
            <a:r>
              <a:rPr lang="zh-TW" altLang="en-US" sz="25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5DF22E7-C72B-35A0-3167-530B4532B2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1050" y="3963988"/>
            <a:ext cx="2032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燕子口到天祥</a:t>
            </a:r>
            <a:endParaRPr kumimoji="1" lang="en-US" altLang="zh-TW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5845" name="圖片 3">
            <a:extLst>
              <a:ext uri="{FF2B5EF4-FFF2-40B4-BE49-F238E27FC236}">
                <a16:creationId xmlns:a16="http://schemas.microsoft.com/office/drawing/2014/main" id="{45641681-7CEE-ED58-059F-964BA6F10F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288"/>
            <a:ext cx="436563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6" name="圖片 5">
            <a:extLst>
              <a:ext uri="{FF2B5EF4-FFF2-40B4-BE49-F238E27FC236}">
                <a16:creationId xmlns:a16="http://schemas.microsoft.com/office/drawing/2014/main" id="{E7774804-3C33-D670-5CDC-D46C2CCD83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050" y="4071938"/>
            <a:ext cx="352425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C2063DA1-328D-A62B-841F-B73B3466D7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500" y="5156200"/>
            <a:ext cx="906463" cy="120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圓角矩形圖說文字 22">
            <a:extLst>
              <a:ext uri="{FF2B5EF4-FFF2-40B4-BE49-F238E27FC236}">
                <a16:creationId xmlns:a16="http://schemas.microsoft.com/office/drawing/2014/main" id="{C311DC72-1776-2964-67E7-CAA823A4DC6B}"/>
              </a:ext>
            </a:extLst>
          </p:cNvPr>
          <p:cNvSpPr/>
          <p:nvPr/>
        </p:nvSpPr>
        <p:spPr bwMode="auto">
          <a:xfrm>
            <a:off x="2392363" y="5054600"/>
            <a:ext cx="4870450" cy="1265238"/>
          </a:xfrm>
          <a:prstGeom prst="wedgeRoundRectCallout">
            <a:avLst>
              <a:gd name="adj1" fmla="val 55909"/>
              <a:gd name="adj2" fmla="val -22081"/>
              <a:gd name="adj3" fmla="val 16667"/>
            </a:avLst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先找到票價是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29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元</a:t>
            </a: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</a:p>
          <a:p>
            <a:pPr>
              <a:defRPr/>
            </a:pP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再往上</a:t>
            </a:r>
            <a:r>
              <a:rPr lang="zh-TW" altLang="en-US" sz="2400" dirty="0">
                <a:solidFill>
                  <a:schemeClr val="tx1"/>
                </a:solidFill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和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往右對齊</a:t>
            </a:r>
            <a:r>
              <a:rPr lang="en-US" altLang="zh-TW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……</a:t>
            </a:r>
            <a:endParaRPr lang="zh-TW" altLang="en-US" sz="24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3BC5E6F-C6BF-2F6D-4617-35AA51278D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0188" y="4368800"/>
            <a:ext cx="13128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可互換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F4C09F5A-DFBA-D430-D39A-E0989BEBC59B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493713"/>
          <a:ext cx="8937625" cy="3403600"/>
        </p:xfrm>
        <a:graphic>
          <a:graphicData uri="http://schemas.openxmlformats.org/drawingml/2006/table">
            <a:tbl>
              <a:tblPr firstRow="1" bandRow="1">
                <a:tableStyleId>{5EF00A0C-396C-4BD8-A62D-F509AEB4C581}</a:tableStyleId>
              </a:tblPr>
              <a:tblGrid>
                <a:gridCol w="12343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67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10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81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81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38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1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533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花蓮</a:t>
                      </a:r>
                    </a:p>
                    <a:p>
                      <a:pPr algn="ctr"/>
                      <a:r>
                        <a:rPr lang="zh-TW" altLang="en-US" sz="17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轉運站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七星潭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47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新城</a:t>
                      </a:r>
                    </a:p>
                    <a:p>
                      <a:pPr algn="ctr"/>
                      <a:r>
                        <a:rPr lang="zh-TW" altLang="en-US" sz="17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火車站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77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58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太魯閣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111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93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27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0" i="0" u="none" strike="noStrike" kern="1200" baseline="0" dirty="0">
                          <a:solidFill>
                            <a:schemeClr val="tx1"/>
                          </a:solidFill>
                          <a:latin typeface="書法中楷（破音二）" panose="02010609010101010101" pitchFamily="49" charset="-120"/>
                          <a:ea typeface="書法中楷（破音二）" panose="02010609010101010101" pitchFamily="49" charset="-120"/>
                          <a:cs typeface="Times New Roman" panose="02020603050405020304" pitchFamily="18" charset="0"/>
                        </a:rPr>
                        <a:t>燕子</a:t>
                      </a:r>
                      <a:r>
                        <a:rPr lang="zh-TW" altLang="en-US" sz="17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口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126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107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54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九曲洞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135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116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63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50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綠水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140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122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69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29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天祥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7F88367E-FECA-D76A-CEF7-3DFC81D70E18}"/>
              </a:ext>
            </a:extLst>
          </p:cNvPr>
          <p:cNvCxnSpPr/>
          <p:nvPr/>
        </p:nvCxnSpPr>
        <p:spPr>
          <a:xfrm flipH="1" flipV="1">
            <a:off x="5391150" y="2752725"/>
            <a:ext cx="1588" cy="87788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98710EE8-5F26-6134-B443-09583EB4FD03}"/>
              </a:ext>
            </a:extLst>
          </p:cNvPr>
          <p:cNvCxnSpPr/>
          <p:nvPr/>
        </p:nvCxnSpPr>
        <p:spPr>
          <a:xfrm flipV="1">
            <a:off x="5715000" y="3590925"/>
            <a:ext cx="268605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橢圓 14">
            <a:extLst>
              <a:ext uri="{FF2B5EF4-FFF2-40B4-BE49-F238E27FC236}">
                <a16:creationId xmlns:a16="http://schemas.microsoft.com/office/drawing/2014/main" id="{6866D107-A341-7803-9C25-C97B5C63425F}"/>
              </a:ext>
            </a:extLst>
          </p:cNvPr>
          <p:cNvSpPr/>
          <p:nvPr/>
        </p:nvSpPr>
        <p:spPr>
          <a:xfrm>
            <a:off x="5324475" y="3581400"/>
            <a:ext cx="433388" cy="2524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1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矩形 11">
            <a:extLst>
              <a:ext uri="{FF2B5EF4-FFF2-40B4-BE49-F238E27FC236}">
                <a16:creationId xmlns:a16="http://schemas.microsoft.com/office/drawing/2014/main" id="{1255030A-21E4-6642-9F4B-A67C593F23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475" y="4000500"/>
            <a:ext cx="8123238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叔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叔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從</a:t>
            </a:r>
            <a:r>
              <a:rPr lang="zh-TW" altLang="en-US" sz="2400" u="sng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七星潭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上車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到</a:t>
            </a:r>
            <a:r>
              <a:rPr lang="zh-TW" altLang="en-US" sz="2400" u="sng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太魯閣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下車</a:t>
            </a:r>
            <a:r>
              <a:rPr lang="zh-TW" altLang="en-US" sz="2400"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和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朋友會合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再</a:t>
            </a:r>
            <a:r>
              <a:rPr lang="zh-TW" altLang="en-US" sz="2400"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起到</a:t>
            </a:r>
            <a:r>
              <a:rPr lang="zh-TW" altLang="en-US" sz="2400" u="sng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天祥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叔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叔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坐車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共花了多少元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36867" name="矩形 11">
            <a:extLst>
              <a:ext uri="{FF2B5EF4-FFF2-40B4-BE49-F238E27FC236}">
                <a16:creationId xmlns:a16="http://schemas.microsoft.com/office/drawing/2014/main" id="{BE778843-0106-2299-386A-C18DA9292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388" y="-7938"/>
            <a:ext cx="87185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5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這是</a:t>
            </a:r>
            <a:r>
              <a:rPr lang="zh-TW" altLang="en-US" sz="2500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臺灣好行</a:t>
            </a:r>
            <a:r>
              <a:rPr lang="zh-TW" altLang="en-US" sz="25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公車在</a:t>
            </a:r>
            <a:r>
              <a:rPr lang="zh-TW" altLang="en-US" sz="2500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花蓮</a:t>
            </a:r>
            <a:r>
              <a:rPr lang="zh-TW" altLang="en-US" sz="25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的全票票價表</a:t>
            </a:r>
            <a:r>
              <a:rPr lang="zh-TW" altLang="en-US" sz="25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pic>
        <p:nvPicPr>
          <p:cNvPr id="36868" name="圖片 3">
            <a:extLst>
              <a:ext uri="{FF2B5EF4-FFF2-40B4-BE49-F238E27FC236}">
                <a16:creationId xmlns:a16="http://schemas.microsoft.com/office/drawing/2014/main" id="{ACD81771-712F-2FC4-2119-FF5C2BFEA0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288"/>
            <a:ext cx="436563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9" name="圖片 66">
            <a:extLst>
              <a:ext uri="{FF2B5EF4-FFF2-40B4-BE49-F238E27FC236}">
                <a16:creationId xmlns:a16="http://schemas.microsoft.com/office/drawing/2014/main" id="{C10B6AE8-7971-DA0B-B18A-1F20B26BD7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050" y="4095750"/>
            <a:ext cx="35401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E11B18F2-C9DF-3DF2-1277-E2D6474488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475" y="5295900"/>
            <a:ext cx="22510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58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＋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56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114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0F9B414-0C3F-C2D9-BD5C-0E55FCFF06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0300" y="6126163"/>
            <a:ext cx="15700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答：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114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元</a:t>
            </a:r>
            <a:endParaRPr kumimoji="1" lang="en-US" altLang="zh-TW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369C1074-A157-64B9-6A9A-FD79F88696F8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493713"/>
          <a:ext cx="8937625" cy="3403600"/>
        </p:xfrm>
        <a:graphic>
          <a:graphicData uri="http://schemas.openxmlformats.org/drawingml/2006/table">
            <a:tbl>
              <a:tblPr firstRow="1" bandRow="1">
                <a:tableStyleId>{5EF00A0C-396C-4BD8-A62D-F509AEB4C581}</a:tableStyleId>
              </a:tblPr>
              <a:tblGrid>
                <a:gridCol w="12343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67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10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81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81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38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1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533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花蓮</a:t>
                      </a:r>
                    </a:p>
                    <a:p>
                      <a:pPr algn="ctr"/>
                      <a:r>
                        <a:rPr lang="zh-TW" altLang="en-US" sz="17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轉運站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七星潭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47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新城</a:t>
                      </a:r>
                    </a:p>
                    <a:p>
                      <a:pPr algn="ctr"/>
                      <a:r>
                        <a:rPr lang="zh-TW" altLang="en-US" sz="17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火車站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77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58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太魯閣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111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93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27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0" i="0" u="none" strike="noStrike" kern="1200" baseline="0" dirty="0">
                          <a:solidFill>
                            <a:schemeClr val="tx1"/>
                          </a:solidFill>
                          <a:latin typeface="書法中楷（破音二）" panose="02010609010101010101" pitchFamily="49" charset="-120"/>
                          <a:ea typeface="書法中楷（破音二）" panose="02010609010101010101" pitchFamily="49" charset="-120"/>
                          <a:cs typeface="Times New Roman" panose="02020603050405020304" pitchFamily="18" charset="0"/>
                        </a:rPr>
                        <a:t>燕子</a:t>
                      </a:r>
                      <a:r>
                        <a:rPr lang="zh-TW" altLang="en-US" sz="17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口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126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107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54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九曲洞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135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116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63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50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綠水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140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122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69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29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天祥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33" marR="914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標題 1">
            <a:extLst>
              <a:ext uri="{FF2B5EF4-FFF2-40B4-BE49-F238E27FC236}">
                <a16:creationId xmlns:a16="http://schemas.microsoft.com/office/drawing/2014/main" id="{12A96239-2C33-9AF8-D8E4-44FA7ACDE0FB}"/>
              </a:ext>
            </a:extLst>
          </p:cNvPr>
          <p:cNvSpPr txBox="1">
            <a:spLocks/>
          </p:cNvSpPr>
          <p:nvPr/>
        </p:nvSpPr>
        <p:spPr bwMode="auto">
          <a:xfrm>
            <a:off x="606425" y="3681413"/>
            <a:ext cx="8161338" cy="132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第</a:t>
            </a:r>
            <a:r>
              <a:rPr lang="en-US" altLang="zh-TW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9</a:t>
            </a: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單元</a:t>
            </a:r>
            <a:endParaRPr lang="en-US" altLang="zh-TW" sz="5500" b="1">
              <a:solidFill>
                <a:srgbClr val="0099CC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Arial" panose="020B0604020202020204" pitchFamily="34" charset="0"/>
            </a:endParaRPr>
          </a:p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統計表</a:t>
            </a:r>
            <a:endParaRPr lang="en-US" altLang="zh-TW" sz="5500" b="1">
              <a:solidFill>
                <a:srgbClr val="0099CC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Arial" panose="020B0604020202020204" pitchFamily="34" charset="0"/>
            </a:endParaRPr>
          </a:p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活動</a:t>
            </a:r>
            <a:r>
              <a:rPr lang="en-US" altLang="zh-TW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3 </a:t>
            </a: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製作統計表及應用</a:t>
            </a: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F4EDDE0C-2DE9-944F-0FD1-DDF61A225535}"/>
              </a:ext>
            </a:extLst>
          </p:cNvPr>
          <p:cNvSpPr/>
          <p:nvPr/>
        </p:nvSpPr>
        <p:spPr>
          <a:xfrm>
            <a:off x="6673850" y="6308725"/>
            <a:ext cx="2470150" cy="5492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pic>
        <p:nvPicPr>
          <p:cNvPr id="38915" name="圖片 1">
            <a:extLst>
              <a:ext uri="{FF2B5EF4-FFF2-40B4-BE49-F238E27FC236}">
                <a16:creationId xmlns:a16="http://schemas.microsoft.com/office/drawing/2014/main" id="{A8AC6C50-5284-B431-42A4-DE413E6E08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22225"/>
            <a:ext cx="441325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016FC35E-10D0-A370-B005-578247DCFD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31838"/>
            <a:ext cx="3667125" cy="299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50AC14BF-E736-FD1E-CAC8-84B6F776BF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5" y="1636713"/>
            <a:ext cx="2549525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熱</a:t>
            </a:r>
            <a:r>
              <a:rPr lang="zh-TW" altLang="en-US" sz="20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量</a:t>
            </a: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506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大卡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蛋白質</a:t>
            </a: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21.3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公克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糖</a:t>
            </a: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12.2 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公克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脂肪</a:t>
            </a: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11.1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524B3D3-30B0-D5CA-7CCD-F4A7AED5D9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638" y="1265238"/>
            <a:ext cx="22621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800">
                <a:solidFill>
                  <a:srgbClr val="00B05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一</a:t>
            </a:r>
            <a:r>
              <a:rPr lang="zh-TW" altLang="en-US" sz="1800">
                <a:solidFill>
                  <a:srgbClr val="00B05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份義大利麵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CA1EB72-5B30-021E-70CF-5BD919215C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6638" y="973138"/>
            <a:ext cx="3268662" cy="278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EC7C93A6-681B-F3B5-BF1F-AADE20C30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4788" y="1533525"/>
            <a:ext cx="2547937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熱</a:t>
            </a:r>
            <a:r>
              <a:rPr lang="zh-TW" altLang="en-US" sz="20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量</a:t>
            </a: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140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大卡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蛋白質</a:t>
            </a: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2.8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公克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糖</a:t>
            </a: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7.9 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公克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脂肪</a:t>
            </a: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3.1 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公克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EA141A5-3242-C5DD-6645-CBA00C2B1D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5263" y="1214438"/>
            <a:ext cx="22621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800">
                <a:solidFill>
                  <a:srgbClr val="6680FF"/>
                </a:solidFill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 sz="1800">
                <a:solidFill>
                  <a:srgbClr val="6680FF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碗玉米濃湯</a:t>
            </a:r>
            <a:endParaRPr lang="zh-TW" altLang="en-US" sz="1800">
              <a:latin typeface="書法中楷（注音一）" panose="02010609010101010101" pitchFamily="49" charset="-120"/>
              <a:ea typeface="書法中楷（注音一）" panose="02010609010101010101" pitchFamily="49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398EAD07-75E3-0D6E-653E-CF738C664B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50" y="3859213"/>
            <a:ext cx="2871788" cy="295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2FAF4CCD-F113-3965-E4DC-CECD062F3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300" y="4981575"/>
            <a:ext cx="2549525" cy="132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熱</a:t>
            </a:r>
            <a:r>
              <a:rPr lang="zh-TW" altLang="en-US" sz="20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量</a:t>
            </a: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132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大卡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蛋白質</a:t>
            </a: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2.8 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公克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糖</a:t>
            </a: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26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公克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脂肪</a:t>
            </a: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公克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55C2F18-7FBA-67BF-B6A8-D4F3516320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013" y="4514850"/>
            <a:ext cx="19161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800">
                <a:solidFill>
                  <a:srgbClr val="FF4D00"/>
                </a:solidFill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 sz="1800">
                <a:solidFill>
                  <a:srgbClr val="FF4D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杯柳橙汁</a:t>
            </a:r>
            <a:endParaRPr lang="zh-TW" altLang="en-US" sz="1800">
              <a:latin typeface="書法中楷（注音一）" panose="02010609010101010101" pitchFamily="49" charset="-120"/>
              <a:ea typeface="書法中楷（注音一）" panose="02010609010101010101" pitchFamily="49" charset="-120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2DBA0FBD-9B06-9897-8D6A-3CE2A290DC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2925" y="3859213"/>
            <a:ext cx="3046413" cy="286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893199D3-4B70-9864-91B4-8534E8925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6975" y="4492625"/>
            <a:ext cx="15684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800">
                <a:solidFill>
                  <a:srgbClr val="FF338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一</a:t>
            </a:r>
            <a:r>
              <a:rPr lang="zh-TW" altLang="en-US" sz="1800">
                <a:solidFill>
                  <a:srgbClr val="FF338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個蘋果</a:t>
            </a:r>
            <a:endParaRPr lang="zh-TW" altLang="en-US" sz="1800">
              <a:latin typeface="書法中楷（注音一）" panose="02010609010101010101" pitchFamily="49" charset="-120"/>
              <a:ea typeface="書法中楷（注音一）" panose="02010609010101010101" pitchFamily="49" charset="-12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941F3C4-120E-1A1F-7AA4-4E52D9DA8E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2325" y="4953000"/>
            <a:ext cx="2549525" cy="132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熱</a:t>
            </a:r>
            <a:r>
              <a:rPr lang="zh-TW" altLang="en-US" sz="20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量</a:t>
            </a: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65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大卡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蛋白質</a:t>
            </a: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0.2 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公克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糖</a:t>
            </a: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13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公克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脂肪</a:t>
            </a: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0.1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公克</a:t>
            </a: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DB719B6A-3CD8-9AF2-52CF-8E677D8FC72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9888" y="3332163"/>
            <a:ext cx="1027112" cy="163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9BD55F31-C72B-EF04-4C94-392266C2D80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3525" y="3254375"/>
            <a:ext cx="1160463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3C1945E8-CD53-2F49-B8E9-A0E00660F2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2813" y="4584700"/>
            <a:ext cx="8778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800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豆豆</a:t>
            </a:r>
            <a:endParaRPr lang="zh-TW" altLang="en-US" sz="180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7FEE786-484E-90E5-0B3A-8EAD83B61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5963" y="4889500"/>
            <a:ext cx="8778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姐</a:t>
            </a:r>
            <a:r>
              <a:rPr lang="zh-TW" altLang="en-US" sz="18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姐</a:t>
            </a:r>
          </a:p>
        </p:txBody>
      </p:sp>
      <p:sp>
        <p:nvSpPr>
          <p:cNvPr id="30" name="圓角矩形圖說文字 29">
            <a:extLst>
              <a:ext uri="{FF2B5EF4-FFF2-40B4-BE49-F238E27FC236}">
                <a16:creationId xmlns:a16="http://schemas.microsoft.com/office/drawing/2014/main" id="{4DF72AAC-CF01-622C-37B6-05274F0BB201}"/>
              </a:ext>
            </a:extLst>
          </p:cNvPr>
          <p:cNvSpPr/>
          <p:nvPr/>
        </p:nvSpPr>
        <p:spPr bwMode="auto">
          <a:xfrm>
            <a:off x="6869113" y="2003425"/>
            <a:ext cx="2282825" cy="993775"/>
          </a:xfrm>
          <a:prstGeom prst="wedgeRoundRectCallout">
            <a:avLst>
              <a:gd name="adj1" fmla="val -21786"/>
              <a:gd name="adj2" fmla="val 63164"/>
              <a:gd name="adj3" fmla="val 16667"/>
            </a:avLst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TW" altLang="en-US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資料好多</a:t>
            </a:r>
            <a:r>
              <a:rPr lang="zh-TW" altLang="en-US" dirty="0">
                <a:solidFill>
                  <a:schemeClr val="tx1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呵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！</a:t>
            </a:r>
          </a:p>
          <a:p>
            <a:pPr>
              <a:defRPr/>
            </a:pPr>
            <a:r>
              <a:rPr lang="zh-TW" altLang="en-US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看得頭都昏了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1" name="圓角矩形圖說文字 30">
            <a:extLst>
              <a:ext uri="{FF2B5EF4-FFF2-40B4-BE49-F238E27FC236}">
                <a16:creationId xmlns:a16="http://schemas.microsoft.com/office/drawing/2014/main" id="{C890037C-F1E2-F3AB-AA90-2D35D69ED370}"/>
              </a:ext>
            </a:extLst>
          </p:cNvPr>
          <p:cNvSpPr/>
          <p:nvPr/>
        </p:nvSpPr>
        <p:spPr bwMode="auto">
          <a:xfrm>
            <a:off x="6410325" y="5402263"/>
            <a:ext cx="2282825" cy="1023937"/>
          </a:xfrm>
          <a:prstGeom prst="wedgeRoundRectCallout">
            <a:avLst>
              <a:gd name="adj1" fmla="val 31759"/>
              <a:gd name="adj2" fmla="val -85353"/>
              <a:gd name="adj3" fmla="val 16667"/>
            </a:avLst>
          </a:prstGeom>
          <a:solidFill>
            <a:schemeClr val="bg1"/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TW" altLang="en-US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把資料做成表格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TW" altLang="en-US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就會比較清楚了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8934" name="矩形 11">
            <a:extLst>
              <a:ext uri="{FF2B5EF4-FFF2-40B4-BE49-F238E27FC236}">
                <a16:creationId xmlns:a16="http://schemas.microsoft.com/office/drawing/2014/main" id="{094E8BFB-C112-04AA-3F20-8A94A5714B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388" y="-7938"/>
            <a:ext cx="871855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豆豆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買了</a:t>
            </a:r>
            <a:r>
              <a:rPr lang="zh-TW" altLang="en-US" sz="24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些食物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他查詢每種食物的熱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量</a:t>
            </a:r>
            <a:r>
              <a:rPr lang="zh-TW" altLang="en-US" sz="24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和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營養成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分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5" grpId="0"/>
      <p:bldP spid="6" grpId="0"/>
      <p:bldP spid="20" grpId="0"/>
      <p:bldP spid="12" grpId="0"/>
      <p:bldP spid="14" grpId="0"/>
      <p:bldP spid="25" grpId="0"/>
      <p:bldP spid="19" grpId="0"/>
      <p:bldP spid="22" grpId="0"/>
      <p:bldP spid="30" grpId="0" animBg="1"/>
      <p:bldP spid="3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圖片 15">
            <a:extLst>
              <a:ext uri="{FF2B5EF4-FFF2-40B4-BE49-F238E27FC236}">
                <a16:creationId xmlns:a16="http://schemas.microsoft.com/office/drawing/2014/main" id="{9BC80623-7DE3-5722-2FAD-E1B17DCFF2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" y="161925"/>
            <a:ext cx="36671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39" name="矩形 11">
            <a:extLst>
              <a:ext uri="{FF2B5EF4-FFF2-40B4-BE49-F238E27FC236}">
                <a16:creationId xmlns:a16="http://schemas.microsoft.com/office/drawing/2014/main" id="{17F39692-8984-182C-9FA8-483C72ABCF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463" y="85725"/>
            <a:ext cx="87185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完成下面統計表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pic>
        <p:nvPicPr>
          <p:cNvPr id="39940" name="圖片 2">
            <a:extLst>
              <a:ext uri="{FF2B5EF4-FFF2-40B4-BE49-F238E27FC236}">
                <a16:creationId xmlns:a16="http://schemas.microsoft.com/office/drawing/2014/main" id="{F4876BCA-24AF-105D-87B5-1370CA1483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675" y="749300"/>
            <a:ext cx="8923338" cy="3703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1" name="矩形 11">
            <a:extLst>
              <a:ext uri="{FF2B5EF4-FFF2-40B4-BE49-F238E27FC236}">
                <a16:creationId xmlns:a16="http://schemas.microsoft.com/office/drawing/2014/main" id="{0C013281-37D9-50B7-AA6C-2854F9B0F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938" y="852488"/>
            <a:ext cx="51387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solidFill>
                  <a:schemeClr val="bg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食物的熱</a:t>
            </a:r>
            <a:r>
              <a:rPr lang="zh-TW" altLang="en-US" sz="2000">
                <a:solidFill>
                  <a:schemeClr val="bg1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量</a:t>
            </a:r>
            <a:r>
              <a:rPr lang="zh-TW" altLang="en-US" sz="2000">
                <a:solidFill>
                  <a:schemeClr val="bg1"/>
                </a:solidFill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和</a:t>
            </a:r>
            <a:r>
              <a:rPr lang="zh-TW" altLang="en-US" sz="2000">
                <a:solidFill>
                  <a:schemeClr val="bg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營養成</a:t>
            </a:r>
            <a:r>
              <a:rPr lang="zh-TW" altLang="en-US" sz="2000">
                <a:solidFill>
                  <a:schemeClr val="bg1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分</a:t>
            </a:r>
            <a:r>
              <a:rPr lang="zh-TW" altLang="en-US" sz="2000">
                <a:solidFill>
                  <a:schemeClr val="bg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統計表</a:t>
            </a:r>
            <a:endParaRPr lang="zh-TW" altLang="en-US" sz="2000">
              <a:solidFill>
                <a:schemeClr val="bg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9942" name="矩形 11">
            <a:extLst>
              <a:ext uri="{FF2B5EF4-FFF2-40B4-BE49-F238E27FC236}">
                <a16:creationId xmlns:a16="http://schemas.microsoft.com/office/drawing/2014/main" id="{65FABFA1-0A16-1D9D-D5FD-903C322F62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7913" y="1457325"/>
            <a:ext cx="173672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6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食物名稱</a:t>
            </a:r>
            <a:endParaRPr lang="zh-TW" altLang="en-US" sz="160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9943" name="矩形 11">
            <a:extLst>
              <a:ext uri="{FF2B5EF4-FFF2-40B4-BE49-F238E27FC236}">
                <a16:creationId xmlns:a16="http://schemas.microsoft.com/office/drawing/2014/main" id="{39EA966C-EDAE-4D4D-DE7E-6A5A68FAE9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588" y="1779588"/>
            <a:ext cx="17367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6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熱</a:t>
            </a:r>
            <a:r>
              <a:rPr lang="zh-TW" altLang="en-US" sz="16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量</a:t>
            </a:r>
            <a:r>
              <a:rPr lang="zh-TW" altLang="en-US" sz="16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及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6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營養成</a:t>
            </a:r>
            <a:r>
              <a:rPr lang="zh-TW" altLang="en-US" sz="16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分</a:t>
            </a:r>
          </a:p>
        </p:txBody>
      </p:sp>
      <p:sp>
        <p:nvSpPr>
          <p:cNvPr id="39944" name="矩形 11">
            <a:extLst>
              <a:ext uri="{FF2B5EF4-FFF2-40B4-BE49-F238E27FC236}">
                <a16:creationId xmlns:a16="http://schemas.microsoft.com/office/drawing/2014/main" id="{4CFA4476-233A-2CFB-A19F-3CC30AA5F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075" y="2336800"/>
            <a:ext cx="91916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6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熱</a:t>
            </a:r>
            <a:r>
              <a:rPr lang="zh-TW" altLang="en-US" sz="16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量</a:t>
            </a:r>
            <a:endParaRPr lang="zh-TW" altLang="en-US" sz="160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9945" name="矩形 11">
            <a:extLst>
              <a:ext uri="{FF2B5EF4-FFF2-40B4-BE49-F238E27FC236}">
                <a16:creationId xmlns:a16="http://schemas.microsoft.com/office/drawing/2014/main" id="{7507B1B6-0947-DF9F-F296-8F65107246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2717800"/>
            <a:ext cx="12287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6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蛋白質</a:t>
            </a:r>
            <a:endParaRPr lang="zh-TW" altLang="en-US" sz="160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9946" name="矩形 11">
            <a:extLst>
              <a:ext uri="{FF2B5EF4-FFF2-40B4-BE49-F238E27FC236}">
                <a16:creationId xmlns:a16="http://schemas.microsoft.com/office/drawing/2014/main" id="{B1D9AE5A-4F38-55D0-8679-8114761DE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2688" y="1793875"/>
            <a:ext cx="300831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6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義大利麵      玉米濃湯</a:t>
            </a:r>
            <a:endParaRPr lang="zh-TW" altLang="en-US" sz="160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9947" name="矩形 11">
            <a:extLst>
              <a:ext uri="{FF2B5EF4-FFF2-40B4-BE49-F238E27FC236}">
                <a16:creationId xmlns:a16="http://schemas.microsoft.com/office/drawing/2014/main" id="{09744E2C-6B0C-A849-3121-0DF7EA9BA4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7025" y="2332038"/>
            <a:ext cx="6842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506</a:t>
            </a:r>
            <a:endParaRPr lang="zh-TW" altLang="en-US" sz="20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E6050C40-EE84-22E3-8566-B6A59275E9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3065463"/>
            <a:ext cx="5318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糖</a:t>
            </a:r>
            <a:endParaRPr kumimoji="1" lang="en-US" altLang="zh-TW" sz="1800">
              <a:latin typeface="書法中楷（注音一）" panose="02010609010101010101" pitchFamily="49" charset="-120"/>
              <a:ea typeface="書法中楷（注音一）" panose="02010609010101010101" pitchFamily="49" charset="-120"/>
              <a:cs typeface="Times New Roman" panose="02020603050405020304" pitchFamily="18" charset="0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CB87BB3C-814E-AE2F-38B2-08A8C4BE60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863" y="3432175"/>
            <a:ext cx="8778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脂肪</a:t>
            </a:r>
            <a:endParaRPr kumimoji="1" lang="en-US" altLang="zh-TW" sz="1800">
              <a:latin typeface="書法中楷（注音一）" panose="02010609010101010101" pitchFamily="49" charset="-120"/>
              <a:ea typeface="書法中楷（注音一）" panose="02010609010101010101" pitchFamily="49" charset="-120"/>
              <a:cs typeface="Times New Roman" panose="02020603050405020304" pitchFamily="18" charset="0"/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BD752299-D0C5-6700-FDFA-8AA9FF76F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2686050"/>
            <a:ext cx="6334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21.3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5AF0AF63-DDB8-6024-5C71-7838356CB8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3041650"/>
            <a:ext cx="635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12.2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E6AEB050-54D0-DE16-2120-52714239C8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7975" y="3395663"/>
            <a:ext cx="6238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11.1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6CC37CAA-C9BE-9568-CB8E-E7A1536402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3563" y="2316163"/>
            <a:ext cx="568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140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B17A811E-7344-6CF9-902F-82F89CF0F4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9438" y="2682875"/>
            <a:ext cx="5048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2.8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83408BFB-F2D1-0E86-5C7F-78D26B8B5D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9438" y="3048000"/>
            <a:ext cx="5048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7.9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5C0D7F39-745B-7104-EB2E-FB4F4A027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3088" y="3414713"/>
            <a:ext cx="5048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3.1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69BFB59B-9481-79AD-92E0-9E35A4318E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9138" y="2349500"/>
            <a:ext cx="5699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132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2290A309-6CBD-0849-0F12-6749461BC4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2475" y="2703513"/>
            <a:ext cx="5048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2.8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673EECA9-5356-BE98-237D-2F3B38A502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4225" y="3059113"/>
            <a:ext cx="441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26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0BA4A946-4EAE-13F9-D151-6669E17CAA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7725" y="3414713"/>
            <a:ext cx="3127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46571283-E69D-BEC8-93E2-1EE875E49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0" y="1762125"/>
            <a:ext cx="9540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TW" altLang="en-US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柳橙汁</a:t>
            </a:r>
            <a:endParaRPr kumimoji="1" lang="en-US" altLang="zh-TW" sz="20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75739C12-564D-9321-DEE6-A4BD9632D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8375" y="2339975"/>
            <a:ext cx="441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65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5C149981-96A1-BC26-41B4-8E2014AD3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6625" y="2706688"/>
            <a:ext cx="5064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0.2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62198E18-CF72-CBA2-7297-7E6A621762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8375" y="3073400"/>
            <a:ext cx="441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13</a:t>
            </a: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127D6F3A-D6DD-077A-A35E-4067CE1C1B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6625" y="3441700"/>
            <a:ext cx="5048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0.1</a:t>
            </a: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57380FA2-22D4-EDA9-A8D2-18ED33BB4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7563" y="1762125"/>
            <a:ext cx="6969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TW" altLang="en-US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蘋果</a:t>
            </a:r>
            <a:endParaRPr kumimoji="1" lang="en-US" altLang="zh-TW" sz="20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9967" name="矩形 11">
            <a:extLst>
              <a:ext uri="{FF2B5EF4-FFF2-40B4-BE49-F238E27FC236}">
                <a16:creationId xmlns:a16="http://schemas.microsoft.com/office/drawing/2014/main" id="{932205B7-860E-F974-C47C-469557C35D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4975" y="725488"/>
            <a:ext cx="22923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填入食物名稱</a:t>
            </a:r>
            <a:endParaRPr lang="zh-TW" altLang="en-US" sz="180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9968" name="矩形 11">
            <a:extLst>
              <a:ext uri="{FF2B5EF4-FFF2-40B4-BE49-F238E27FC236}">
                <a16:creationId xmlns:a16="http://schemas.microsoft.com/office/drawing/2014/main" id="{C493CD08-5252-DDD6-3425-2D9383FC7D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425" y="4008438"/>
            <a:ext cx="34051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填入熱</a:t>
            </a:r>
            <a:r>
              <a:rPr lang="zh-TW" altLang="en-US" sz="18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量</a:t>
            </a:r>
            <a:r>
              <a:rPr lang="zh-TW" altLang="en-US" sz="18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和</a:t>
            </a: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營養成</a:t>
            </a:r>
            <a:r>
              <a:rPr lang="zh-TW" altLang="en-US" sz="18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分</a:t>
            </a:r>
            <a:endParaRPr lang="zh-TW" altLang="en-US" sz="180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5" name="矩形 11">
            <a:extLst>
              <a:ext uri="{FF2B5EF4-FFF2-40B4-BE49-F238E27FC236}">
                <a16:creationId xmlns:a16="http://schemas.microsoft.com/office/drawing/2014/main" id="{F4E0BB98-757B-12B8-B473-78FC96DBC5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213" y="4513263"/>
            <a:ext cx="87185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看上表回答問題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pic>
        <p:nvPicPr>
          <p:cNvPr id="96" name="圖片 16">
            <a:extLst>
              <a:ext uri="{FF2B5EF4-FFF2-40B4-BE49-F238E27FC236}">
                <a16:creationId xmlns:a16="http://schemas.microsoft.com/office/drawing/2014/main" id="{23584B0B-199C-1D42-3F90-2F4E8E99D4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75" y="4564063"/>
            <a:ext cx="366713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7" name="圖片 1">
            <a:extLst>
              <a:ext uri="{FF2B5EF4-FFF2-40B4-BE49-F238E27FC236}">
                <a16:creationId xmlns:a16="http://schemas.microsoft.com/office/drawing/2014/main" id="{58E28E44-3674-46AF-F893-D1CBA6026F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525" y="5045075"/>
            <a:ext cx="328613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9" name="矩形 11">
            <a:extLst>
              <a:ext uri="{FF2B5EF4-FFF2-40B4-BE49-F238E27FC236}">
                <a16:creationId xmlns:a16="http://schemas.microsoft.com/office/drawing/2014/main" id="{2DB1B2C4-6637-2279-517A-F25A0FC988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288" y="4997450"/>
            <a:ext cx="871855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哪</a:t>
            </a:r>
            <a:r>
              <a:rPr lang="zh-TW" altLang="en-US" sz="24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種食物的熱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量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最高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是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幾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大卡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哪</a:t>
            </a:r>
            <a:r>
              <a:rPr lang="zh-TW" altLang="en-US" sz="24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種最低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是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幾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大卡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84246ECE-4058-3942-4D29-A5284921EF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6988" y="4657725"/>
            <a:ext cx="1209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TW" altLang="en-US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義大利麵</a:t>
            </a:r>
            <a:endParaRPr kumimoji="1" lang="en-US" altLang="zh-TW" sz="20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FADA9723-E08D-ABEA-B4F6-4244D66731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9400" y="5057775"/>
            <a:ext cx="1082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506</a:t>
            </a:r>
            <a:r>
              <a:rPr kumimoji="1" lang="zh-TW" altLang="en-US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大卡</a:t>
            </a:r>
            <a:endParaRPr kumimoji="1" lang="en-US" altLang="zh-TW" sz="20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8E12B5FC-C4AA-F0E4-0E93-AF76546F3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013" y="5751513"/>
            <a:ext cx="6969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TW" altLang="en-US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蘋果</a:t>
            </a:r>
            <a:endParaRPr kumimoji="1" lang="en-US" altLang="zh-TW" sz="20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A1292CC6-A024-1D62-6791-6B6436C9C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5388" y="5768975"/>
            <a:ext cx="9540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65</a:t>
            </a:r>
            <a:r>
              <a:rPr kumimoji="1" lang="zh-TW" altLang="en-US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大卡</a:t>
            </a:r>
            <a:endParaRPr kumimoji="1" lang="en-US" altLang="zh-TW" sz="20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9977" name="矩形 11">
            <a:extLst>
              <a:ext uri="{FF2B5EF4-FFF2-40B4-BE49-F238E27FC236}">
                <a16:creationId xmlns:a16="http://schemas.microsoft.com/office/drawing/2014/main" id="{8C519B2B-B14F-5CFD-132F-C0CDDD7439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3688" y="2319338"/>
            <a:ext cx="101758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6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(</a:t>
            </a:r>
            <a:r>
              <a:rPr lang="zh-TW" altLang="en-US" sz="16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大卡</a:t>
            </a:r>
            <a:r>
              <a:rPr lang="en-US" altLang="zh-TW" sz="16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)</a:t>
            </a:r>
            <a:endParaRPr lang="zh-TW" altLang="en-US" sz="160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9978" name="矩形 11">
            <a:extLst>
              <a:ext uri="{FF2B5EF4-FFF2-40B4-BE49-F238E27FC236}">
                <a16:creationId xmlns:a16="http://schemas.microsoft.com/office/drawing/2014/main" id="{409AB52D-DE18-B19B-1B54-8737C55C3E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2100" y="2697163"/>
            <a:ext cx="101758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6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(</a:t>
            </a:r>
            <a:r>
              <a:rPr lang="zh-TW" altLang="en-US" sz="16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公克</a:t>
            </a:r>
            <a:r>
              <a:rPr lang="en-US" altLang="zh-TW" sz="16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)</a:t>
            </a:r>
            <a:endParaRPr lang="zh-TW" altLang="en-US" sz="160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9979" name="矩形 11">
            <a:extLst>
              <a:ext uri="{FF2B5EF4-FFF2-40B4-BE49-F238E27FC236}">
                <a16:creationId xmlns:a16="http://schemas.microsoft.com/office/drawing/2014/main" id="{4844FB3F-2BAD-97DA-034E-BF147675ED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4638" y="3098800"/>
            <a:ext cx="10160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6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(</a:t>
            </a:r>
            <a:r>
              <a:rPr lang="zh-TW" altLang="en-US" sz="16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公克</a:t>
            </a:r>
            <a:r>
              <a:rPr lang="en-US" altLang="zh-TW" sz="16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)</a:t>
            </a:r>
            <a:endParaRPr lang="zh-TW" altLang="en-US" sz="160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9980" name="矩形 11">
            <a:extLst>
              <a:ext uri="{FF2B5EF4-FFF2-40B4-BE49-F238E27FC236}">
                <a16:creationId xmlns:a16="http://schemas.microsoft.com/office/drawing/2014/main" id="{19552F22-CB3B-5B34-3031-951144CD4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6225" y="3467100"/>
            <a:ext cx="10160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6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(</a:t>
            </a:r>
            <a:r>
              <a:rPr lang="zh-TW" altLang="en-US" sz="16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公克</a:t>
            </a:r>
            <a:r>
              <a:rPr lang="en-US" altLang="zh-TW" sz="16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)</a:t>
            </a:r>
            <a:endParaRPr lang="zh-TW" altLang="en-US" sz="160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/>
      <p:bldP spid="9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圖片 15">
            <a:extLst>
              <a:ext uri="{FF2B5EF4-FFF2-40B4-BE49-F238E27FC236}">
                <a16:creationId xmlns:a16="http://schemas.microsoft.com/office/drawing/2014/main" id="{2D5463CA-D353-85A7-8050-C23BF89F3C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" y="161925"/>
            <a:ext cx="36671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3" name="矩形 11">
            <a:extLst>
              <a:ext uri="{FF2B5EF4-FFF2-40B4-BE49-F238E27FC236}">
                <a16:creationId xmlns:a16="http://schemas.microsoft.com/office/drawing/2014/main" id="{2700CA63-8C4F-3662-25DB-BDE6AF4D52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463" y="85725"/>
            <a:ext cx="87185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完成下面統計表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40964" name="矩形 11">
            <a:extLst>
              <a:ext uri="{FF2B5EF4-FFF2-40B4-BE49-F238E27FC236}">
                <a16:creationId xmlns:a16="http://schemas.microsoft.com/office/drawing/2014/main" id="{9F5E7E26-7740-1213-0479-88A251673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213" y="4513263"/>
            <a:ext cx="87185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看上表回答問題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pic>
        <p:nvPicPr>
          <p:cNvPr id="40965" name="圖片 16">
            <a:extLst>
              <a:ext uri="{FF2B5EF4-FFF2-40B4-BE49-F238E27FC236}">
                <a16:creationId xmlns:a16="http://schemas.microsoft.com/office/drawing/2014/main" id="{E930A8DB-7CBF-07FC-E17D-FE1D7A7217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75" y="4564063"/>
            <a:ext cx="366713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6" name="矩形 11">
            <a:extLst>
              <a:ext uri="{FF2B5EF4-FFF2-40B4-BE49-F238E27FC236}">
                <a16:creationId xmlns:a16="http://schemas.microsoft.com/office/drawing/2014/main" id="{30DB9278-4B36-5D78-C73D-AC51744C59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288" y="4997450"/>
            <a:ext cx="871855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豆豆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吃了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一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份義大利麵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sz="24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碗玉米濃湯</a:t>
            </a:r>
            <a:r>
              <a:rPr lang="zh-TW" altLang="en-US" sz="24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和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杯柳橙汁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他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一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共攝取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幾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大卡的熱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量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E2BE7213-381B-C98E-D8CB-3EDCBA4A57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5050" y="5811838"/>
            <a:ext cx="19161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506</a:t>
            </a:r>
            <a:r>
              <a:rPr kumimoji="1" lang="zh-TW" altLang="en-US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＋</a:t>
            </a: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140</a:t>
            </a:r>
            <a:r>
              <a:rPr kumimoji="1" lang="zh-TW" altLang="en-US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646 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646</a:t>
            </a:r>
            <a:r>
              <a:rPr kumimoji="1" lang="zh-TW" altLang="en-US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＋</a:t>
            </a: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132</a:t>
            </a:r>
            <a:r>
              <a:rPr kumimoji="1" lang="zh-TW" altLang="en-US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778</a:t>
            </a: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856D3E79-4D8A-B5DA-C677-D60614B33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1850" y="6016625"/>
            <a:ext cx="1593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TW" altLang="en-US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答：</a:t>
            </a: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778</a:t>
            </a:r>
            <a:r>
              <a:rPr kumimoji="1" lang="zh-TW" altLang="en-US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大卡</a:t>
            </a:r>
          </a:p>
        </p:txBody>
      </p:sp>
      <p:pic>
        <p:nvPicPr>
          <p:cNvPr id="40969" name="圖片 2">
            <a:extLst>
              <a:ext uri="{FF2B5EF4-FFF2-40B4-BE49-F238E27FC236}">
                <a16:creationId xmlns:a16="http://schemas.microsoft.com/office/drawing/2014/main" id="{95D651E5-19B5-40DF-E051-F42A824C80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525" y="5089525"/>
            <a:ext cx="32702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70" name="圖片 2">
            <a:extLst>
              <a:ext uri="{FF2B5EF4-FFF2-40B4-BE49-F238E27FC236}">
                <a16:creationId xmlns:a16="http://schemas.microsoft.com/office/drawing/2014/main" id="{76DBB8FB-CA83-513B-2F44-6A27928F78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675" y="749300"/>
            <a:ext cx="8923338" cy="3703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71" name="矩形 11">
            <a:extLst>
              <a:ext uri="{FF2B5EF4-FFF2-40B4-BE49-F238E27FC236}">
                <a16:creationId xmlns:a16="http://schemas.microsoft.com/office/drawing/2014/main" id="{350DB865-2FE0-2B85-EA8C-2E2C763FD0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938" y="852488"/>
            <a:ext cx="51387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solidFill>
                  <a:schemeClr val="bg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食物的熱</a:t>
            </a:r>
            <a:r>
              <a:rPr lang="zh-TW" altLang="en-US" sz="2000">
                <a:solidFill>
                  <a:schemeClr val="bg1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量</a:t>
            </a:r>
            <a:r>
              <a:rPr lang="zh-TW" altLang="en-US" sz="2000">
                <a:solidFill>
                  <a:schemeClr val="bg1"/>
                </a:solidFill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和</a:t>
            </a:r>
            <a:r>
              <a:rPr lang="zh-TW" altLang="en-US" sz="2000">
                <a:solidFill>
                  <a:schemeClr val="bg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營養成</a:t>
            </a:r>
            <a:r>
              <a:rPr lang="zh-TW" altLang="en-US" sz="2000">
                <a:solidFill>
                  <a:schemeClr val="bg1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分</a:t>
            </a:r>
            <a:r>
              <a:rPr lang="zh-TW" altLang="en-US" sz="2000">
                <a:solidFill>
                  <a:schemeClr val="bg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統計表</a:t>
            </a:r>
            <a:endParaRPr lang="zh-TW" altLang="en-US" sz="2000">
              <a:solidFill>
                <a:schemeClr val="bg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0972" name="矩形 11">
            <a:extLst>
              <a:ext uri="{FF2B5EF4-FFF2-40B4-BE49-F238E27FC236}">
                <a16:creationId xmlns:a16="http://schemas.microsoft.com/office/drawing/2014/main" id="{86E02C9C-DF5E-B6F5-3210-7A5CFA08FA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7913" y="1457325"/>
            <a:ext cx="173672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6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食物名稱</a:t>
            </a:r>
            <a:endParaRPr lang="zh-TW" altLang="en-US" sz="160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0973" name="矩形 11">
            <a:extLst>
              <a:ext uri="{FF2B5EF4-FFF2-40B4-BE49-F238E27FC236}">
                <a16:creationId xmlns:a16="http://schemas.microsoft.com/office/drawing/2014/main" id="{F1F72332-A9BD-3970-6A1F-04A6B27E58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588" y="1779588"/>
            <a:ext cx="17367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6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熱</a:t>
            </a:r>
            <a:r>
              <a:rPr lang="zh-TW" altLang="en-US" sz="16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量</a:t>
            </a:r>
            <a:r>
              <a:rPr lang="zh-TW" altLang="en-US" sz="16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及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6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營養成</a:t>
            </a:r>
            <a:r>
              <a:rPr lang="zh-TW" altLang="en-US" sz="16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分</a:t>
            </a:r>
          </a:p>
        </p:txBody>
      </p:sp>
      <p:sp>
        <p:nvSpPr>
          <p:cNvPr id="40974" name="矩形 11">
            <a:extLst>
              <a:ext uri="{FF2B5EF4-FFF2-40B4-BE49-F238E27FC236}">
                <a16:creationId xmlns:a16="http://schemas.microsoft.com/office/drawing/2014/main" id="{F4E63810-0470-CB25-FF67-2153D51A8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075" y="2336800"/>
            <a:ext cx="91916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6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熱</a:t>
            </a:r>
            <a:r>
              <a:rPr lang="zh-TW" altLang="en-US" sz="16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量</a:t>
            </a:r>
            <a:endParaRPr lang="zh-TW" altLang="en-US" sz="160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0975" name="矩形 11">
            <a:extLst>
              <a:ext uri="{FF2B5EF4-FFF2-40B4-BE49-F238E27FC236}">
                <a16:creationId xmlns:a16="http://schemas.microsoft.com/office/drawing/2014/main" id="{ED7B2DE5-7CF9-CAD7-8F19-CC9E27D33F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2717800"/>
            <a:ext cx="12287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6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蛋白質</a:t>
            </a:r>
            <a:endParaRPr lang="zh-TW" altLang="en-US" sz="160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0976" name="矩形 11">
            <a:extLst>
              <a:ext uri="{FF2B5EF4-FFF2-40B4-BE49-F238E27FC236}">
                <a16:creationId xmlns:a16="http://schemas.microsoft.com/office/drawing/2014/main" id="{94A04CC1-EDE0-9CA0-35E1-CA96C0E87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2688" y="1793875"/>
            <a:ext cx="300831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6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義大利麵      玉米濃湯</a:t>
            </a:r>
            <a:endParaRPr lang="zh-TW" altLang="en-US" sz="160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0977" name="矩形 11">
            <a:extLst>
              <a:ext uri="{FF2B5EF4-FFF2-40B4-BE49-F238E27FC236}">
                <a16:creationId xmlns:a16="http://schemas.microsoft.com/office/drawing/2014/main" id="{155D5315-EFFF-01DD-8631-6B979E44BD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7025" y="2332038"/>
            <a:ext cx="6842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506</a:t>
            </a:r>
            <a:endParaRPr lang="zh-TW" altLang="en-US" sz="20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0978" name="矩形 65">
            <a:extLst>
              <a:ext uri="{FF2B5EF4-FFF2-40B4-BE49-F238E27FC236}">
                <a16:creationId xmlns:a16="http://schemas.microsoft.com/office/drawing/2014/main" id="{C21D9F6C-DADA-2DEC-779B-4A0351D3F3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3065463"/>
            <a:ext cx="5318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糖</a:t>
            </a:r>
            <a:endParaRPr kumimoji="1" lang="en-US" altLang="zh-TW" sz="1800">
              <a:latin typeface="書法中楷（注音一）" panose="02010609010101010101" pitchFamily="49" charset="-120"/>
              <a:ea typeface="書法中楷（注音一）" panose="02010609010101010101" pitchFamily="49" charset="-120"/>
              <a:cs typeface="Times New Roman" panose="02020603050405020304" pitchFamily="18" charset="0"/>
            </a:endParaRPr>
          </a:p>
        </p:txBody>
      </p:sp>
      <p:sp>
        <p:nvSpPr>
          <p:cNvPr id="40979" name="矩形 66">
            <a:extLst>
              <a:ext uri="{FF2B5EF4-FFF2-40B4-BE49-F238E27FC236}">
                <a16:creationId xmlns:a16="http://schemas.microsoft.com/office/drawing/2014/main" id="{3E933300-FCB2-21E1-5504-5F7DE0269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863" y="3432175"/>
            <a:ext cx="8778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脂肪</a:t>
            </a:r>
            <a:endParaRPr kumimoji="1" lang="en-US" altLang="zh-TW" sz="1800">
              <a:latin typeface="書法中楷（注音一）" panose="02010609010101010101" pitchFamily="49" charset="-120"/>
              <a:ea typeface="書法中楷（注音一）" panose="02010609010101010101" pitchFamily="49" charset="-120"/>
              <a:cs typeface="Times New Roman" panose="02020603050405020304" pitchFamily="18" charset="0"/>
            </a:endParaRPr>
          </a:p>
        </p:txBody>
      </p:sp>
      <p:sp>
        <p:nvSpPr>
          <p:cNvPr id="40980" name="矩形 67">
            <a:extLst>
              <a:ext uri="{FF2B5EF4-FFF2-40B4-BE49-F238E27FC236}">
                <a16:creationId xmlns:a16="http://schemas.microsoft.com/office/drawing/2014/main" id="{8986F475-2951-FD93-B03C-862DE18E7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2686050"/>
            <a:ext cx="6334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21.3</a:t>
            </a:r>
          </a:p>
        </p:txBody>
      </p:sp>
      <p:sp>
        <p:nvSpPr>
          <p:cNvPr id="40981" name="矩形 68">
            <a:extLst>
              <a:ext uri="{FF2B5EF4-FFF2-40B4-BE49-F238E27FC236}">
                <a16:creationId xmlns:a16="http://schemas.microsoft.com/office/drawing/2014/main" id="{A2238040-03E9-28C7-2BF3-00305A29D1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3041650"/>
            <a:ext cx="635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12.2</a:t>
            </a:r>
          </a:p>
        </p:txBody>
      </p:sp>
      <p:sp>
        <p:nvSpPr>
          <p:cNvPr id="40982" name="矩形 69">
            <a:extLst>
              <a:ext uri="{FF2B5EF4-FFF2-40B4-BE49-F238E27FC236}">
                <a16:creationId xmlns:a16="http://schemas.microsoft.com/office/drawing/2014/main" id="{7D8234DA-C56C-754A-5673-EAA7D474C6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7975" y="3395663"/>
            <a:ext cx="6238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11.1</a:t>
            </a:r>
          </a:p>
        </p:txBody>
      </p:sp>
      <p:sp>
        <p:nvSpPr>
          <p:cNvPr id="40983" name="矩形 70">
            <a:extLst>
              <a:ext uri="{FF2B5EF4-FFF2-40B4-BE49-F238E27FC236}">
                <a16:creationId xmlns:a16="http://schemas.microsoft.com/office/drawing/2014/main" id="{7CB73F5F-15B0-F4D7-4FF8-F9AA2E00D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3563" y="2316163"/>
            <a:ext cx="568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140</a:t>
            </a:r>
          </a:p>
        </p:txBody>
      </p:sp>
      <p:sp>
        <p:nvSpPr>
          <p:cNvPr id="40984" name="矩形 71">
            <a:extLst>
              <a:ext uri="{FF2B5EF4-FFF2-40B4-BE49-F238E27FC236}">
                <a16:creationId xmlns:a16="http://schemas.microsoft.com/office/drawing/2014/main" id="{CB06D039-6695-41D6-A578-14DD1E5C05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9438" y="2682875"/>
            <a:ext cx="5048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2.8</a:t>
            </a:r>
          </a:p>
        </p:txBody>
      </p:sp>
      <p:sp>
        <p:nvSpPr>
          <p:cNvPr id="40985" name="矩形 72">
            <a:extLst>
              <a:ext uri="{FF2B5EF4-FFF2-40B4-BE49-F238E27FC236}">
                <a16:creationId xmlns:a16="http://schemas.microsoft.com/office/drawing/2014/main" id="{851FBE44-5ED0-2BF0-3DEB-D35689BFF8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9438" y="3048000"/>
            <a:ext cx="5048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7.9</a:t>
            </a:r>
          </a:p>
        </p:txBody>
      </p:sp>
      <p:sp>
        <p:nvSpPr>
          <p:cNvPr id="40986" name="矩形 73">
            <a:extLst>
              <a:ext uri="{FF2B5EF4-FFF2-40B4-BE49-F238E27FC236}">
                <a16:creationId xmlns:a16="http://schemas.microsoft.com/office/drawing/2014/main" id="{BFF427B1-0BFE-FDDD-238A-6A003C77E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3088" y="3414713"/>
            <a:ext cx="5048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3.1</a:t>
            </a:r>
          </a:p>
        </p:txBody>
      </p:sp>
      <p:sp>
        <p:nvSpPr>
          <p:cNvPr id="40987" name="矩形 74">
            <a:extLst>
              <a:ext uri="{FF2B5EF4-FFF2-40B4-BE49-F238E27FC236}">
                <a16:creationId xmlns:a16="http://schemas.microsoft.com/office/drawing/2014/main" id="{AD339FFA-F85D-8833-0F03-B3920F1B0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9138" y="2349500"/>
            <a:ext cx="5699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132</a:t>
            </a:r>
          </a:p>
        </p:txBody>
      </p:sp>
      <p:sp>
        <p:nvSpPr>
          <p:cNvPr id="40988" name="矩形 75">
            <a:extLst>
              <a:ext uri="{FF2B5EF4-FFF2-40B4-BE49-F238E27FC236}">
                <a16:creationId xmlns:a16="http://schemas.microsoft.com/office/drawing/2014/main" id="{74805BA5-86A4-D401-0E48-2420506E6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2475" y="2703513"/>
            <a:ext cx="5048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2.8</a:t>
            </a:r>
          </a:p>
        </p:txBody>
      </p:sp>
      <p:sp>
        <p:nvSpPr>
          <p:cNvPr id="40989" name="矩形 76">
            <a:extLst>
              <a:ext uri="{FF2B5EF4-FFF2-40B4-BE49-F238E27FC236}">
                <a16:creationId xmlns:a16="http://schemas.microsoft.com/office/drawing/2014/main" id="{A81F3A00-67A1-B75A-42A3-0B6C09D86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4225" y="3059113"/>
            <a:ext cx="441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26</a:t>
            </a:r>
          </a:p>
        </p:txBody>
      </p:sp>
      <p:sp>
        <p:nvSpPr>
          <p:cNvPr id="40990" name="矩形 77">
            <a:extLst>
              <a:ext uri="{FF2B5EF4-FFF2-40B4-BE49-F238E27FC236}">
                <a16:creationId xmlns:a16="http://schemas.microsoft.com/office/drawing/2014/main" id="{1E4758DE-CACB-F6AE-C049-EE3009610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7725" y="3414713"/>
            <a:ext cx="3127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0991" name="矩形 78">
            <a:extLst>
              <a:ext uri="{FF2B5EF4-FFF2-40B4-BE49-F238E27FC236}">
                <a16:creationId xmlns:a16="http://schemas.microsoft.com/office/drawing/2014/main" id="{BE5C9A21-CDFE-3E7C-FE24-E26C6C0D5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0" y="1762125"/>
            <a:ext cx="9540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TW" altLang="en-US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柳橙汁</a:t>
            </a:r>
            <a:endParaRPr kumimoji="1" lang="en-US" altLang="zh-TW" sz="20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0992" name="矩形 79">
            <a:extLst>
              <a:ext uri="{FF2B5EF4-FFF2-40B4-BE49-F238E27FC236}">
                <a16:creationId xmlns:a16="http://schemas.microsoft.com/office/drawing/2014/main" id="{564F25F9-A41E-D458-8373-FDAAD947CD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8375" y="2339975"/>
            <a:ext cx="441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65</a:t>
            </a:r>
          </a:p>
        </p:txBody>
      </p:sp>
      <p:sp>
        <p:nvSpPr>
          <p:cNvPr id="40993" name="矩形 80">
            <a:extLst>
              <a:ext uri="{FF2B5EF4-FFF2-40B4-BE49-F238E27FC236}">
                <a16:creationId xmlns:a16="http://schemas.microsoft.com/office/drawing/2014/main" id="{32428F67-CBB2-3B14-95F0-6E912D3104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6625" y="2706688"/>
            <a:ext cx="5064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0.2</a:t>
            </a:r>
          </a:p>
        </p:txBody>
      </p:sp>
      <p:sp>
        <p:nvSpPr>
          <p:cNvPr id="40994" name="矩形 81">
            <a:extLst>
              <a:ext uri="{FF2B5EF4-FFF2-40B4-BE49-F238E27FC236}">
                <a16:creationId xmlns:a16="http://schemas.microsoft.com/office/drawing/2014/main" id="{A3D45F5A-1D04-6211-6E96-0661DAE75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8375" y="3073400"/>
            <a:ext cx="441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13</a:t>
            </a:r>
          </a:p>
        </p:txBody>
      </p:sp>
      <p:sp>
        <p:nvSpPr>
          <p:cNvPr id="40995" name="矩形 82">
            <a:extLst>
              <a:ext uri="{FF2B5EF4-FFF2-40B4-BE49-F238E27FC236}">
                <a16:creationId xmlns:a16="http://schemas.microsoft.com/office/drawing/2014/main" id="{7FB7E547-E4ED-5C6F-9626-3A4BF08B76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6625" y="3441700"/>
            <a:ext cx="5048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0.1</a:t>
            </a:r>
          </a:p>
        </p:txBody>
      </p:sp>
      <p:sp>
        <p:nvSpPr>
          <p:cNvPr id="40996" name="矩形 83">
            <a:extLst>
              <a:ext uri="{FF2B5EF4-FFF2-40B4-BE49-F238E27FC236}">
                <a16:creationId xmlns:a16="http://schemas.microsoft.com/office/drawing/2014/main" id="{E225580C-4A3B-BC0A-ED2C-125635B16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7563" y="1762125"/>
            <a:ext cx="6969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TW" altLang="en-US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蘋果</a:t>
            </a:r>
            <a:endParaRPr kumimoji="1" lang="en-US" altLang="zh-TW" sz="20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0997" name="矩形 11">
            <a:extLst>
              <a:ext uri="{FF2B5EF4-FFF2-40B4-BE49-F238E27FC236}">
                <a16:creationId xmlns:a16="http://schemas.microsoft.com/office/drawing/2014/main" id="{E856D1DA-C473-ED64-4F42-10F98C9DC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4975" y="725488"/>
            <a:ext cx="22923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填入食物名稱</a:t>
            </a:r>
            <a:endParaRPr lang="zh-TW" altLang="en-US" sz="180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0998" name="矩形 11">
            <a:extLst>
              <a:ext uri="{FF2B5EF4-FFF2-40B4-BE49-F238E27FC236}">
                <a16:creationId xmlns:a16="http://schemas.microsoft.com/office/drawing/2014/main" id="{C49494A8-0FE3-21E8-1C93-4ED1BEE6C4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425" y="4008438"/>
            <a:ext cx="34051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填入熱</a:t>
            </a:r>
            <a:r>
              <a:rPr lang="zh-TW" altLang="en-US" sz="18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量</a:t>
            </a:r>
            <a:r>
              <a:rPr lang="zh-TW" altLang="en-US" sz="18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和</a:t>
            </a: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營養成</a:t>
            </a:r>
            <a:r>
              <a:rPr lang="zh-TW" altLang="en-US" sz="18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分</a:t>
            </a:r>
            <a:endParaRPr lang="zh-TW" altLang="en-US" sz="180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0999" name="矩形 11">
            <a:extLst>
              <a:ext uri="{FF2B5EF4-FFF2-40B4-BE49-F238E27FC236}">
                <a16:creationId xmlns:a16="http://schemas.microsoft.com/office/drawing/2014/main" id="{A86EFFF2-2446-E551-34ED-30D5B63B6B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3688" y="2319338"/>
            <a:ext cx="101758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6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(</a:t>
            </a:r>
            <a:r>
              <a:rPr lang="zh-TW" altLang="en-US" sz="16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大卡</a:t>
            </a:r>
            <a:r>
              <a:rPr lang="en-US" altLang="zh-TW" sz="16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)</a:t>
            </a:r>
            <a:endParaRPr lang="zh-TW" altLang="en-US" sz="160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1000" name="矩形 11">
            <a:extLst>
              <a:ext uri="{FF2B5EF4-FFF2-40B4-BE49-F238E27FC236}">
                <a16:creationId xmlns:a16="http://schemas.microsoft.com/office/drawing/2014/main" id="{E43BEE9B-19DF-6056-54E5-059773DBC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2100" y="2697163"/>
            <a:ext cx="101758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6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(</a:t>
            </a:r>
            <a:r>
              <a:rPr lang="zh-TW" altLang="en-US" sz="16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公克</a:t>
            </a:r>
            <a:r>
              <a:rPr lang="en-US" altLang="zh-TW" sz="16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)</a:t>
            </a:r>
            <a:endParaRPr lang="zh-TW" altLang="en-US" sz="160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1001" name="矩形 11">
            <a:extLst>
              <a:ext uri="{FF2B5EF4-FFF2-40B4-BE49-F238E27FC236}">
                <a16:creationId xmlns:a16="http://schemas.microsoft.com/office/drawing/2014/main" id="{ADD86B30-C5D8-761E-53D4-9D8B171A5B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4638" y="3098800"/>
            <a:ext cx="10160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6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(</a:t>
            </a:r>
            <a:r>
              <a:rPr lang="zh-TW" altLang="en-US" sz="16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公克</a:t>
            </a:r>
            <a:r>
              <a:rPr lang="en-US" altLang="zh-TW" sz="16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)</a:t>
            </a:r>
            <a:endParaRPr lang="zh-TW" altLang="en-US" sz="160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1002" name="矩形 11">
            <a:extLst>
              <a:ext uri="{FF2B5EF4-FFF2-40B4-BE49-F238E27FC236}">
                <a16:creationId xmlns:a16="http://schemas.microsoft.com/office/drawing/2014/main" id="{57289BF4-334E-B08F-5008-DBAB0906A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6225" y="3467100"/>
            <a:ext cx="10160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6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(</a:t>
            </a:r>
            <a:r>
              <a:rPr lang="zh-TW" altLang="en-US" sz="16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公克</a:t>
            </a:r>
            <a:r>
              <a:rPr lang="en-US" altLang="zh-TW" sz="16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)</a:t>
            </a:r>
            <a:endParaRPr lang="zh-TW" altLang="en-US" sz="160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圖片 1">
            <a:extLst>
              <a:ext uri="{FF2B5EF4-FFF2-40B4-BE49-F238E27FC236}">
                <a16:creationId xmlns:a16="http://schemas.microsoft.com/office/drawing/2014/main" id="{BB295A7F-6A23-6D2C-EDD5-8D98A7E6E1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25488"/>
            <a:ext cx="9144000" cy="400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7" name="矩形 11">
            <a:extLst>
              <a:ext uri="{FF2B5EF4-FFF2-40B4-BE49-F238E27FC236}">
                <a16:creationId xmlns:a16="http://schemas.microsoft.com/office/drawing/2014/main" id="{F67C3643-28EF-3342-A3F7-22E6FBFFD4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" y="1298575"/>
            <a:ext cx="87185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小朋友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跟著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</a:rPr>
              <a:t>「</a:t>
            </a:r>
            <a:r>
              <a:rPr lang="zh-TW" altLang="en-US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我的餐盤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</a:rPr>
              <a:t>」</a:t>
            </a:r>
            <a:r>
              <a:rPr lang="zh-TW" altLang="en-US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均衡飲食</a:t>
            </a:r>
            <a:r>
              <a:rPr lang="zh-TW" altLang="en-US" sz="20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吧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</a:rPr>
              <a:t>！</a:t>
            </a:r>
          </a:p>
        </p:txBody>
      </p:sp>
      <p:sp>
        <p:nvSpPr>
          <p:cNvPr id="41988" name="矩形 11">
            <a:extLst>
              <a:ext uri="{FF2B5EF4-FFF2-40B4-BE49-F238E27FC236}">
                <a16:creationId xmlns:a16="http://schemas.microsoft.com/office/drawing/2014/main" id="{EB932574-4F68-2C58-C259-4102BCF1DA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325" y="1787525"/>
            <a:ext cx="275748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堅果種</a:t>
            </a:r>
            <a:r>
              <a:rPr lang="zh-TW" altLang="en-US" sz="18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子</a:t>
            </a: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類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堅果種</a:t>
            </a:r>
            <a:r>
              <a:rPr lang="zh-TW" altLang="en-US" sz="18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子</a:t>
            </a:r>
            <a:r>
              <a:rPr lang="zh-TW" altLang="en-US" sz="18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茶匙</a:t>
            </a:r>
            <a:endParaRPr lang="zh-TW" altLang="en-US" sz="180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1989" name="矩形 11">
            <a:extLst>
              <a:ext uri="{FF2B5EF4-FFF2-40B4-BE49-F238E27FC236}">
                <a16:creationId xmlns:a16="http://schemas.microsoft.com/office/drawing/2014/main" id="{3AFE1A91-9AA0-ED6E-2252-BAE523B63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325" y="2727325"/>
            <a:ext cx="275748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水果類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每餐水果拳</a:t>
            </a:r>
            <a:r>
              <a:rPr lang="zh-TW" altLang="en-US" sz="18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頭</a:t>
            </a: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大</a:t>
            </a:r>
            <a:endParaRPr lang="zh-TW" altLang="en-US" sz="180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1990" name="矩形 11">
            <a:extLst>
              <a:ext uri="{FF2B5EF4-FFF2-40B4-BE49-F238E27FC236}">
                <a16:creationId xmlns:a16="http://schemas.microsoft.com/office/drawing/2014/main" id="{D65F3A68-FCAC-2999-051F-246BF195C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" y="3727450"/>
            <a:ext cx="275748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蔬菜類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菜比水果多</a:t>
            </a:r>
            <a:r>
              <a:rPr lang="zh-TW" altLang="en-US" sz="18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點</a:t>
            </a:r>
            <a:endParaRPr lang="zh-TW" altLang="en-US" sz="180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1991" name="矩形 11">
            <a:extLst>
              <a:ext uri="{FF2B5EF4-FFF2-40B4-BE49-F238E27FC236}">
                <a16:creationId xmlns:a16="http://schemas.microsoft.com/office/drawing/2014/main" id="{9C287E0F-DDEF-29AA-E32B-CB1254A4D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1288" y="1889125"/>
            <a:ext cx="27574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豆魚蛋肉</a:t>
            </a:r>
            <a:r>
              <a:rPr lang="zh-TW" altLang="en-US" sz="18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掌心</a:t>
            </a:r>
            <a:endParaRPr lang="zh-TW" altLang="en-US" sz="180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1992" name="矩形 11">
            <a:extLst>
              <a:ext uri="{FF2B5EF4-FFF2-40B4-BE49-F238E27FC236}">
                <a16:creationId xmlns:a16="http://schemas.microsoft.com/office/drawing/2014/main" id="{90E80CC2-997C-9463-4F8A-CBDA5EF578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1288" y="2727325"/>
            <a:ext cx="275748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乳品類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每天約</a:t>
            </a:r>
            <a:r>
              <a:rPr lang="en-US" altLang="zh-TW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2 </a:t>
            </a: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杯</a:t>
            </a:r>
            <a:endParaRPr lang="zh-TW" altLang="en-US" sz="180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1993" name="矩形 11">
            <a:extLst>
              <a:ext uri="{FF2B5EF4-FFF2-40B4-BE49-F238E27FC236}">
                <a16:creationId xmlns:a16="http://schemas.microsoft.com/office/drawing/2014/main" id="{832F74A7-A5B4-F58B-A1F5-386437FAB3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1288" y="3725863"/>
            <a:ext cx="275748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全榖雜糧類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飯</a:t>
            </a:r>
            <a:r>
              <a:rPr lang="zh-TW" altLang="en-US" sz="18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和</a:t>
            </a: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蔬菜</a:t>
            </a:r>
            <a:r>
              <a:rPr lang="zh-TW" altLang="en-US" sz="18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一</a:t>
            </a: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樣多</a:t>
            </a:r>
            <a:endParaRPr lang="zh-TW" altLang="en-US" sz="180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矩形 11">
            <a:extLst>
              <a:ext uri="{FF2B5EF4-FFF2-40B4-BE49-F238E27FC236}">
                <a16:creationId xmlns:a16="http://schemas.microsoft.com/office/drawing/2014/main" id="{BC6190AE-A079-C482-AA51-84487FEBAE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388" y="-7938"/>
            <a:ext cx="87185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柏宇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有下面這些圖卡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pic>
        <p:nvPicPr>
          <p:cNvPr id="43011" name="圖片 2">
            <a:extLst>
              <a:ext uri="{FF2B5EF4-FFF2-40B4-BE49-F238E27FC236}">
                <a16:creationId xmlns:a16="http://schemas.microsoft.com/office/drawing/2014/main" id="{23C2C34B-15DA-2092-7978-2017D6EE57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813"/>
            <a:ext cx="446088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3012" name="群組 16">
            <a:extLst>
              <a:ext uri="{FF2B5EF4-FFF2-40B4-BE49-F238E27FC236}">
                <a16:creationId xmlns:a16="http://schemas.microsoft.com/office/drawing/2014/main" id="{2617F333-3FCC-E9BB-C6C6-A450AE079234}"/>
              </a:ext>
            </a:extLst>
          </p:cNvPr>
          <p:cNvGrpSpPr>
            <a:grpSpLocks/>
          </p:cNvGrpSpPr>
          <p:nvPr/>
        </p:nvGrpSpPr>
        <p:grpSpPr bwMode="auto">
          <a:xfrm>
            <a:off x="4997450" y="-19050"/>
            <a:ext cx="1520825" cy="482600"/>
            <a:chOff x="6722457" y="1658256"/>
            <a:chExt cx="1967833" cy="652081"/>
          </a:xfrm>
        </p:grpSpPr>
        <p:pic>
          <p:nvPicPr>
            <p:cNvPr id="43018" name="Picture 14">
              <a:extLst>
                <a:ext uri="{FF2B5EF4-FFF2-40B4-BE49-F238E27FC236}">
                  <a16:creationId xmlns:a16="http://schemas.microsoft.com/office/drawing/2014/main" id="{5CBAF0FD-7C3D-08CC-7A83-523E84A309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2240" y="1740821"/>
              <a:ext cx="1958050" cy="569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3019" name="矩形 1">
              <a:extLst>
                <a:ext uri="{FF2B5EF4-FFF2-40B4-BE49-F238E27FC236}">
                  <a16:creationId xmlns:a16="http://schemas.microsoft.com/office/drawing/2014/main" id="{5DF7ABD7-F8F6-1C32-96F6-2B8F7ECDF2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2457" y="1658256"/>
              <a:ext cx="1964649" cy="6237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1" lang="zh-TW" altLang="en-US" sz="24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附件  </a:t>
              </a:r>
              <a:r>
                <a:rPr kumimoji="1" lang="en-US" altLang="zh-TW" sz="20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23</a:t>
              </a:r>
              <a:endParaRPr kumimoji="1" lang="zh-TW" altLang="en-US" sz="18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endParaRPr>
            </a:p>
          </p:txBody>
        </p:sp>
      </p:grpSp>
      <p:pic>
        <p:nvPicPr>
          <p:cNvPr id="43013" name="圖片 15">
            <a:extLst>
              <a:ext uri="{FF2B5EF4-FFF2-40B4-BE49-F238E27FC236}">
                <a16:creationId xmlns:a16="http://schemas.microsoft.com/office/drawing/2014/main" id="{9F136D4B-384A-EB48-3F53-1A6B0C2485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8" y="2333625"/>
            <a:ext cx="366712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4" name="矩形 11">
            <a:extLst>
              <a:ext uri="{FF2B5EF4-FFF2-40B4-BE49-F238E27FC236}">
                <a16:creationId xmlns:a16="http://schemas.microsoft.com/office/drawing/2014/main" id="{255C3D88-C03C-0E71-E65E-C074603878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2263775"/>
            <a:ext cx="8475663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說說看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400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柏宇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的圖卡有哪些形狀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  <a:endParaRPr lang="en-US" altLang="zh-TW" sz="240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它們是</a:t>
            </a:r>
            <a:r>
              <a:rPr lang="zh-TW" altLang="en-US" sz="24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什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麼顏色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7107AA1-F6DA-EC82-D7E1-EB9D9B447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2603500"/>
            <a:ext cx="30067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TW" altLang="en-US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三角形、正方形、長方形</a:t>
            </a:r>
            <a:endParaRPr kumimoji="1" lang="en-US" altLang="zh-TW" sz="20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542C056-4F78-6EEF-1331-3DA54BFF1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5838" y="3167063"/>
            <a:ext cx="14684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TW" altLang="en-US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黃色、藍色</a:t>
            </a:r>
            <a:endParaRPr kumimoji="1" lang="en-US" altLang="zh-TW" sz="20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3017" name="圖片 34">
            <a:extLst>
              <a:ext uri="{FF2B5EF4-FFF2-40B4-BE49-F238E27FC236}">
                <a16:creationId xmlns:a16="http://schemas.microsoft.com/office/drawing/2014/main" id="{C196FCEB-9CAF-E3AF-2498-EF18271919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75" y="493713"/>
            <a:ext cx="5414963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DC42A59F-3520-0B08-2E36-FFF4DEF677CC}"/>
              </a:ext>
            </a:extLst>
          </p:cNvPr>
          <p:cNvSpPr/>
          <p:nvPr/>
        </p:nvSpPr>
        <p:spPr>
          <a:xfrm>
            <a:off x="6673850" y="6308725"/>
            <a:ext cx="2470150" cy="5492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44035" name="矩形 11">
            <a:extLst>
              <a:ext uri="{FF2B5EF4-FFF2-40B4-BE49-F238E27FC236}">
                <a16:creationId xmlns:a16="http://schemas.microsoft.com/office/drawing/2014/main" id="{8B1A8C46-8E36-A667-E137-75F861CCD0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388" y="-7938"/>
            <a:ext cx="87185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柏宇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有下面這些圖卡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pic>
        <p:nvPicPr>
          <p:cNvPr id="44036" name="圖片 2">
            <a:extLst>
              <a:ext uri="{FF2B5EF4-FFF2-40B4-BE49-F238E27FC236}">
                <a16:creationId xmlns:a16="http://schemas.microsoft.com/office/drawing/2014/main" id="{BBD2B69F-2274-41D1-6532-EA7D69D152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813"/>
            <a:ext cx="446088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4037" name="群組 16">
            <a:extLst>
              <a:ext uri="{FF2B5EF4-FFF2-40B4-BE49-F238E27FC236}">
                <a16:creationId xmlns:a16="http://schemas.microsoft.com/office/drawing/2014/main" id="{0715DF6B-2BE6-9C58-890A-E274AC289E8F}"/>
              </a:ext>
            </a:extLst>
          </p:cNvPr>
          <p:cNvGrpSpPr>
            <a:grpSpLocks/>
          </p:cNvGrpSpPr>
          <p:nvPr/>
        </p:nvGrpSpPr>
        <p:grpSpPr bwMode="auto">
          <a:xfrm>
            <a:off x="4997450" y="-19050"/>
            <a:ext cx="1520825" cy="482600"/>
            <a:chOff x="6722457" y="1658256"/>
            <a:chExt cx="1967833" cy="652081"/>
          </a:xfrm>
        </p:grpSpPr>
        <p:pic>
          <p:nvPicPr>
            <p:cNvPr id="44091" name="Picture 14">
              <a:extLst>
                <a:ext uri="{FF2B5EF4-FFF2-40B4-BE49-F238E27FC236}">
                  <a16:creationId xmlns:a16="http://schemas.microsoft.com/office/drawing/2014/main" id="{236F90DB-571E-2954-D352-65761F49A5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2240" y="1740821"/>
              <a:ext cx="1958050" cy="569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092" name="矩形 1">
              <a:extLst>
                <a:ext uri="{FF2B5EF4-FFF2-40B4-BE49-F238E27FC236}">
                  <a16:creationId xmlns:a16="http://schemas.microsoft.com/office/drawing/2014/main" id="{0C639D72-C56D-B222-569B-ED134BBE46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2457" y="1658256"/>
              <a:ext cx="1964649" cy="6237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1" lang="zh-TW" altLang="en-US" sz="24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附件  </a:t>
              </a:r>
              <a:r>
                <a:rPr kumimoji="1" lang="en-US" altLang="zh-TW" sz="20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23</a:t>
              </a:r>
              <a:endParaRPr kumimoji="1" lang="zh-TW" altLang="en-US" sz="18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endParaRPr>
            </a:p>
          </p:txBody>
        </p:sp>
      </p:grpSp>
      <p:pic>
        <p:nvPicPr>
          <p:cNvPr id="44038" name="圖片 6">
            <a:extLst>
              <a:ext uri="{FF2B5EF4-FFF2-40B4-BE49-F238E27FC236}">
                <a16:creationId xmlns:a16="http://schemas.microsoft.com/office/drawing/2014/main" id="{9FF74B55-4609-1F81-1D40-B8A7FD8984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75" y="493713"/>
            <a:ext cx="5414963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9" name="矩形 11">
            <a:extLst>
              <a:ext uri="{FF2B5EF4-FFF2-40B4-BE49-F238E27FC236}">
                <a16:creationId xmlns:a16="http://schemas.microsoft.com/office/drawing/2014/main" id="{77694E43-4AD0-E437-7470-C1D990C39D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288" y="2085975"/>
            <a:ext cx="871061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柏宇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想把圖卡整理成下表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請你幫他完成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pic>
        <p:nvPicPr>
          <p:cNvPr id="44040" name="圖片 16">
            <a:extLst>
              <a:ext uri="{FF2B5EF4-FFF2-40B4-BE49-F238E27FC236}">
                <a16:creationId xmlns:a16="http://schemas.microsoft.com/office/drawing/2014/main" id="{2350B886-3A2D-D906-3B63-9F2C11B96C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313" y="2120900"/>
            <a:ext cx="366712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FAB8B24F-217A-DEBF-957B-03317392FB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3" y="2527300"/>
            <a:ext cx="8897937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矩形 11">
            <a:extLst>
              <a:ext uri="{FF2B5EF4-FFF2-40B4-BE49-F238E27FC236}">
                <a16:creationId xmlns:a16="http://schemas.microsoft.com/office/drawing/2014/main" id="{50FD944D-CD01-36F2-A0DA-CC270B52A6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6013" y="2587625"/>
            <a:ext cx="39465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柏宇的圖卡統計表</a:t>
            </a:r>
            <a:endParaRPr lang="zh-TW" altLang="en-US" sz="240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6FC222B-ECD0-D0DB-C96D-7ACE37541BA4}"/>
              </a:ext>
            </a:extLst>
          </p:cNvPr>
          <p:cNvGraphicFramePr>
            <a:graphicFrameLocks noGrp="1"/>
          </p:cNvGraphicFramePr>
          <p:nvPr/>
        </p:nvGraphicFramePr>
        <p:xfrm>
          <a:off x="517525" y="3136900"/>
          <a:ext cx="7391400" cy="2049463"/>
        </p:xfrm>
        <a:graphic>
          <a:graphicData uri="http://schemas.openxmlformats.org/drawingml/2006/table">
            <a:tbl>
              <a:tblPr firstRow="1" bandRow="1">
                <a:tableStyleId>{5EF00A0C-396C-4BD8-A62D-F509AEB4C581}</a:tableStyleId>
              </a:tblPr>
              <a:tblGrid>
                <a:gridCol w="147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8835">
                <a:tc>
                  <a:txBody>
                    <a:bodyPr/>
                    <a:lstStyle/>
                    <a:p>
                      <a:pPr algn="r"/>
                      <a:r>
                        <a:rPr lang="zh-TW" altLang="en-US" sz="16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形狀</a:t>
                      </a:r>
                      <a:endParaRPr lang="en-US" altLang="zh-TW" sz="1600" b="0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zh-TW" altLang="en-US" sz="16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顏色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43" marR="91443" marT="45737" marB="45737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三角形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43" marR="91443" marT="45737" marB="45737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正方形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43" marR="91443" marT="45737" marB="45737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書法中楷（破音二）" panose="02010609010101010101" pitchFamily="49" charset="-120"/>
                          <a:ea typeface="書法中楷（破音二）" panose="02010609010101010101" pitchFamily="49" charset="-120"/>
                          <a:cs typeface="Times New Roman" panose="02020603050405020304" pitchFamily="18" charset="0"/>
                        </a:rPr>
                        <a:t>長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方形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43" marR="91443" marT="45737" marB="45737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合計</a:t>
                      </a:r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張</a:t>
                      </a:r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43" marR="91443" marT="45737" marB="45737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54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黃色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43" marR="91443" marT="45737" marB="45737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43" marR="91443" marT="45737" marB="45737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43" marR="91443" marT="45737" marB="45737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43" marR="91443" marT="45737" marB="45737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43" marR="91443" marT="45737" marB="45737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54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藍色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43" marR="91443" marT="45737" marB="45737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43" marR="91443" marT="45737" marB="45737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43" marR="91443" marT="45737" marB="45737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43" marR="91443" marT="45737" marB="45737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43" marR="91443" marT="45737" marB="45737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54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合計</a:t>
                      </a:r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張</a:t>
                      </a:r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43" marR="91443" marT="45737" marB="45737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43" marR="91443" marT="45737" marB="45737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43" marR="91443" marT="45737" marB="45737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43" marR="91443" marT="45737" marB="45737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43" marR="91443" marT="45737" marB="45737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1DADD0B2-2C05-2411-EC09-620011F1979A}"/>
              </a:ext>
            </a:extLst>
          </p:cNvPr>
          <p:cNvCxnSpPr/>
          <p:nvPr/>
        </p:nvCxnSpPr>
        <p:spPr>
          <a:xfrm>
            <a:off x="531813" y="3141663"/>
            <a:ext cx="1476375" cy="67151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A41D37CD-8608-54D9-F1BC-1453D7770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3500" y="4303713"/>
            <a:ext cx="3127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C087F8E-09BC-579A-1235-12F7BECE2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3500" y="4808538"/>
            <a:ext cx="3127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E0DEEE5-1BB6-1676-8C4A-790F6F328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3827463"/>
            <a:ext cx="3127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74EB2DA-B4D2-3065-FC96-4101687547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4313238"/>
            <a:ext cx="3127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111B874-B868-FB63-4CC3-AEE37AD94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4950" y="4797425"/>
            <a:ext cx="314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1876666-6DB5-D884-96F7-2B3461828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7988" y="3813175"/>
            <a:ext cx="3127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325FC7D-3418-BBFE-1E6A-62F9114DF7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7988" y="4298950"/>
            <a:ext cx="3127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7E6F699-F224-6D03-8491-CFD83EF2C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4338" y="4783138"/>
            <a:ext cx="3127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FDD7A6D-FDFC-5931-367D-24FC5D8BDF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000" y="3830638"/>
            <a:ext cx="3127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E0695EE-5E82-1FE8-3B4A-B47474B27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000" y="4314825"/>
            <a:ext cx="3127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DE559BA-2F13-EC1A-3A3D-ED1C954FD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6263" y="4800600"/>
            <a:ext cx="441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38" name="矩形 11">
            <a:extLst>
              <a:ext uri="{FF2B5EF4-FFF2-40B4-BE49-F238E27FC236}">
                <a16:creationId xmlns:a16="http://schemas.microsoft.com/office/drawing/2014/main" id="{A0E65EC0-A5D7-F766-D9D0-D9597CB2B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450" y="5524500"/>
            <a:ext cx="87106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說說看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你是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怎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麼做出這張統計表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8C8924B8-07F8-C8B3-5784-504224663A9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8925" y="5592763"/>
            <a:ext cx="660400" cy="1265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圓角矩形圖說文字 38">
            <a:extLst>
              <a:ext uri="{FF2B5EF4-FFF2-40B4-BE49-F238E27FC236}">
                <a16:creationId xmlns:a16="http://schemas.microsoft.com/office/drawing/2014/main" id="{80C2BAC8-58FA-14F3-AA83-954E39554972}"/>
              </a:ext>
            </a:extLst>
          </p:cNvPr>
          <p:cNvSpPr/>
          <p:nvPr/>
        </p:nvSpPr>
        <p:spPr bwMode="auto">
          <a:xfrm>
            <a:off x="2111375" y="5970588"/>
            <a:ext cx="5256213" cy="731837"/>
          </a:xfrm>
          <a:prstGeom prst="wedgeRoundRectCallout">
            <a:avLst>
              <a:gd name="adj1" fmla="val 54380"/>
              <a:gd name="adj2" fmla="val -25291"/>
              <a:gd name="adj3" fmla="val 16667"/>
            </a:avLst>
          </a:prstGeom>
          <a:solidFill>
            <a:schemeClr val="bg1"/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TW" altLang="en-US" sz="20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這格要填黃色三角形的數</a:t>
            </a:r>
            <a:r>
              <a:rPr lang="zh-TW" altLang="en-US" sz="2000" dirty="0">
                <a:solidFill>
                  <a:schemeClr val="tx1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量</a:t>
            </a:r>
            <a:r>
              <a:rPr lang="zh-TW" altLang="en-US" sz="20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</a:p>
          <a:p>
            <a:pPr>
              <a:defRPr/>
            </a:pPr>
            <a:r>
              <a:rPr lang="zh-TW" altLang="en-US" sz="20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黃色三角形有</a:t>
            </a:r>
            <a:r>
              <a:rPr lang="en-US" altLang="zh-TW" sz="20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……</a:t>
            </a:r>
            <a:endParaRPr lang="zh-TW" altLang="en-US" sz="20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0BE6DDBF-59AE-B145-EA44-5C2AAD2DE3EA}"/>
              </a:ext>
            </a:extLst>
          </p:cNvPr>
          <p:cNvSpPr/>
          <p:nvPr/>
        </p:nvSpPr>
        <p:spPr>
          <a:xfrm>
            <a:off x="2230438" y="3783013"/>
            <a:ext cx="920750" cy="43338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38" grpId="0"/>
      <p:bldP spid="39" grpId="0" animBg="1"/>
      <p:bldP spid="4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矩形 11">
            <a:extLst>
              <a:ext uri="{FF2B5EF4-FFF2-40B4-BE49-F238E27FC236}">
                <a16:creationId xmlns:a16="http://schemas.microsoft.com/office/drawing/2014/main" id="{09EB9810-DD6D-9D67-A46D-9B71C68029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388" y="-7938"/>
            <a:ext cx="87185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柏宇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有下面這些圖卡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pic>
        <p:nvPicPr>
          <p:cNvPr id="45059" name="圖片 2">
            <a:extLst>
              <a:ext uri="{FF2B5EF4-FFF2-40B4-BE49-F238E27FC236}">
                <a16:creationId xmlns:a16="http://schemas.microsoft.com/office/drawing/2014/main" id="{4599B08E-C1CF-DEF7-82A8-1491410BE1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813"/>
            <a:ext cx="446088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5060" name="群組 16">
            <a:extLst>
              <a:ext uri="{FF2B5EF4-FFF2-40B4-BE49-F238E27FC236}">
                <a16:creationId xmlns:a16="http://schemas.microsoft.com/office/drawing/2014/main" id="{B53E10D9-0D3B-401F-D55A-E05EF6DA1C43}"/>
              </a:ext>
            </a:extLst>
          </p:cNvPr>
          <p:cNvGrpSpPr>
            <a:grpSpLocks/>
          </p:cNvGrpSpPr>
          <p:nvPr/>
        </p:nvGrpSpPr>
        <p:grpSpPr bwMode="auto">
          <a:xfrm>
            <a:off x="4997450" y="-19050"/>
            <a:ext cx="1520825" cy="482600"/>
            <a:chOff x="6722457" y="1658256"/>
            <a:chExt cx="1967833" cy="652081"/>
          </a:xfrm>
        </p:grpSpPr>
        <p:pic>
          <p:nvPicPr>
            <p:cNvPr id="45112" name="Picture 14">
              <a:extLst>
                <a:ext uri="{FF2B5EF4-FFF2-40B4-BE49-F238E27FC236}">
                  <a16:creationId xmlns:a16="http://schemas.microsoft.com/office/drawing/2014/main" id="{11DBB063-59C0-351F-99AD-E69F645677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2240" y="1740821"/>
              <a:ext cx="1958050" cy="569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113" name="矩形 1">
              <a:extLst>
                <a:ext uri="{FF2B5EF4-FFF2-40B4-BE49-F238E27FC236}">
                  <a16:creationId xmlns:a16="http://schemas.microsoft.com/office/drawing/2014/main" id="{E0AEDDB3-878D-53F3-532C-E8CA86C350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2457" y="1658256"/>
              <a:ext cx="1964649" cy="6237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1" lang="zh-TW" altLang="en-US" sz="24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附件  </a:t>
              </a:r>
              <a:r>
                <a:rPr kumimoji="1" lang="en-US" altLang="zh-TW" sz="20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23</a:t>
              </a:r>
              <a:endParaRPr kumimoji="1" lang="zh-TW" altLang="en-US" sz="18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endParaRPr>
            </a:p>
          </p:txBody>
        </p:sp>
      </p:grpSp>
      <p:pic>
        <p:nvPicPr>
          <p:cNvPr id="45061" name="圖片 6">
            <a:extLst>
              <a:ext uri="{FF2B5EF4-FFF2-40B4-BE49-F238E27FC236}">
                <a16:creationId xmlns:a16="http://schemas.microsoft.com/office/drawing/2014/main" id="{3225CCFD-9A9C-96DE-539B-AC92837C1C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75" y="493713"/>
            <a:ext cx="5414963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2" name="圖片 1">
            <a:extLst>
              <a:ext uri="{FF2B5EF4-FFF2-40B4-BE49-F238E27FC236}">
                <a16:creationId xmlns:a16="http://schemas.microsoft.com/office/drawing/2014/main" id="{8248BB33-F49E-FC33-0937-DA2A630455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3" y="2527300"/>
            <a:ext cx="8897937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3" name="矩形 11">
            <a:extLst>
              <a:ext uri="{FF2B5EF4-FFF2-40B4-BE49-F238E27FC236}">
                <a16:creationId xmlns:a16="http://schemas.microsoft.com/office/drawing/2014/main" id="{C5CEF534-5921-0D46-9399-FEDB605D2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4938" y="2611438"/>
            <a:ext cx="39465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柏宇的圖卡統計表</a:t>
            </a:r>
            <a:endParaRPr lang="zh-TW" altLang="en-US" sz="240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E549C0AA-3E8E-B89C-C1F7-78A1BEACBDD3}"/>
              </a:ext>
            </a:extLst>
          </p:cNvPr>
          <p:cNvGraphicFramePr>
            <a:graphicFrameLocks noGrp="1"/>
          </p:cNvGraphicFramePr>
          <p:nvPr/>
        </p:nvGraphicFramePr>
        <p:xfrm>
          <a:off x="517525" y="3136900"/>
          <a:ext cx="7391400" cy="2049463"/>
        </p:xfrm>
        <a:graphic>
          <a:graphicData uri="http://schemas.openxmlformats.org/drawingml/2006/table">
            <a:tbl>
              <a:tblPr firstRow="1" bandRow="1">
                <a:tableStyleId>{5EF00A0C-396C-4BD8-A62D-F509AEB4C581}</a:tableStyleId>
              </a:tblPr>
              <a:tblGrid>
                <a:gridCol w="147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8835">
                <a:tc>
                  <a:txBody>
                    <a:bodyPr/>
                    <a:lstStyle/>
                    <a:p>
                      <a:pPr algn="r"/>
                      <a:r>
                        <a:rPr lang="zh-TW" altLang="en-US" sz="16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形狀</a:t>
                      </a:r>
                      <a:endParaRPr lang="en-US" altLang="zh-TW" sz="1600" b="0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zh-TW" altLang="en-US" sz="16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顏色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43" marR="91443" marT="45737" marB="45737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三角形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43" marR="91443" marT="45737" marB="45737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正方形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43" marR="91443" marT="45737" marB="45737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書法中楷（破音二）" panose="02010609010101010101" pitchFamily="49" charset="-120"/>
                          <a:ea typeface="書法中楷（破音二）" panose="02010609010101010101" pitchFamily="49" charset="-120"/>
                          <a:cs typeface="Times New Roman" panose="02020603050405020304" pitchFamily="18" charset="0"/>
                        </a:rPr>
                        <a:t>長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方形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43" marR="91443" marT="45737" marB="45737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合計</a:t>
                      </a:r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張</a:t>
                      </a:r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43" marR="91443" marT="45737" marB="45737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54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黃色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43" marR="91443" marT="45737" marB="45737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43" marR="91443" marT="45737" marB="45737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43" marR="91443" marT="45737" marB="45737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43" marR="91443" marT="45737" marB="45737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43" marR="91443" marT="45737" marB="45737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54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藍色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43" marR="91443" marT="45737" marB="45737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43" marR="91443" marT="45737" marB="45737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43" marR="91443" marT="45737" marB="45737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43" marR="91443" marT="45737" marB="45737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43" marR="91443" marT="45737" marB="45737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54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合計</a:t>
                      </a:r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張</a:t>
                      </a:r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書法中楷（注音一）" panose="02010609010101010101" pitchFamily="49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43" marR="91443" marT="45737" marB="45737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43" marR="91443" marT="45737" marB="45737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43" marR="91443" marT="45737" marB="45737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43" marR="91443" marT="45737" marB="45737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書法中楷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91443" marR="91443" marT="45737" marB="45737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DAD9CB68-F5AD-6769-359A-288AF82D7487}"/>
              </a:ext>
            </a:extLst>
          </p:cNvPr>
          <p:cNvCxnSpPr/>
          <p:nvPr/>
        </p:nvCxnSpPr>
        <p:spPr>
          <a:xfrm>
            <a:off x="531813" y="3141663"/>
            <a:ext cx="1476375" cy="67151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097" name="矩形 18">
            <a:extLst>
              <a:ext uri="{FF2B5EF4-FFF2-40B4-BE49-F238E27FC236}">
                <a16:creationId xmlns:a16="http://schemas.microsoft.com/office/drawing/2014/main" id="{3CC51279-A186-6ACA-110E-84C8FAA677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3500" y="4303713"/>
            <a:ext cx="3127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5098" name="矩形 19">
            <a:extLst>
              <a:ext uri="{FF2B5EF4-FFF2-40B4-BE49-F238E27FC236}">
                <a16:creationId xmlns:a16="http://schemas.microsoft.com/office/drawing/2014/main" id="{C9953E27-BE3A-062F-3F36-2191E7546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3500" y="4808538"/>
            <a:ext cx="3127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45099" name="矩形 20">
            <a:extLst>
              <a:ext uri="{FF2B5EF4-FFF2-40B4-BE49-F238E27FC236}">
                <a16:creationId xmlns:a16="http://schemas.microsoft.com/office/drawing/2014/main" id="{88DFC5CC-7A01-7A98-6A49-617779D571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3827463"/>
            <a:ext cx="3127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5100" name="矩形 21">
            <a:extLst>
              <a:ext uri="{FF2B5EF4-FFF2-40B4-BE49-F238E27FC236}">
                <a16:creationId xmlns:a16="http://schemas.microsoft.com/office/drawing/2014/main" id="{64CD214E-D3BC-C9B5-CF35-C441907E0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4313238"/>
            <a:ext cx="3127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5101" name="矩形 23">
            <a:extLst>
              <a:ext uri="{FF2B5EF4-FFF2-40B4-BE49-F238E27FC236}">
                <a16:creationId xmlns:a16="http://schemas.microsoft.com/office/drawing/2014/main" id="{DEE33C2D-8C82-4CF6-480E-361E7870E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4950" y="4797425"/>
            <a:ext cx="314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5102" name="矩形 24">
            <a:extLst>
              <a:ext uri="{FF2B5EF4-FFF2-40B4-BE49-F238E27FC236}">
                <a16:creationId xmlns:a16="http://schemas.microsoft.com/office/drawing/2014/main" id="{B6E140FC-052E-4565-E22B-B2A3E23AA8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7988" y="3813175"/>
            <a:ext cx="3127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5103" name="矩形 29">
            <a:extLst>
              <a:ext uri="{FF2B5EF4-FFF2-40B4-BE49-F238E27FC236}">
                <a16:creationId xmlns:a16="http://schemas.microsoft.com/office/drawing/2014/main" id="{B3AEDA5A-4F91-D4C1-D43F-7496AB1922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7988" y="4298950"/>
            <a:ext cx="3127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5104" name="矩形 30">
            <a:extLst>
              <a:ext uri="{FF2B5EF4-FFF2-40B4-BE49-F238E27FC236}">
                <a16:creationId xmlns:a16="http://schemas.microsoft.com/office/drawing/2014/main" id="{0F394BBB-6DA3-3649-F2F5-12AD2BB7E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4338" y="4783138"/>
            <a:ext cx="3127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5105" name="矩形 34">
            <a:extLst>
              <a:ext uri="{FF2B5EF4-FFF2-40B4-BE49-F238E27FC236}">
                <a16:creationId xmlns:a16="http://schemas.microsoft.com/office/drawing/2014/main" id="{DC81BF7A-599E-9F0C-1F4A-3E001889E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000" y="3830638"/>
            <a:ext cx="3127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45106" name="矩形 35">
            <a:extLst>
              <a:ext uri="{FF2B5EF4-FFF2-40B4-BE49-F238E27FC236}">
                <a16:creationId xmlns:a16="http://schemas.microsoft.com/office/drawing/2014/main" id="{C8B69CF9-FACA-1EBF-131A-84C6AE18E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000" y="4314825"/>
            <a:ext cx="3127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45107" name="矩形 36">
            <a:extLst>
              <a:ext uri="{FF2B5EF4-FFF2-40B4-BE49-F238E27FC236}">
                <a16:creationId xmlns:a16="http://schemas.microsoft.com/office/drawing/2014/main" id="{F469A0DA-04EE-234F-737C-828383B0DF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6263" y="4800600"/>
            <a:ext cx="441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45108" name="矩形 11">
            <a:extLst>
              <a:ext uri="{FF2B5EF4-FFF2-40B4-BE49-F238E27FC236}">
                <a16:creationId xmlns:a16="http://schemas.microsoft.com/office/drawing/2014/main" id="{6A4BB11E-FF20-F03F-757B-1A8C615FFD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450" y="5524500"/>
            <a:ext cx="87106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從上面的統計表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你能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得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到哪些訊息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pic>
        <p:nvPicPr>
          <p:cNvPr id="45109" name="圖片 5">
            <a:extLst>
              <a:ext uri="{FF2B5EF4-FFF2-40B4-BE49-F238E27FC236}">
                <a16:creationId xmlns:a16="http://schemas.microsoft.com/office/drawing/2014/main" id="{73D0096C-199B-BEBB-81E8-E7F7AE91A2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525" y="5575300"/>
            <a:ext cx="352425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矩形 32">
            <a:extLst>
              <a:ext uri="{FF2B5EF4-FFF2-40B4-BE49-F238E27FC236}">
                <a16:creationId xmlns:a16="http://schemas.microsoft.com/office/drawing/2014/main" id="{EB3B6833-7BE0-8874-7411-4D3C7D1439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7425" y="5957888"/>
            <a:ext cx="36480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TW" altLang="en-US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藍色正方形比黃色正方形多</a:t>
            </a: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kumimoji="1" lang="zh-TW" altLang="en-US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張</a:t>
            </a:r>
            <a:endParaRPr kumimoji="1" lang="en-US" altLang="zh-TW" sz="20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246E3F5-43DF-1B92-A445-004799472097}"/>
              </a:ext>
            </a:extLst>
          </p:cNvPr>
          <p:cNvSpPr/>
          <p:nvPr/>
        </p:nvSpPr>
        <p:spPr>
          <a:xfrm>
            <a:off x="6673850" y="6308725"/>
            <a:ext cx="2470150" cy="5492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圖片 25">
            <a:extLst>
              <a:ext uri="{FF2B5EF4-FFF2-40B4-BE49-F238E27FC236}">
                <a16:creationId xmlns:a16="http://schemas.microsoft.com/office/drawing/2014/main" id="{CFBAE351-2694-A659-FF26-3EF478E739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88365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3" name="矩形 11">
            <a:extLst>
              <a:ext uri="{FF2B5EF4-FFF2-40B4-BE49-F238E27FC236}">
                <a16:creationId xmlns:a16="http://schemas.microsoft.com/office/drawing/2014/main" id="{DE1BA92A-8928-FDC7-E322-CC9331ABE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9563" y="511175"/>
            <a:ext cx="6380162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小朋友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你喜歡小狗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嗎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那小貓</a:t>
            </a:r>
            <a:r>
              <a:rPr lang="zh-TW" altLang="en-US" sz="24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呢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  <a:br>
              <a:rPr lang="en-US" altLang="zh-TW" sz="240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這是老師調查三年孝班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12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位同學的結果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看調查表回答問題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pic>
        <p:nvPicPr>
          <p:cNvPr id="46084" name="圖片 1">
            <a:extLst>
              <a:ext uri="{FF2B5EF4-FFF2-40B4-BE49-F238E27FC236}">
                <a16:creationId xmlns:a16="http://schemas.microsoft.com/office/drawing/2014/main" id="{4125875E-AD92-000A-281A-9C90073101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61975"/>
            <a:ext cx="2900363" cy="629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5" name="矩形 11">
            <a:extLst>
              <a:ext uri="{FF2B5EF4-FFF2-40B4-BE49-F238E27FC236}">
                <a16:creationId xmlns:a16="http://schemas.microsoft.com/office/drawing/2014/main" id="{0CA7326D-0BC7-E084-EC34-A98B5898A3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1750" y="6183313"/>
            <a:ext cx="293211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註</a:t>
            </a:r>
            <a:r>
              <a:rPr lang="zh-TW" altLang="en-US" sz="1800">
                <a:latin typeface="標楷體" panose="03000509000000000000" pitchFamily="65" charset="-120"/>
                <a:ea typeface="標楷體" panose="03000509000000000000" pitchFamily="65" charset="-120"/>
              </a:rPr>
              <a:t>：○</a:t>
            </a: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表示喜歡</a:t>
            </a:r>
            <a:r>
              <a:rPr lang="zh-TW" altLang="en-US" sz="18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800">
                <a:latin typeface="MS Gothic" panose="020B0609070205080204" pitchFamily="49" charset="-128"/>
                <a:ea typeface="MS Gothic" panose="020B0609070205080204" pitchFamily="49" charset="-128"/>
              </a:rPr>
              <a:t>     ×</a:t>
            </a: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表示</a:t>
            </a:r>
            <a:r>
              <a:rPr lang="zh-TW" altLang="en-US" sz="18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不</a:t>
            </a: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喜歡</a:t>
            </a:r>
            <a:r>
              <a:rPr lang="zh-TW" altLang="en-US" sz="18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AA2FBBC8-48B9-86E3-B734-927D4A436DFE}"/>
              </a:ext>
            </a:extLst>
          </p:cNvPr>
          <p:cNvGraphicFramePr>
            <a:graphicFrameLocks noGrp="1"/>
          </p:cNvGraphicFramePr>
          <p:nvPr/>
        </p:nvGraphicFramePr>
        <p:xfrm>
          <a:off x="106363" y="1108075"/>
          <a:ext cx="2500312" cy="5048250"/>
        </p:xfrm>
        <a:graphic>
          <a:graphicData uri="http://schemas.openxmlformats.org/drawingml/2006/table">
            <a:tbl>
              <a:tblPr firstRow="1" bandRow="1">
                <a:tableStyleId>{5EF00A0C-396C-4BD8-A62D-F509AEB4C581}</a:tableStyleId>
              </a:tblPr>
              <a:tblGrid>
                <a:gridCol w="833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3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34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395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kern="1200" dirty="0">
                          <a:solidFill>
                            <a:schemeClr val="tx1"/>
                          </a:solidFill>
                          <a:latin typeface="書法中楷（注音一）" panose="02010609010101010101" pitchFamily="49" charset="-120"/>
                          <a:ea typeface="書法中楷（注音一）" panose="02010609010101010101" pitchFamily="49" charset="-120"/>
                          <a:cs typeface="+mn-cs"/>
                        </a:rPr>
                        <a:t>座號</a:t>
                      </a:r>
                    </a:p>
                  </a:txBody>
                  <a:tcPr marL="91475" marR="91475" marT="45714" marB="45714">
                    <a:solidFill>
                      <a:srgbClr val="BAD8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kern="1200" dirty="0">
                          <a:solidFill>
                            <a:schemeClr val="tx1"/>
                          </a:solidFill>
                          <a:latin typeface="書法中楷（注音一）" panose="02010609010101010101" pitchFamily="49" charset="-120"/>
                          <a:ea typeface="書法中楷（注音一）" panose="02010609010101010101" pitchFamily="49" charset="-120"/>
                          <a:cs typeface="+mn-cs"/>
                        </a:rPr>
                        <a:t>小狗</a:t>
                      </a:r>
                    </a:p>
                  </a:txBody>
                  <a:tcPr marL="91475" marR="91475" marT="45714" marB="45714">
                    <a:solidFill>
                      <a:srgbClr val="BAD8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kern="1200" dirty="0">
                          <a:solidFill>
                            <a:schemeClr val="tx1"/>
                          </a:solidFill>
                          <a:latin typeface="書法中楷（注音一）" panose="02010609010101010101" pitchFamily="49" charset="-120"/>
                          <a:ea typeface="書法中楷（注音一）" panose="02010609010101010101" pitchFamily="49" charset="-120"/>
                          <a:cs typeface="+mn-cs"/>
                        </a:rPr>
                        <a:t>小貓</a:t>
                      </a:r>
                    </a:p>
                  </a:txBody>
                  <a:tcPr marL="91475" marR="91475" marT="45714" marB="45714">
                    <a:solidFill>
                      <a:srgbClr val="BAD8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52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○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○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52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○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×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952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×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×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952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○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×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952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×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○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952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○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×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952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×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○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952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○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○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952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×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×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952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○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○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952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×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○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8952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○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○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6144" name="矩形 11">
            <a:extLst>
              <a:ext uri="{FF2B5EF4-FFF2-40B4-BE49-F238E27FC236}">
                <a16:creationId xmlns:a16="http://schemas.microsoft.com/office/drawing/2014/main" id="{BA73447C-E0F6-BB36-3D18-90E1C2A6A8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0263" y="2157413"/>
            <a:ext cx="6380162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號同學喜歡小狗</a:t>
            </a:r>
            <a:r>
              <a:rPr lang="zh-TW" altLang="en-US" sz="2400">
                <a:latin typeface="Times New Roman" panose="02020603050405020304" pitchFamily="18" charset="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嗎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  <a:br>
              <a:rPr lang="en-US" altLang="zh-TW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那小貓</a:t>
            </a:r>
            <a:r>
              <a:rPr lang="zh-TW" altLang="en-US" sz="24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呢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</a:rPr>
              <a:t>？</a:t>
            </a:r>
          </a:p>
        </p:txBody>
      </p:sp>
      <p:pic>
        <p:nvPicPr>
          <p:cNvPr id="46145" name="圖片 15">
            <a:extLst>
              <a:ext uri="{FF2B5EF4-FFF2-40B4-BE49-F238E27FC236}">
                <a16:creationId xmlns:a16="http://schemas.microsoft.com/office/drawing/2014/main" id="{B6FD6B6E-D033-6ADE-FEEA-EA8D610D2F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00" y="2208213"/>
            <a:ext cx="396875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AA67B44C-3FFC-EE7F-1BEE-96FB530C30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8438" y="2963863"/>
            <a:ext cx="1296987" cy="181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圓角矩形圖說文字 36">
            <a:extLst>
              <a:ext uri="{FF2B5EF4-FFF2-40B4-BE49-F238E27FC236}">
                <a16:creationId xmlns:a16="http://schemas.microsoft.com/office/drawing/2014/main" id="{096F9BFB-0A4A-417E-037C-B71943F904CA}"/>
              </a:ext>
            </a:extLst>
          </p:cNvPr>
          <p:cNvSpPr/>
          <p:nvPr/>
        </p:nvSpPr>
        <p:spPr>
          <a:xfrm>
            <a:off x="3341688" y="2973388"/>
            <a:ext cx="4219575" cy="1743075"/>
          </a:xfrm>
          <a:prstGeom prst="wedgeRoundRectCallout">
            <a:avLst>
              <a:gd name="adj1" fmla="val 59640"/>
              <a:gd name="adj2" fmla="val -7445"/>
              <a:gd name="adj3" fmla="val 16667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zh-TW" sz="24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zh-TW" sz="24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 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號同學都畫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○，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表示都喜歡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DCEF9F79-559F-8A72-2A4F-100DCDCDDB46}"/>
              </a:ext>
            </a:extLst>
          </p:cNvPr>
          <p:cNvGraphicFramePr>
            <a:graphicFrameLocks noGrp="1"/>
          </p:cNvGraphicFramePr>
          <p:nvPr/>
        </p:nvGraphicFramePr>
        <p:xfrm>
          <a:off x="3662363" y="3103563"/>
          <a:ext cx="2498725" cy="763587"/>
        </p:xfrm>
        <a:graphic>
          <a:graphicData uri="http://schemas.openxmlformats.org/drawingml/2006/table">
            <a:tbl>
              <a:tblPr firstRow="1" bandRow="1">
                <a:tableStyleId>{5EF00A0C-396C-4BD8-A62D-F509AEB4C581}</a:tableStyleId>
              </a:tblPr>
              <a:tblGrid>
                <a:gridCol w="8329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29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29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00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kern="1200" dirty="0">
                          <a:solidFill>
                            <a:schemeClr val="tx1"/>
                          </a:solidFill>
                          <a:latin typeface="書法中楷（注音一）" panose="02010609010101010101" pitchFamily="49" charset="-120"/>
                          <a:ea typeface="書法中楷（注音一）" panose="02010609010101010101" pitchFamily="49" charset="-120"/>
                          <a:cs typeface="+mn-cs"/>
                        </a:rPr>
                        <a:t>座號</a:t>
                      </a:r>
                    </a:p>
                  </a:txBody>
                  <a:tcPr marL="91417" marR="91417">
                    <a:solidFill>
                      <a:srgbClr val="BAD8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kern="1200" dirty="0">
                          <a:solidFill>
                            <a:schemeClr val="tx1"/>
                          </a:solidFill>
                          <a:latin typeface="書法中楷（注音一）" panose="02010609010101010101" pitchFamily="49" charset="-120"/>
                          <a:ea typeface="書法中楷（注音一）" panose="02010609010101010101" pitchFamily="49" charset="-120"/>
                          <a:cs typeface="+mn-cs"/>
                        </a:rPr>
                        <a:t>小狗</a:t>
                      </a:r>
                    </a:p>
                  </a:txBody>
                  <a:tcPr marL="91417" marR="91417">
                    <a:solidFill>
                      <a:srgbClr val="BAD8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kern="1200" dirty="0">
                          <a:solidFill>
                            <a:schemeClr val="tx1"/>
                          </a:solidFill>
                          <a:latin typeface="書法中楷（注音一）" panose="02010609010101010101" pitchFamily="49" charset="-120"/>
                          <a:ea typeface="書法中楷（注音一）" panose="02010609010101010101" pitchFamily="49" charset="-120"/>
                          <a:cs typeface="+mn-cs"/>
                        </a:rPr>
                        <a:t>小貓</a:t>
                      </a:r>
                    </a:p>
                  </a:txBody>
                  <a:tcPr marL="91417" marR="91417">
                    <a:solidFill>
                      <a:srgbClr val="BAD8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57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7" marR="91417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○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7" marR="91417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○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7" marR="91417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9" name="矩形 11">
            <a:extLst>
              <a:ext uri="{FF2B5EF4-FFF2-40B4-BE49-F238E27FC236}">
                <a16:creationId xmlns:a16="http://schemas.microsoft.com/office/drawing/2014/main" id="{B3878A05-7202-54D9-4F81-A90B1CDD14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0263" y="4943475"/>
            <a:ext cx="63801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3 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號同學</a:t>
            </a:r>
            <a:r>
              <a:rPr lang="zh-TW" altLang="en-US" sz="2400"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呢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5 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號同學</a:t>
            </a:r>
            <a:r>
              <a:rPr lang="zh-TW" altLang="en-US" sz="24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呢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</a:rPr>
              <a:t>？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FA4238D-1351-651F-D4B6-B616E1BE7D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75" y="5537200"/>
            <a:ext cx="4030663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號：小狗和小貓都不喜歡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號：不喜歡小狗，喜歡小貓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9" grpId="0"/>
      <p:bldP spid="4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圖片 25">
            <a:extLst>
              <a:ext uri="{FF2B5EF4-FFF2-40B4-BE49-F238E27FC236}">
                <a16:creationId xmlns:a16="http://schemas.microsoft.com/office/drawing/2014/main" id="{30EBFA54-2EC6-4C79-CC9C-A2095CE8D4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88365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7" name="圖片 1">
            <a:extLst>
              <a:ext uri="{FF2B5EF4-FFF2-40B4-BE49-F238E27FC236}">
                <a16:creationId xmlns:a16="http://schemas.microsoft.com/office/drawing/2014/main" id="{08457C6C-1BB4-A161-D467-7097980CB4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61975"/>
            <a:ext cx="2900363" cy="629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08" name="矩形 11">
            <a:extLst>
              <a:ext uri="{FF2B5EF4-FFF2-40B4-BE49-F238E27FC236}">
                <a16:creationId xmlns:a16="http://schemas.microsoft.com/office/drawing/2014/main" id="{18FBA23D-9823-8784-3033-B0D7305FE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1750" y="6183313"/>
            <a:ext cx="293211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註</a:t>
            </a:r>
            <a:r>
              <a:rPr lang="zh-TW" altLang="en-US" sz="1800">
                <a:latin typeface="標楷體" panose="03000509000000000000" pitchFamily="65" charset="-120"/>
                <a:ea typeface="標楷體" panose="03000509000000000000" pitchFamily="65" charset="-120"/>
              </a:rPr>
              <a:t>：○</a:t>
            </a: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表示喜歡</a:t>
            </a:r>
            <a:r>
              <a:rPr lang="zh-TW" altLang="en-US" sz="18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800">
                <a:latin typeface="MS Gothic" panose="020B0609070205080204" pitchFamily="49" charset="-128"/>
                <a:ea typeface="MS Gothic" panose="020B0609070205080204" pitchFamily="49" charset="-128"/>
              </a:rPr>
              <a:t>     ×</a:t>
            </a: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表示不喜歡</a:t>
            </a:r>
            <a:r>
              <a:rPr lang="zh-TW" altLang="en-US" sz="18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EEB2C40-15F0-F295-D560-5634D710AFA8}"/>
              </a:ext>
            </a:extLst>
          </p:cNvPr>
          <p:cNvGraphicFramePr>
            <a:graphicFrameLocks noGrp="1"/>
          </p:cNvGraphicFramePr>
          <p:nvPr/>
        </p:nvGraphicFramePr>
        <p:xfrm>
          <a:off x="106363" y="1108075"/>
          <a:ext cx="2500312" cy="5048250"/>
        </p:xfrm>
        <a:graphic>
          <a:graphicData uri="http://schemas.openxmlformats.org/drawingml/2006/table">
            <a:tbl>
              <a:tblPr firstRow="1" bandRow="1">
                <a:tableStyleId>{5EF00A0C-396C-4BD8-A62D-F509AEB4C581}</a:tableStyleId>
              </a:tblPr>
              <a:tblGrid>
                <a:gridCol w="833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3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34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395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kern="1200" dirty="0">
                          <a:solidFill>
                            <a:schemeClr val="tx1"/>
                          </a:solidFill>
                          <a:latin typeface="書法中楷（注音一）" panose="02010609010101010101" pitchFamily="49" charset="-120"/>
                          <a:ea typeface="書法中楷（注音一）" panose="02010609010101010101" pitchFamily="49" charset="-120"/>
                          <a:cs typeface="+mn-cs"/>
                        </a:rPr>
                        <a:t>座號</a:t>
                      </a:r>
                    </a:p>
                  </a:txBody>
                  <a:tcPr marL="91475" marR="91475" marT="45714" marB="45714">
                    <a:solidFill>
                      <a:srgbClr val="BAD8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kern="1200" dirty="0">
                          <a:solidFill>
                            <a:schemeClr val="tx1"/>
                          </a:solidFill>
                          <a:latin typeface="書法中楷（注音一）" panose="02010609010101010101" pitchFamily="49" charset="-120"/>
                          <a:ea typeface="書法中楷（注音一）" panose="02010609010101010101" pitchFamily="49" charset="-120"/>
                          <a:cs typeface="+mn-cs"/>
                        </a:rPr>
                        <a:t>小狗</a:t>
                      </a:r>
                    </a:p>
                  </a:txBody>
                  <a:tcPr marL="91475" marR="91475" marT="45714" marB="45714">
                    <a:solidFill>
                      <a:srgbClr val="BAD8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kern="1200" dirty="0">
                          <a:solidFill>
                            <a:schemeClr val="tx1"/>
                          </a:solidFill>
                          <a:latin typeface="書法中楷（注音一）" panose="02010609010101010101" pitchFamily="49" charset="-120"/>
                          <a:ea typeface="書法中楷（注音一）" panose="02010609010101010101" pitchFamily="49" charset="-120"/>
                          <a:cs typeface="+mn-cs"/>
                        </a:rPr>
                        <a:t>小貓</a:t>
                      </a:r>
                    </a:p>
                  </a:txBody>
                  <a:tcPr marL="91475" marR="91475" marT="45714" marB="45714">
                    <a:solidFill>
                      <a:srgbClr val="BAD8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52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○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○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52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○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×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952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×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×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952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○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×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952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×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○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952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○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×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952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×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○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952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○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○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952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×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×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952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○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○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952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×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○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8952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○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○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7167" name="矩形 11">
            <a:extLst>
              <a:ext uri="{FF2B5EF4-FFF2-40B4-BE49-F238E27FC236}">
                <a16:creationId xmlns:a16="http://schemas.microsoft.com/office/drawing/2014/main" id="{4E03A8CC-AE68-99A5-4D2D-BE67567BDC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0425" y="679450"/>
            <a:ext cx="5773738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同時喜歡小狗</a:t>
            </a:r>
            <a:r>
              <a:rPr lang="zh-TW" altLang="en-US" sz="2400"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和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小貓的學生座號有哪些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pic>
        <p:nvPicPr>
          <p:cNvPr id="47168" name="圖片 16">
            <a:extLst>
              <a:ext uri="{FF2B5EF4-FFF2-40B4-BE49-F238E27FC236}">
                <a16:creationId xmlns:a16="http://schemas.microsoft.com/office/drawing/2014/main" id="{EFB62F93-6C90-5602-CFFA-6A80967E94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6100" y="792163"/>
            <a:ext cx="376238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CD842160-64FD-50CE-BB4C-21B1A46FCA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8088" y="1096963"/>
            <a:ext cx="23383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12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號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FE1E9347-886F-3B55-9F12-B8C7634C2BBD}"/>
              </a:ext>
            </a:extLst>
          </p:cNvPr>
          <p:cNvSpPr/>
          <p:nvPr/>
        </p:nvSpPr>
        <p:spPr>
          <a:xfrm>
            <a:off x="6673850" y="6308725"/>
            <a:ext cx="2470150" cy="5492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pic>
        <p:nvPicPr>
          <p:cNvPr id="48131" name="圖片 25">
            <a:extLst>
              <a:ext uri="{FF2B5EF4-FFF2-40B4-BE49-F238E27FC236}">
                <a16:creationId xmlns:a16="http://schemas.microsoft.com/office/drawing/2014/main" id="{B7B4F552-9E02-5045-DD3C-0522F71666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88365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32" name="圖片 1">
            <a:extLst>
              <a:ext uri="{FF2B5EF4-FFF2-40B4-BE49-F238E27FC236}">
                <a16:creationId xmlns:a16="http://schemas.microsoft.com/office/drawing/2014/main" id="{CE50143F-FB55-B656-EFEA-F941F6FCE5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61975"/>
            <a:ext cx="2900363" cy="629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3" name="矩形 11">
            <a:extLst>
              <a:ext uri="{FF2B5EF4-FFF2-40B4-BE49-F238E27FC236}">
                <a16:creationId xmlns:a16="http://schemas.microsoft.com/office/drawing/2014/main" id="{65BE3B2B-B347-5FBE-DA21-DD94AC0DD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1750" y="6183313"/>
            <a:ext cx="293211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註</a:t>
            </a:r>
            <a:r>
              <a:rPr lang="zh-TW" altLang="en-US" sz="1800">
                <a:latin typeface="標楷體" panose="03000509000000000000" pitchFamily="65" charset="-120"/>
                <a:ea typeface="標楷體" panose="03000509000000000000" pitchFamily="65" charset="-120"/>
              </a:rPr>
              <a:t>：○</a:t>
            </a: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表示喜歡</a:t>
            </a:r>
            <a:r>
              <a:rPr lang="zh-TW" altLang="en-US" sz="18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800">
                <a:latin typeface="MS Gothic" panose="020B0609070205080204" pitchFamily="49" charset="-128"/>
                <a:ea typeface="MS Gothic" panose="020B0609070205080204" pitchFamily="49" charset="-128"/>
              </a:rPr>
              <a:t>     ×</a:t>
            </a: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表示不喜歡</a:t>
            </a:r>
            <a:r>
              <a:rPr lang="zh-TW" altLang="en-US" sz="18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58C5281-D5D2-6A32-04F2-75BEF9AFAFFE}"/>
              </a:ext>
            </a:extLst>
          </p:cNvPr>
          <p:cNvGraphicFramePr>
            <a:graphicFrameLocks noGrp="1"/>
          </p:cNvGraphicFramePr>
          <p:nvPr/>
        </p:nvGraphicFramePr>
        <p:xfrm>
          <a:off x="106363" y="1108075"/>
          <a:ext cx="2500312" cy="5048250"/>
        </p:xfrm>
        <a:graphic>
          <a:graphicData uri="http://schemas.openxmlformats.org/drawingml/2006/table">
            <a:tbl>
              <a:tblPr firstRow="1" bandRow="1">
                <a:tableStyleId>{5EF00A0C-396C-4BD8-A62D-F509AEB4C581}</a:tableStyleId>
              </a:tblPr>
              <a:tblGrid>
                <a:gridCol w="833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3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34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395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kern="1200" dirty="0">
                          <a:solidFill>
                            <a:schemeClr val="tx1"/>
                          </a:solidFill>
                          <a:latin typeface="書法中楷（注音一）" panose="02010609010101010101" pitchFamily="49" charset="-120"/>
                          <a:ea typeface="書法中楷（注音一）" panose="02010609010101010101" pitchFamily="49" charset="-120"/>
                          <a:cs typeface="+mn-cs"/>
                        </a:rPr>
                        <a:t>座號</a:t>
                      </a:r>
                    </a:p>
                  </a:txBody>
                  <a:tcPr marL="91475" marR="91475" marT="45714" marB="45714">
                    <a:solidFill>
                      <a:srgbClr val="BAD8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kern="1200" dirty="0">
                          <a:solidFill>
                            <a:schemeClr val="tx1"/>
                          </a:solidFill>
                          <a:latin typeface="書法中楷（注音一）" panose="02010609010101010101" pitchFamily="49" charset="-120"/>
                          <a:ea typeface="書法中楷（注音一）" panose="02010609010101010101" pitchFamily="49" charset="-120"/>
                          <a:cs typeface="+mn-cs"/>
                        </a:rPr>
                        <a:t>小狗</a:t>
                      </a:r>
                    </a:p>
                  </a:txBody>
                  <a:tcPr marL="91475" marR="91475" marT="45714" marB="45714">
                    <a:solidFill>
                      <a:srgbClr val="BAD8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kern="1200" dirty="0">
                          <a:solidFill>
                            <a:schemeClr val="tx1"/>
                          </a:solidFill>
                          <a:latin typeface="書法中楷（注音一）" panose="02010609010101010101" pitchFamily="49" charset="-120"/>
                          <a:ea typeface="書法中楷（注音一）" panose="02010609010101010101" pitchFamily="49" charset="-120"/>
                          <a:cs typeface="+mn-cs"/>
                        </a:rPr>
                        <a:t>小貓</a:t>
                      </a:r>
                    </a:p>
                  </a:txBody>
                  <a:tcPr marL="91475" marR="91475" marT="45714" marB="45714">
                    <a:solidFill>
                      <a:srgbClr val="BAD8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52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○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○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52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○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×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952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×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×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952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○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×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952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×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○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952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○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×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952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×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○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952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○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○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952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×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×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952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○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○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952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×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○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8952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○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○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75" marR="91475" marT="45714" marB="4571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8192" name="矩形 11">
            <a:extLst>
              <a:ext uri="{FF2B5EF4-FFF2-40B4-BE49-F238E27FC236}">
                <a16:creationId xmlns:a16="http://schemas.microsoft.com/office/drawing/2014/main" id="{8B54E437-098A-69FE-1F10-4E9E76FE8A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2338" y="561975"/>
            <a:ext cx="5681662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把上面資料整理成下面的統計表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48193" name="圖片 5">
            <a:extLst>
              <a:ext uri="{FF2B5EF4-FFF2-40B4-BE49-F238E27FC236}">
                <a16:creationId xmlns:a16="http://schemas.microsoft.com/office/drawing/2014/main" id="{D7DBF81B-3A1F-0161-ED55-3394C87C63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1025" y="647700"/>
            <a:ext cx="35242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E10E72B7-7EF1-214A-A71C-2594909089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0525" y="1406525"/>
            <a:ext cx="6213475" cy="2509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矩形 11">
            <a:extLst>
              <a:ext uri="{FF2B5EF4-FFF2-40B4-BE49-F238E27FC236}">
                <a16:creationId xmlns:a16="http://schemas.microsoft.com/office/drawing/2014/main" id="{9470C91F-A67E-50BC-30BC-7EF13BA4D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5900" y="1622425"/>
            <a:ext cx="56816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FF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三年孝班人數統計表</a:t>
            </a:r>
            <a:endParaRPr lang="zh-TW" altLang="en-US" sz="240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55111F6E-E980-6CBB-A523-C77A1A400F76}"/>
              </a:ext>
            </a:extLst>
          </p:cNvPr>
          <p:cNvGraphicFramePr>
            <a:graphicFrameLocks noGrp="1"/>
          </p:cNvGraphicFramePr>
          <p:nvPr/>
        </p:nvGraphicFramePr>
        <p:xfrm>
          <a:off x="3803650" y="2082800"/>
          <a:ext cx="4635500" cy="1236663"/>
        </p:xfrm>
        <a:graphic>
          <a:graphicData uri="http://schemas.openxmlformats.org/drawingml/2006/table">
            <a:tbl>
              <a:tblPr firstRow="1" bandRow="1">
                <a:tableStyleId>{5EF00A0C-396C-4BD8-A62D-F509AEB4C581}</a:tableStyleId>
              </a:tblPr>
              <a:tblGrid>
                <a:gridCol w="1545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5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5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313">
                <a:tc>
                  <a:txBody>
                    <a:bodyPr/>
                    <a:lstStyle/>
                    <a:p>
                      <a:pPr algn="r"/>
                      <a:r>
                        <a:rPr lang="zh-TW" altLang="en-US" sz="1200" kern="1200" dirty="0">
                          <a:solidFill>
                            <a:schemeClr val="tx1"/>
                          </a:solidFill>
                          <a:latin typeface="書法中楷（注音一）" panose="02010609010101010101" pitchFamily="49" charset="-120"/>
                          <a:ea typeface="書法中楷（注音一）" panose="02010609010101010101" pitchFamily="49" charset="-120"/>
                          <a:cs typeface="+mn-cs"/>
                        </a:rPr>
                        <a:t>小貓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書法中楷（注音一）" panose="02010609010101010101" pitchFamily="49" charset="-120"/>
                        <a:ea typeface="書法中楷（注音一）" panose="02010609010101010101" pitchFamily="49" charset="-120"/>
                        <a:cs typeface="+mn-cs"/>
                      </a:endParaRPr>
                    </a:p>
                    <a:p>
                      <a:pPr algn="l"/>
                      <a:r>
                        <a:rPr lang="zh-TW" altLang="en-US" sz="1200" kern="1200" dirty="0">
                          <a:solidFill>
                            <a:schemeClr val="tx1"/>
                          </a:solidFill>
                          <a:latin typeface="書法中楷（注音一）" panose="02010609010101010101" pitchFamily="49" charset="-120"/>
                          <a:ea typeface="書法中楷（注音一）" panose="02010609010101010101" pitchFamily="49" charset="-120"/>
                          <a:cs typeface="+mn-cs"/>
                        </a:rPr>
                        <a:t>小狗</a:t>
                      </a:r>
                    </a:p>
                  </a:txBody>
                  <a:tcPr marL="91447" marR="91447" marT="45731" marB="45731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kern="1200" dirty="0">
                          <a:solidFill>
                            <a:schemeClr val="tx1"/>
                          </a:solidFill>
                          <a:latin typeface="書法中楷（注音一）" panose="02010609010101010101" pitchFamily="49" charset="-120"/>
                          <a:ea typeface="書法中楷（注音一）" panose="02010609010101010101" pitchFamily="49" charset="-120"/>
                          <a:cs typeface="+mn-cs"/>
                        </a:rPr>
                        <a:t>喜歡</a:t>
                      </a:r>
                    </a:p>
                  </a:txBody>
                  <a:tcPr marL="91447" marR="91447" marT="45731" marB="45731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kern="1200" dirty="0">
                          <a:solidFill>
                            <a:schemeClr val="tx1"/>
                          </a:solidFill>
                          <a:latin typeface="書法中楷（破音二）" panose="02010609010101010101" pitchFamily="49" charset="-120"/>
                          <a:ea typeface="書法中楷（破音二）" panose="02010609010101010101" pitchFamily="49" charset="-120"/>
                          <a:cs typeface="+mn-cs"/>
                        </a:rPr>
                        <a:t>不</a:t>
                      </a:r>
                      <a:r>
                        <a:rPr lang="zh-TW" altLang="en-US" sz="1600" kern="1200" dirty="0">
                          <a:solidFill>
                            <a:schemeClr val="tx1"/>
                          </a:solidFill>
                          <a:latin typeface="書法中楷（注音一）" panose="02010609010101010101" pitchFamily="49" charset="-120"/>
                          <a:ea typeface="書法中楷（注音一）" panose="02010609010101010101" pitchFamily="49" charset="-120"/>
                          <a:cs typeface="+mn-cs"/>
                        </a:rPr>
                        <a:t>喜歡</a:t>
                      </a:r>
                    </a:p>
                  </a:txBody>
                  <a:tcPr marL="91447" marR="91447" marT="45731" marB="45731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67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kern="1200" dirty="0">
                          <a:solidFill>
                            <a:schemeClr val="tx1"/>
                          </a:solidFill>
                          <a:latin typeface="書法中楷（注音一）" panose="02010609010101010101" pitchFamily="49" charset="-120"/>
                          <a:ea typeface="書法中楷（注音一）" panose="02010609010101010101" pitchFamily="49" charset="-120"/>
                          <a:cs typeface="+mn-cs"/>
                        </a:rPr>
                        <a:t>喜歡</a:t>
                      </a:r>
                    </a:p>
                  </a:txBody>
                  <a:tcPr marL="91447" marR="91447" marT="45731" marB="45731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7" marR="91447" marT="45731" marB="45731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7" marR="91447" marT="45731" marB="45731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67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kern="1200" dirty="0">
                          <a:solidFill>
                            <a:schemeClr val="tx1"/>
                          </a:solidFill>
                          <a:latin typeface="書法中楷（破音二）" panose="02010609010101010101" pitchFamily="49" charset="-120"/>
                          <a:ea typeface="書法中楷（破音二）" panose="02010609010101010101" pitchFamily="49" charset="-120"/>
                          <a:cs typeface="+mn-cs"/>
                        </a:rPr>
                        <a:t>不</a:t>
                      </a:r>
                      <a:r>
                        <a:rPr lang="zh-TW" altLang="en-US" sz="1600" kern="1200" dirty="0">
                          <a:solidFill>
                            <a:schemeClr val="tx1"/>
                          </a:solidFill>
                          <a:latin typeface="書法中楷（注音一）" panose="02010609010101010101" pitchFamily="49" charset="-120"/>
                          <a:ea typeface="書法中楷（注音一）" panose="02010609010101010101" pitchFamily="49" charset="-120"/>
                          <a:cs typeface="+mn-cs"/>
                        </a:rPr>
                        <a:t>喜歡</a:t>
                      </a:r>
                    </a:p>
                  </a:txBody>
                  <a:tcPr marL="91447" marR="91447" marT="45731" marB="45731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7" marR="91447" marT="45731" marB="45731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7" marR="91447" marT="45731" marB="45731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0FEE44ED-ADB7-BF79-0B8B-CCB3664F6CAC}"/>
              </a:ext>
            </a:extLst>
          </p:cNvPr>
          <p:cNvCxnSpPr/>
          <p:nvPr/>
        </p:nvCxnSpPr>
        <p:spPr>
          <a:xfrm>
            <a:off x="3803650" y="2082800"/>
            <a:ext cx="1552575" cy="4492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5B34C657-A42A-5F16-BDB7-2C582D170FB9}"/>
              </a:ext>
            </a:extLst>
          </p:cNvPr>
          <p:cNvSpPr/>
          <p:nvPr/>
        </p:nvSpPr>
        <p:spPr>
          <a:xfrm>
            <a:off x="3095625" y="3930650"/>
            <a:ext cx="6078538" cy="1036638"/>
          </a:xfrm>
          <a:prstGeom prst="rect">
            <a:avLst/>
          </a:prstGeom>
          <a:solidFill>
            <a:srgbClr val="FFFFFF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anchor="ctr"/>
          <a:lstStyle/>
          <a:p>
            <a:pPr>
              <a:defRPr/>
            </a:pP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表示喜歡小狗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</a:p>
          <a:p>
            <a:pPr>
              <a:defRPr/>
            </a:pP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也喜歡小貓的人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共有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4 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個人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48B5F035-1D05-E1D7-E755-A9EDCC41BE5B}"/>
              </a:ext>
            </a:extLst>
          </p:cNvPr>
          <p:cNvCxnSpPr/>
          <p:nvPr/>
        </p:nvCxnSpPr>
        <p:spPr>
          <a:xfrm flipV="1">
            <a:off x="5006975" y="2827338"/>
            <a:ext cx="1030288" cy="108902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圖片 4">
            <a:extLst>
              <a:ext uri="{FF2B5EF4-FFF2-40B4-BE49-F238E27FC236}">
                <a16:creationId xmlns:a16="http://schemas.microsoft.com/office/drawing/2014/main" id="{27CDD781-E6E3-9347-9361-99D92D18DA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8575" y="5040313"/>
            <a:ext cx="1525588" cy="179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圓角矩形圖說文字 17">
            <a:extLst>
              <a:ext uri="{FF2B5EF4-FFF2-40B4-BE49-F238E27FC236}">
                <a16:creationId xmlns:a16="http://schemas.microsoft.com/office/drawing/2014/main" id="{EE9C82D0-CB83-EDD2-0FAA-D1C2FD4C6826}"/>
              </a:ext>
            </a:extLst>
          </p:cNvPr>
          <p:cNvSpPr/>
          <p:nvPr/>
        </p:nvSpPr>
        <p:spPr bwMode="auto">
          <a:xfrm>
            <a:off x="3063875" y="5056188"/>
            <a:ext cx="4584700" cy="1757362"/>
          </a:xfrm>
          <a:prstGeom prst="wedgeRoundRectCallout">
            <a:avLst>
              <a:gd name="adj1" fmla="val 51873"/>
              <a:gd name="adj2" fmla="val -13558"/>
              <a:gd name="adj3" fmla="val 16667"/>
            </a:avLst>
          </a:prstGeom>
          <a:solidFill>
            <a:srgbClr val="FFE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想想看</a:t>
            </a: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喜歡小狗</a:t>
            </a: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400" dirty="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不</a:t>
            </a: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喜歡小貓的人數要填在哪裡</a:t>
            </a:r>
            <a:r>
              <a:rPr lang="zh-TW" altLang="en-US" sz="2400" dirty="0">
                <a:solidFill>
                  <a:srgbClr val="000000"/>
                </a:solidFill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呢</a:t>
            </a: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  <a:endParaRPr lang="zh-TW" altLang="en-US" sz="24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6C9E809-A280-E4D8-E133-B7E797B743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7288" y="2522538"/>
            <a:ext cx="3127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9C65318-8B84-CE48-E4EE-2925FD552B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5825" y="2919413"/>
            <a:ext cx="3127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3B755E8-475F-11B6-9EB1-2E4FC5AAD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7288" y="2927350"/>
            <a:ext cx="3127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9" grpId="0" animBg="1"/>
      <p:bldP spid="1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868B6E-05B8-463B-0326-8C277D0B7CD4}"/>
              </a:ext>
            </a:extLst>
          </p:cNvPr>
          <p:cNvSpPr txBox="1">
            <a:spLocks/>
          </p:cNvSpPr>
          <p:nvPr/>
        </p:nvSpPr>
        <p:spPr bwMode="auto">
          <a:xfrm>
            <a:off x="628650" y="2670175"/>
            <a:ext cx="7886700" cy="11160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b"/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algn="ctr">
              <a:lnSpc>
                <a:spcPct val="90000"/>
              </a:lnSpc>
              <a:spcBef>
                <a:spcPts val="1800"/>
              </a:spcBef>
              <a:spcAft>
                <a:spcPts val="1800"/>
              </a:spcAft>
              <a:defRPr/>
            </a:pPr>
            <a:r>
              <a:rPr lang="zh-TW" altLang="en-US" sz="6600" b="1" dirty="0">
                <a:ln w="57150">
                  <a:noFill/>
                </a:ln>
                <a:latin typeface="微軟正黑體" pitchFamily="34" charset="-120"/>
                <a:ea typeface="微軟正黑體" pitchFamily="34" charset="-120"/>
              </a:rPr>
              <a:t>練習百分百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13">
            <a:extLst>
              <a:ext uri="{FF2B5EF4-FFF2-40B4-BE49-F238E27FC236}">
                <a16:creationId xmlns:a16="http://schemas.microsoft.com/office/drawing/2014/main" id="{0C0CF76A-7825-5602-45C9-AA62825D35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3" y="1992313"/>
            <a:ext cx="8531225" cy="293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0179" name="矩形 11">
            <a:extLst>
              <a:ext uri="{FF2B5EF4-FFF2-40B4-BE49-F238E27FC236}">
                <a16:creationId xmlns:a16="http://schemas.microsoft.com/office/drawing/2014/main" id="{82571B7F-700E-0060-363E-EBDB821CC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" y="1536700"/>
            <a:ext cx="84105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這是</a:t>
            </a:r>
            <a:r>
              <a:rPr lang="zh-TW" altLang="en-US" sz="2400" u="sng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大碗飯館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的價目表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50180" name="圖片 2">
            <a:extLst>
              <a:ext uri="{FF2B5EF4-FFF2-40B4-BE49-F238E27FC236}">
                <a16:creationId xmlns:a16="http://schemas.microsoft.com/office/drawing/2014/main" id="{3327F4A6-196C-281E-1DEC-802F66270F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8" y="1589088"/>
            <a:ext cx="457200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1" name="矩形 3">
            <a:extLst>
              <a:ext uri="{FF2B5EF4-FFF2-40B4-BE49-F238E27FC236}">
                <a16:creationId xmlns:a16="http://schemas.microsoft.com/office/drawing/2014/main" id="{AA0222E2-2820-44E6-477C-E457700A93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013" y="4937125"/>
            <a:ext cx="795655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飯類中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哪</a:t>
            </a:r>
            <a:r>
              <a:rPr lang="zh-TW" altLang="en-US" sz="2400"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種最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便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宜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(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               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哪</a:t>
            </a:r>
            <a:r>
              <a:rPr lang="zh-TW" altLang="en-US" sz="2400"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種最貴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(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                    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媽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媽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想買飯類</a:t>
            </a:r>
            <a:r>
              <a:rPr lang="zh-TW" altLang="en-US" sz="2400"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和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湯類各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份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最多要付多少元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( 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             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) 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元</a:t>
            </a:r>
          </a:p>
        </p:txBody>
      </p:sp>
      <p:pic>
        <p:nvPicPr>
          <p:cNvPr id="50182" name="圖片 2">
            <a:extLst>
              <a:ext uri="{FF2B5EF4-FFF2-40B4-BE49-F238E27FC236}">
                <a16:creationId xmlns:a16="http://schemas.microsoft.com/office/drawing/2014/main" id="{99E61F67-00E7-FA7F-D077-5B9B156E2C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550" y="5003800"/>
            <a:ext cx="352425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83" name="圖片 3">
            <a:extLst>
              <a:ext uri="{FF2B5EF4-FFF2-40B4-BE49-F238E27FC236}">
                <a16:creationId xmlns:a16="http://schemas.microsoft.com/office/drawing/2014/main" id="{AE9CAFF4-4C49-DD17-83C1-78A376CE0E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975" y="5722938"/>
            <a:ext cx="382588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27BE8219-1582-8C1C-196F-1CF8F5C81E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2450" y="4979988"/>
            <a:ext cx="1209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TW" altLang="en-US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肉絲炒飯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210B135-1939-048C-32CC-A560CDC8CA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3013" y="5322888"/>
            <a:ext cx="12112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TW" altLang="en-US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排骨炒飯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C2F4C77-3795-866F-D53A-D1EECB126D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9100" y="6072188"/>
            <a:ext cx="5699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130</a:t>
            </a:r>
            <a:endParaRPr kumimoji="1" lang="zh-TW" altLang="en-US" sz="20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227DFD52-989C-8756-44F2-DD6797F838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6116638"/>
            <a:ext cx="16637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90</a:t>
            </a:r>
            <a:r>
              <a:rPr kumimoji="1" lang="zh-TW" altLang="en-US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＋</a:t>
            </a: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40</a:t>
            </a:r>
            <a:r>
              <a:rPr kumimoji="1" lang="zh-TW" altLang="en-US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130</a:t>
            </a:r>
            <a:endParaRPr kumimoji="1" lang="zh-TW" altLang="en-US" sz="20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矩形 11">
            <a:extLst>
              <a:ext uri="{FF2B5EF4-FFF2-40B4-BE49-F238E27FC236}">
                <a16:creationId xmlns:a16="http://schemas.microsoft.com/office/drawing/2014/main" id="{3947F001-0C5E-07A2-163C-C0BB51B848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" y="1566863"/>
            <a:ext cx="84105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下面是</a:t>
            </a:r>
            <a:r>
              <a:rPr lang="zh-TW" altLang="en-US" sz="2400" u="sng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貓空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纜車單程票價表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51203" name="矩形 3">
            <a:extLst>
              <a:ext uri="{FF2B5EF4-FFF2-40B4-BE49-F238E27FC236}">
                <a16:creationId xmlns:a16="http://schemas.microsoft.com/office/drawing/2014/main" id="{19A4A86E-7803-4EC1-F851-6454BEE918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263" y="3810000"/>
            <a:ext cx="819467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從</a:t>
            </a:r>
            <a:r>
              <a:rPr lang="zh-TW" altLang="en-US" sz="2400" u="sng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動物園南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站到</a:t>
            </a:r>
            <a:r>
              <a:rPr lang="zh-TW" altLang="en-US" sz="2400" u="sng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指南宮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站的票價是多少元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(               ) 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元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從</a:t>
            </a:r>
            <a:r>
              <a:rPr lang="zh-TW" altLang="en-US" sz="2400" u="sng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動物園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站到</a:t>
            </a:r>
            <a:r>
              <a:rPr lang="zh-TW" altLang="en-US" sz="2400" u="sng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貓空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站來回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趟的票價是多少元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(               ) 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元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從</a:t>
            </a:r>
            <a:r>
              <a:rPr lang="zh-TW" altLang="en-US" sz="2400" u="sng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動物園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站坐到哪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站的票價是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100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元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  <a:endParaRPr lang="en-US" altLang="zh-TW" sz="240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(               )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站</a:t>
            </a:r>
          </a:p>
        </p:txBody>
      </p:sp>
      <p:pic>
        <p:nvPicPr>
          <p:cNvPr id="51204" name="圖片 2">
            <a:extLst>
              <a:ext uri="{FF2B5EF4-FFF2-40B4-BE49-F238E27FC236}">
                <a16:creationId xmlns:a16="http://schemas.microsoft.com/office/drawing/2014/main" id="{52626953-9039-31CB-0B8F-88B5586A79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13" y="3876675"/>
            <a:ext cx="352425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05" name="圖片 3">
            <a:extLst>
              <a:ext uri="{FF2B5EF4-FFF2-40B4-BE49-F238E27FC236}">
                <a16:creationId xmlns:a16="http://schemas.microsoft.com/office/drawing/2014/main" id="{3D83D974-1D16-FF89-9387-C2481A8B6F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25" y="4595813"/>
            <a:ext cx="382588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4103DA26-2E1C-44A5-C23A-A8F49B21A8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6300" y="4211638"/>
            <a:ext cx="441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70</a:t>
            </a:r>
            <a:endParaRPr kumimoji="1" lang="zh-TW" altLang="en-US" sz="20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80A3DFF-80A1-177A-9BFA-7E530E97FB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7688" y="4946650"/>
            <a:ext cx="5699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240</a:t>
            </a:r>
            <a:endParaRPr kumimoji="1" lang="zh-TW" altLang="en-US" sz="20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70D38C3-3F57-5185-8BAB-C46B4575C8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4438" y="5697538"/>
            <a:ext cx="9540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TW" altLang="en-US" sz="2000">
                <a:solidFill>
                  <a:srgbClr val="FF33CC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指南宮</a:t>
            </a:r>
            <a:endParaRPr kumimoji="1" lang="zh-TW" altLang="en-US" sz="20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1209" name="圖片 1">
            <a:extLst>
              <a:ext uri="{FF2B5EF4-FFF2-40B4-BE49-F238E27FC236}">
                <a16:creationId xmlns:a16="http://schemas.microsoft.com/office/drawing/2014/main" id="{E05324A0-E24C-06DB-3530-5FFF48C102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" y="1571625"/>
            <a:ext cx="463550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10" name="圖片 1">
            <a:extLst>
              <a:ext uri="{FF2B5EF4-FFF2-40B4-BE49-F238E27FC236}">
                <a16:creationId xmlns:a16="http://schemas.microsoft.com/office/drawing/2014/main" id="{45F328FC-F81E-A9B6-E6C5-D17F459BD1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063" y="2009775"/>
            <a:ext cx="7204075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11" name="圖片 2">
            <a:extLst>
              <a:ext uri="{FF2B5EF4-FFF2-40B4-BE49-F238E27FC236}">
                <a16:creationId xmlns:a16="http://schemas.microsoft.com/office/drawing/2014/main" id="{435E559D-73E1-B62D-3759-71065BCB6DB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100" y="5329238"/>
            <a:ext cx="339725" cy="34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57E06EA2-B192-F127-0B36-17DEDC5307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968875"/>
            <a:ext cx="38258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120</a:t>
            </a:r>
            <a:r>
              <a:rPr kumimoji="1" lang="zh-TW" altLang="en-US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＋</a:t>
            </a: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120</a:t>
            </a:r>
            <a:r>
              <a:rPr kumimoji="1" lang="zh-TW" altLang="en-US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240</a:t>
            </a:r>
            <a:r>
              <a:rPr kumimoji="1" lang="zh-TW" altLang="en-US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或</a:t>
            </a: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120</a:t>
            </a:r>
            <a:r>
              <a:rPr kumimoji="1" lang="zh-TW" altLang="zh-TW" sz="2000">
                <a:solidFill>
                  <a:srgbClr val="FF33CC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×</a:t>
            </a: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kumimoji="1" lang="zh-TW" altLang="en-US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240</a:t>
            </a:r>
            <a:endParaRPr kumimoji="1" lang="zh-TW" altLang="en-US" sz="20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9F32AB0D-2011-9BC4-4759-85030F32F5C3}"/>
              </a:ext>
            </a:extLst>
          </p:cNvPr>
          <p:cNvSpPr/>
          <p:nvPr/>
        </p:nvSpPr>
        <p:spPr>
          <a:xfrm>
            <a:off x="6673850" y="6308725"/>
            <a:ext cx="2470150" cy="5492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pic>
        <p:nvPicPr>
          <p:cNvPr id="52227" name="Picture 12">
            <a:extLst>
              <a:ext uri="{FF2B5EF4-FFF2-40B4-BE49-F238E27FC236}">
                <a16:creationId xmlns:a16="http://schemas.microsoft.com/office/drawing/2014/main" id="{C66E5149-0AD2-5D4E-DC87-C820CCAE9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5" y="2484438"/>
            <a:ext cx="6396038" cy="4367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2228" name="矩形 11">
            <a:extLst>
              <a:ext uri="{FF2B5EF4-FFF2-40B4-BE49-F238E27FC236}">
                <a16:creationId xmlns:a16="http://schemas.microsoft.com/office/drawing/2014/main" id="{57F64FFD-E75C-8040-27A5-7C90BBAB68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" y="1566863"/>
            <a:ext cx="8410575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下面是</a:t>
            </a:r>
            <a:r>
              <a:rPr lang="zh-TW" altLang="en-US" sz="2400" u="sng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中正國小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各年級學生人數統計表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先完成統計表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再回答問題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52229" name="圖片 1">
            <a:extLst>
              <a:ext uri="{FF2B5EF4-FFF2-40B4-BE49-F238E27FC236}">
                <a16:creationId xmlns:a16="http://schemas.microsoft.com/office/drawing/2014/main" id="{C882D1B9-6400-A315-BD6C-978F32E737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8" y="1520825"/>
            <a:ext cx="458787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574F6D37-2E47-29DD-27CB-DD3922ACC4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6925" y="3895725"/>
            <a:ext cx="568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245</a:t>
            </a:r>
            <a:endParaRPr kumimoji="1" lang="zh-TW" altLang="en-US" sz="20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E3798BC-60CB-6C33-8448-595F3D6D2A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4388" y="4878388"/>
            <a:ext cx="568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274</a:t>
            </a:r>
            <a:endParaRPr kumimoji="1" lang="zh-TW" altLang="en-US" sz="20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62597D1-E7B6-8E35-6772-AE4A7C531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2125" y="5383213"/>
            <a:ext cx="568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139</a:t>
            </a:r>
            <a:endParaRPr kumimoji="1" lang="zh-TW" altLang="en-US" sz="20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132E71E-8E32-D79A-0310-3E065A0F38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4950" y="5924550"/>
            <a:ext cx="568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148</a:t>
            </a:r>
            <a:endParaRPr kumimoji="1" lang="zh-TW" altLang="en-US" sz="20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064777E-7CB7-2BF0-DC63-F6DFD27E5F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3900" y="6388100"/>
            <a:ext cx="698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1532</a:t>
            </a:r>
            <a:endParaRPr kumimoji="1" lang="zh-TW" altLang="en-US" sz="20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矩形 11">
            <a:extLst>
              <a:ext uri="{FF2B5EF4-FFF2-40B4-BE49-F238E27FC236}">
                <a16:creationId xmlns:a16="http://schemas.microsoft.com/office/drawing/2014/main" id="{27179DFB-E9EF-5BEA-CD83-95B018AD7E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" y="1566863"/>
            <a:ext cx="8410575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下面是</a:t>
            </a:r>
            <a:r>
              <a:rPr lang="zh-TW" altLang="en-US" sz="2400" u="sng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中正國小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各年級學生人數統計表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先完成統計表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再回答問題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53251" name="圖片 1">
            <a:extLst>
              <a:ext uri="{FF2B5EF4-FFF2-40B4-BE49-F238E27FC236}">
                <a16:creationId xmlns:a16="http://schemas.microsoft.com/office/drawing/2014/main" id="{F09F325A-7DD3-291E-4015-38129AABAE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8" y="1520825"/>
            <a:ext cx="458787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2" name="矩形 12">
            <a:extLst>
              <a:ext uri="{FF2B5EF4-FFF2-40B4-BE49-F238E27FC236}">
                <a16:creationId xmlns:a16="http://schemas.microsoft.com/office/drawing/2014/main" id="{CC31AC09-24C1-8105-6D66-948B6479AE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588" y="2403475"/>
            <a:ext cx="8194675" cy="28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(          )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年級</a:t>
            </a:r>
            <a:r>
              <a:rPr lang="zh-TW" altLang="en-US" sz="2400"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和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(          )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年級的人數最多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(          )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年級的人數最少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全校男學生</a:t>
            </a:r>
            <a:r>
              <a:rPr lang="zh-TW" altLang="en-US" sz="2400"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和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女學生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共有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(          ) 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個人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24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n-US" altLang="zh-TW" sz="24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一年級到六年級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共有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(          )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個人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53253" name="圖片 2">
            <a:extLst>
              <a:ext uri="{FF2B5EF4-FFF2-40B4-BE49-F238E27FC236}">
                <a16:creationId xmlns:a16="http://schemas.microsoft.com/office/drawing/2014/main" id="{CAEBDC64-9707-8024-823D-B9B4EFA21A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888" y="2576513"/>
            <a:ext cx="352425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4" name="圖片 3">
            <a:extLst>
              <a:ext uri="{FF2B5EF4-FFF2-40B4-BE49-F238E27FC236}">
                <a16:creationId xmlns:a16="http://schemas.microsoft.com/office/drawing/2014/main" id="{2F76D829-92CA-023D-217F-A885CA41EF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88" y="3681413"/>
            <a:ext cx="382587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EB2CDADD-2E4A-6C86-394B-E820F1799A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8250" y="2468563"/>
            <a:ext cx="441325" cy="50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1" lang="zh-TW" altLang="en-US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五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2A35F64-7537-EC0F-7519-6BA37AE870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0" y="2478088"/>
            <a:ext cx="439738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1" lang="zh-TW" altLang="en-US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六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2E616A-3EEC-D516-2B90-DFD426F98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4600" y="2992438"/>
            <a:ext cx="441325" cy="50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1" lang="zh-TW" altLang="en-US" sz="2000">
                <a:solidFill>
                  <a:srgbClr val="FF33CC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一</a:t>
            </a:r>
            <a:endParaRPr kumimoji="1" lang="zh-TW" altLang="en-US" sz="20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3258" name="圖片 2">
            <a:extLst>
              <a:ext uri="{FF2B5EF4-FFF2-40B4-BE49-F238E27FC236}">
                <a16:creationId xmlns:a16="http://schemas.microsoft.com/office/drawing/2014/main" id="{C6E3921D-3652-5713-8647-2D0B4C2029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88" y="4756150"/>
            <a:ext cx="339725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29FB1AD8-0B8F-498B-2825-5D0DB9F34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4363" y="4678363"/>
            <a:ext cx="696912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1532</a:t>
            </a:r>
            <a:endParaRPr kumimoji="1" lang="zh-TW" altLang="en-US" sz="20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2AF2992-40E4-19DB-81B4-96F72FAA24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7175" y="3576638"/>
            <a:ext cx="696913" cy="50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1532</a:t>
            </a:r>
            <a:endParaRPr kumimoji="1" lang="zh-TW" altLang="en-US" sz="20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87E9E37E-20DE-2ED8-FBFA-1083B71FFA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525" y="4090988"/>
            <a:ext cx="206057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783</a:t>
            </a:r>
            <a:r>
              <a:rPr kumimoji="1" lang="zh-TW" altLang="en-US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＋</a:t>
            </a: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749</a:t>
            </a:r>
            <a:r>
              <a:rPr kumimoji="1" lang="zh-TW" altLang="en-US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1532</a:t>
            </a:r>
            <a:endParaRPr kumimoji="1" lang="zh-TW" altLang="en-US" sz="20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數學教學PPT共同頁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數學教學PPT共同頁</Template>
  <TotalTime>11063</TotalTime>
  <Words>3041</Words>
  <Application>Microsoft Office PowerPoint</Application>
  <PresentationFormat>如螢幕大小 (4:3)</PresentationFormat>
  <Paragraphs>987</Paragraphs>
  <Slides>46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46</vt:i4>
      </vt:variant>
    </vt:vector>
  </HeadingPairs>
  <TitlesOfParts>
    <vt:vector size="59" baseType="lpstr">
      <vt:lpstr>Calibri</vt:lpstr>
      <vt:lpstr>新細明體</vt:lpstr>
      <vt:lpstr>Arial</vt:lpstr>
      <vt:lpstr>Calibri Light</vt:lpstr>
      <vt:lpstr>微軟正黑體</vt:lpstr>
      <vt:lpstr>Times New Roman</vt:lpstr>
      <vt:lpstr>書法中楷（注音一）</vt:lpstr>
      <vt:lpstr>標楷體</vt:lpstr>
      <vt:lpstr>書法中楷（破音二）</vt:lpstr>
      <vt:lpstr>書法中楷（破音三）</vt:lpstr>
      <vt:lpstr>DFYuanStd-W3</vt:lpstr>
      <vt:lpstr>MS Gothic</vt:lpstr>
      <vt:lpstr>數學教學PPT共同頁</vt:lpstr>
      <vt:lpstr>PowerPoint 簡報</vt:lpstr>
      <vt:lpstr>PowerPoint 簡報</vt:lpstr>
      <vt:lpstr>重點回顧內容</vt:lpstr>
      <vt:lpstr>重點回顧內容</vt:lpstr>
      <vt:lpstr>PowerPoint 簡報</vt:lpstr>
      <vt:lpstr>練一練</vt:lpstr>
      <vt:lpstr>練一練</vt:lpstr>
      <vt:lpstr>練一練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Willy Logan</dc:creator>
  <cp:lastModifiedBy>USER</cp:lastModifiedBy>
  <cp:revision>955</cp:revision>
  <dcterms:modified xsi:type="dcterms:W3CDTF">2026-06-08T08:30:45Z</dcterms:modified>
</cp:coreProperties>
</file>